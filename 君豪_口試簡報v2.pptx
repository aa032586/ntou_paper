
<file path=[Content_Types].xml><?xml version="1.0" encoding="utf-8"?>
<Types xmlns="http://schemas.openxmlformats.org/package/2006/content-types">
  <Default Extension="docx" ContentType="application/vnd.openxmlformats-officedocument.wordprocessingml.documen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5.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6.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7.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8.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9.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2.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3.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34.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35.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36.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37.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40.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41.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42.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43.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44.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45.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46.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47.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48.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49.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50.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51.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4"/>
  </p:notesMasterIdLst>
  <p:sldIdLst>
    <p:sldId id="256" r:id="rId2"/>
    <p:sldId id="257" r:id="rId3"/>
    <p:sldId id="258" r:id="rId4"/>
    <p:sldId id="259" r:id="rId5"/>
    <p:sldId id="268" r:id="rId6"/>
    <p:sldId id="315" r:id="rId7"/>
    <p:sldId id="326" r:id="rId8"/>
    <p:sldId id="346" r:id="rId9"/>
    <p:sldId id="290" r:id="rId10"/>
    <p:sldId id="291" r:id="rId11"/>
    <p:sldId id="295" r:id="rId12"/>
    <p:sldId id="292" r:id="rId13"/>
    <p:sldId id="329" r:id="rId14"/>
    <p:sldId id="331" r:id="rId15"/>
    <p:sldId id="332" r:id="rId16"/>
    <p:sldId id="293" r:id="rId17"/>
    <p:sldId id="347" r:id="rId18"/>
    <p:sldId id="333" r:id="rId19"/>
    <p:sldId id="336" r:id="rId20"/>
    <p:sldId id="296" r:id="rId21"/>
    <p:sldId id="334" r:id="rId22"/>
    <p:sldId id="335" r:id="rId23"/>
    <p:sldId id="348" r:id="rId24"/>
    <p:sldId id="287" r:id="rId25"/>
    <p:sldId id="337" r:id="rId26"/>
    <p:sldId id="288" r:id="rId27"/>
    <p:sldId id="338" r:id="rId28"/>
    <p:sldId id="303" r:id="rId29"/>
    <p:sldId id="304" r:id="rId30"/>
    <p:sldId id="305" r:id="rId31"/>
    <p:sldId id="274" r:id="rId32"/>
    <p:sldId id="339" r:id="rId33"/>
    <p:sldId id="316" r:id="rId34"/>
    <p:sldId id="340" r:id="rId35"/>
    <p:sldId id="341" r:id="rId36"/>
    <p:sldId id="343" r:id="rId37"/>
    <p:sldId id="308" r:id="rId38"/>
    <p:sldId id="349" r:id="rId39"/>
    <p:sldId id="321" r:id="rId40"/>
    <p:sldId id="350" r:id="rId41"/>
    <p:sldId id="344" r:id="rId42"/>
    <p:sldId id="320" r:id="rId43"/>
    <p:sldId id="322" r:id="rId44"/>
    <p:sldId id="345" r:id="rId45"/>
    <p:sldId id="319" r:id="rId46"/>
    <p:sldId id="323" r:id="rId47"/>
    <p:sldId id="311" r:id="rId48"/>
    <p:sldId id="312" r:id="rId49"/>
    <p:sldId id="324" r:id="rId50"/>
    <p:sldId id="310" r:id="rId51"/>
    <p:sldId id="285" r:id="rId52"/>
    <p:sldId id="286" r:id="rId53"/>
  </p:sldIdLst>
  <p:sldSz cx="18288000" cy="10287000"/>
  <p:notesSz cx="6858000" cy="9144000"/>
  <p:embeddedFontLst>
    <p:embeddedFont>
      <p:font typeface="Blink Twice" panose="02020500000000000000" charset="0"/>
      <p:regular r:id="rId55"/>
    </p:embeddedFont>
    <p:embeddedFont>
      <p:font typeface="Cambria Math" panose="02040503050406030204" pitchFamily="18" charset="0"/>
      <p:regular r:id="rId56"/>
    </p:embeddedFont>
    <p:embeddedFont>
      <p:font typeface="微軟正黑體" panose="020B0604030504040204" pitchFamily="34" charset="-120"/>
      <p:regular r:id="rId57"/>
      <p:bold r:id="rId58"/>
    </p:embeddedFont>
    <p:embeddedFont>
      <p:font typeface="標楷體" panose="03000509000000000000" pitchFamily="65" charset="-12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4D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6445" autoAdjust="0"/>
  </p:normalViewPr>
  <p:slideViewPr>
    <p:cSldViewPr>
      <p:cViewPr varScale="1">
        <p:scale>
          <a:sx n="78" d="100"/>
          <a:sy n="78" d="100"/>
        </p:scale>
        <p:origin x="35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chemeClr val="accent2">
            <a:lumMod val="75000"/>
          </a:schemeClr>
        </a:solidFill>
      </dgm:spPr>
      <dgm:t>
        <a:bodyPr/>
        <a:lstStyle/>
        <a:p>
          <a:r>
            <a:rPr lang="zh-TW" altLang="en-US" sz="2800" dirty="0">
              <a:latin typeface="微軟正黑體" panose="020B0604030504040204" pitchFamily="34" charset="-120"/>
              <a:ea typeface="微軟正黑體" panose="020B0604030504040204" pitchFamily="34" charset="-120"/>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chemeClr val="accent2">
            <a:lumMod val="75000"/>
          </a:schemeClr>
        </a:solidFill>
      </dgm:spPr>
      <dgm:t>
        <a:bodyPr/>
        <a:lstStyle/>
        <a:p>
          <a:r>
            <a:rPr lang="zh-TW" altLang="en-US" sz="2800" dirty="0">
              <a:latin typeface="微軟正黑體" panose="020B0604030504040204" pitchFamily="34" charset="-120"/>
              <a:ea typeface="微軟正黑體" panose="020B0604030504040204" pitchFamily="34" charset="-120"/>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chemeClr val="accent2">
            <a:lumMod val="75000"/>
          </a:schemeClr>
        </a:solidFill>
      </dgm:spPr>
      <dgm:t>
        <a:bodyPr/>
        <a:lstStyle/>
        <a:p>
          <a:r>
            <a:rPr lang="zh-TW" altLang="en-US" sz="2800" dirty="0">
              <a:latin typeface="微軟正黑體" panose="020B0604030504040204" pitchFamily="34" charset="-120"/>
              <a:ea typeface="微軟正黑體" panose="020B0604030504040204" pitchFamily="34" charset="-120"/>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chemeClr val="accent2">
            <a:lumMod val="75000"/>
          </a:schemeClr>
        </a:solidFill>
      </dgm:spPr>
      <dgm:t>
        <a:bodyPr/>
        <a:lstStyle/>
        <a:p>
          <a:r>
            <a:rPr lang="zh-TW" altLang="en-US" sz="2800" dirty="0">
              <a:latin typeface="微軟正黑體" panose="020B0604030504040204" pitchFamily="34" charset="-120"/>
              <a:ea typeface="微軟正黑體" panose="020B0604030504040204" pitchFamily="34" charset="-120"/>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dgm:t>
        <a:bodyPr/>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dgm:t>
        <a:bodyPr/>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dgm:t>
        <a:bodyPr/>
        <a:lstStyle/>
        <a:p>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dgm:t>
        <a:bodyPr/>
        <a:lstStyle/>
        <a:p>
          <a:r>
            <a:rPr lang="zh-TW" altLang="en-US" sz="2800" dirty="0">
              <a:latin typeface="微軟正黑體" panose="020B0604030504040204" pitchFamily="34" charset="-120"/>
              <a:ea typeface="微軟正黑體" panose="020B0604030504040204" pitchFamily="34" charset="-120"/>
            </a:rPr>
            <a:t>結論與未來研究方向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latin typeface="微軟正黑體" panose="020B0604030504040204" pitchFamily="34" charset="-120"/>
              <a:ea typeface="微軟正黑體" panose="020B0604030504040204" pitchFamily="34" charset="-120"/>
            </a:rPr>
            <a:t>結論與未來</a:t>
          </a: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研究</a:t>
          </a:r>
          <a:r>
            <a:rPr lang="zh-TW" altLang="en-US" sz="2800" kern="1200" dirty="0">
              <a:latin typeface="微軟正黑體" panose="020B0604030504040204" pitchFamily="34" charset="-120"/>
              <a:ea typeface="微軟正黑體" panose="020B0604030504040204" pitchFamily="34" charset="-120"/>
            </a:rPr>
            <a:t>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a:xfrm>
          <a:off x="13369937" y="649498"/>
          <a:ext cx="4163636" cy="1399494"/>
        </a:xfrm>
        <a:prstGeom prst="chevron">
          <a:avLst/>
        </a:prstGeom>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6E0EFA5F-47E8-434C-AF2C-C5891330CFF9}"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TW" altLang="en-US"/>
        </a:p>
      </dgm:t>
    </dgm:pt>
    <dgm:pt modelId="{C8CF787E-4082-400E-9EA0-D8A5BF40452C}">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gm:t>
    </dgm:pt>
    <dgm:pt modelId="{2BD1B303-D683-4EAB-91C2-977C6C9EF4EF}" type="par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3455BC14-3E36-4180-9232-1483719711FD}" type="sibTrans" cxnId="{55EB507E-C0B6-49D3-8E54-01CC1196CA76}">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5738F0E-9C8C-4343-B406-9781C3D7EA5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2A70BDE1-A98B-4E2B-9A7D-47E57D3C27C5}" type="par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C1F5B603-5CD4-4B6A-A9DE-3FE996E5B9B5}" type="sibTrans" cxnId="{EDAC9D3E-D54A-4D96-A365-A90C233F63EE}">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F24A225-03BA-4FE8-A729-12235F08997D}">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0842A5C0-8EA8-473A-8811-1C0A2BFE3114}" type="par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708D0BC-188C-44F3-ADF4-5EFB5CC1BF53}" type="sibTrans" cxnId="{98938A1B-0ACC-4AB7-99E8-45E9FBE0DB6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2E68CD09-40A7-4DB6-A377-093C37214E26}">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7BA5BA5E-17FE-4F64-A40C-C463AA252D8C}" type="par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7DFED8CF-CF3D-4BD9-B985-9EE9E3623F78}" type="sibTrans" cxnId="{2DD12E5B-B038-4E67-9FAA-F88547D51C5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E70CB8D9-B8F9-402F-83D5-90F53A78D0B8}">
      <dgm:prSet phldrT="[文字]"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112014" tIns="74676" rIns="37338" bIns="74676" numCol="1" spcCol="1270" anchor="ctr" anchorCtr="0"/>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gm:t>
    </dgm:pt>
    <dgm:pt modelId="{4B0D7D9E-A1AE-46A5-9E88-5ACBD7D06371}" type="par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05EF8EBE-A185-4CBF-BBC2-A7DD3A418BD6}" type="sibTrans" cxnId="{027C9759-2787-4425-B233-C8FEA4419799}">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B91B53E2-07C4-4B80-B4D9-BAA28D2A0A40}">
      <dgm:prSet phldrT="[文字]" custT="1"/>
      <dgm:spPr>
        <a:solidFill>
          <a:srgbClr val="C0504D">
            <a:lumMod val="75000"/>
          </a:srgbClr>
        </a:solidFill>
        <a:ln w="25400" cap="flat" cmpd="sng" algn="ctr">
          <a:solidFill>
            <a:prstClr val="white">
              <a:hueOff val="0"/>
              <a:satOff val="0"/>
              <a:lumOff val="0"/>
              <a:alphaOff val="0"/>
            </a:prstClr>
          </a:solidFill>
          <a:prstDash val="solid"/>
        </a:ln>
        <a:effectLst/>
      </dgm:spPr>
      <dgm:t>
        <a:bodyPr spcFirstLastPara="0" vert="horz" wrap="square" lIns="149352" tIns="74676" rIns="37338" bIns="74676" numCol="1" spcCol="1270" anchor="ctr" anchorCtr="0"/>
        <a:lstStyle/>
        <a:p>
          <a:r>
            <a:rPr lang="zh-TW" altLang="en-US" sz="2800" kern="1200" dirty="0">
              <a:latin typeface="微軟正黑體" panose="020B0604030504040204" pitchFamily="34" charset="-120"/>
              <a:ea typeface="微軟正黑體" panose="020B0604030504040204" pitchFamily="34" charset="-120"/>
            </a:rPr>
            <a:t>結論與未來</a:t>
          </a: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研究</a:t>
          </a:r>
          <a:r>
            <a:rPr lang="zh-TW" altLang="en-US" sz="2800" kern="1200" dirty="0">
              <a:latin typeface="微軟正黑體" panose="020B0604030504040204" pitchFamily="34" charset="-120"/>
              <a:ea typeface="微軟正黑體" panose="020B0604030504040204" pitchFamily="34" charset="-120"/>
            </a:rPr>
            <a:t>方向</a:t>
          </a:r>
        </a:p>
      </dgm:t>
    </dgm:pt>
    <dgm:pt modelId="{7C9CFF4B-A327-4E86-A400-263DC286FFC1}" type="par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F8220D49-BC82-4DA7-968B-B4A9D4177D6A}" type="sibTrans" cxnId="{0BC4A439-BCF6-4BBB-A768-E27CD5A2D93A}">
      <dgm:prSet/>
      <dgm:spPr/>
      <dgm:t>
        <a:bodyPr/>
        <a:lstStyle/>
        <a:p>
          <a:endParaRPr lang="zh-TW" altLang="en-US" sz="2800">
            <a:latin typeface="微軟正黑體" panose="020B0604030504040204" pitchFamily="34" charset="-120"/>
            <a:ea typeface="微軟正黑體" panose="020B0604030504040204" pitchFamily="34" charset="-120"/>
          </a:endParaRPr>
        </a:p>
      </dgm:t>
    </dgm:pt>
    <dgm:pt modelId="{1FEF5B13-4CCF-4B49-8889-C972D2B4A8A4}" type="pres">
      <dgm:prSet presAssocID="{6E0EFA5F-47E8-434C-AF2C-C5891330CFF9}" presName="Name0" presStyleCnt="0">
        <dgm:presLayoutVars>
          <dgm:dir/>
          <dgm:resizeHandles val="exact"/>
        </dgm:presLayoutVars>
      </dgm:prSet>
      <dgm:spPr/>
    </dgm:pt>
    <dgm:pt modelId="{7FEA6B4A-ACEB-413A-AA91-9A6A8AC93581}" type="pres">
      <dgm:prSet presAssocID="{C8CF787E-4082-400E-9EA0-D8A5BF40452C}" presName="parTxOnly" presStyleLbl="node1" presStyleIdx="0" presStyleCnt="6" custScaleX="42909">
        <dgm:presLayoutVars>
          <dgm:bulletEnabled val="1"/>
        </dgm:presLayoutVars>
      </dgm:prSet>
      <dgm:spPr>
        <a:xfrm>
          <a:off x="7214" y="649498"/>
          <a:ext cx="1501272" cy="1399494"/>
        </a:xfrm>
        <a:prstGeom prst="homePlate">
          <a:avLst/>
        </a:prstGeom>
      </dgm:spPr>
    </dgm:pt>
    <dgm:pt modelId="{0356F916-95B4-46A0-8C61-3F94C1761E7F}" type="pres">
      <dgm:prSet presAssocID="{3455BC14-3E36-4180-9232-1483719711FD}" presName="parSpace" presStyleCnt="0"/>
      <dgm:spPr/>
    </dgm:pt>
    <dgm:pt modelId="{27F1CC7B-DF3D-4B75-B55D-2F0670E6EB93}" type="pres">
      <dgm:prSet presAssocID="{E5738F0E-9C8C-4343-B406-9781C3D7EA5D}" presName="parTxOnly" presStyleLbl="node1" presStyleIdx="1" presStyleCnt="6" custScaleX="108817">
        <dgm:presLayoutVars>
          <dgm:bulletEnabled val="1"/>
        </dgm:presLayoutVars>
      </dgm:prSet>
      <dgm:spPr>
        <a:xfrm>
          <a:off x="808739" y="649498"/>
          <a:ext cx="3807219" cy="1399494"/>
        </a:xfrm>
        <a:prstGeom prst="chevron">
          <a:avLst/>
        </a:prstGeom>
      </dgm:spPr>
    </dgm:pt>
    <dgm:pt modelId="{00948567-848A-468C-9460-634A7915064A}" type="pres">
      <dgm:prSet presAssocID="{C1F5B603-5CD4-4B6A-A9DE-3FE996E5B9B5}" presName="parSpace" presStyleCnt="0"/>
      <dgm:spPr/>
    </dgm:pt>
    <dgm:pt modelId="{5182C36F-5D9C-4191-89F2-2DBDB3C2DEC9}" type="pres">
      <dgm:prSet presAssocID="{EF24A225-03BA-4FE8-A729-12235F08997D}" presName="parTxOnly" presStyleLbl="node1" presStyleIdx="2" presStyleCnt="6" custScaleX="112060">
        <dgm:presLayoutVars>
          <dgm:bulletEnabled val="1"/>
        </dgm:presLayoutVars>
      </dgm:prSet>
      <dgm:spPr>
        <a:xfrm>
          <a:off x="3916212" y="649498"/>
          <a:ext cx="3920683" cy="1399494"/>
        </a:xfrm>
        <a:prstGeom prst="chevron">
          <a:avLst/>
        </a:prstGeom>
      </dgm:spPr>
    </dgm:pt>
    <dgm:pt modelId="{56D6B7A7-A5B8-4E3A-BA65-B4228CF3D0BF}" type="pres">
      <dgm:prSet presAssocID="{7708D0BC-188C-44F3-ADF4-5EFB5CC1BF53}" presName="parSpace" presStyleCnt="0"/>
      <dgm:spPr/>
    </dgm:pt>
    <dgm:pt modelId="{6F012524-65C3-404A-8746-B901F945A20F}" type="pres">
      <dgm:prSet presAssocID="{2E68CD09-40A7-4DB6-A377-093C37214E26}" presName="parTxOnly" presStyleLbl="node1" presStyleIdx="3" presStyleCnt="6" custScaleX="118144">
        <dgm:presLayoutVars>
          <dgm:bulletEnabled val="1"/>
        </dgm:presLayoutVars>
      </dgm:prSet>
      <dgm:spPr>
        <a:xfrm>
          <a:off x="7137148" y="649498"/>
          <a:ext cx="4133546" cy="1399494"/>
        </a:xfrm>
        <a:prstGeom prst="chevron">
          <a:avLst/>
        </a:prstGeom>
      </dgm:spPr>
    </dgm:pt>
    <dgm:pt modelId="{77D703AF-0AB4-4F62-B48E-1A93A5367FFB}" type="pres">
      <dgm:prSet presAssocID="{7DFED8CF-CF3D-4BD9-B985-9EE9E3623F78}" presName="parSpace" presStyleCnt="0"/>
      <dgm:spPr/>
    </dgm:pt>
    <dgm:pt modelId="{845E3DE8-C8F0-46CD-9E6C-814A2BA1AFC8}" type="pres">
      <dgm:prSet presAssocID="{E70CB8D9-B8F9-402F-83D5-90F53A78D0B8}" presName="parTxOnly" presStyleLbl="node1" presStyleIdx="4" presStyleCnt="6">
        <dgm:presLayoutVars>
          <dgm:bulletEnabled val="1"/>
        </dgm:presLayoutVars>
      </dgm:prSet>
      <dgm:spPr>
        <a:xfrm>
          <a:off x="10570948" y="649498"/>
          <a:ext cx="3498736" cy="1399494"/>
        </a:xfrm>
        <a:prstGeom prst="chevron">
          <a:avLst/>
        </a:prstGeom>
      </dgm:spPr>
    </dgm:pt>
    <dgm:pt modelId="{CD6EA642-1710-4FF1-B80C-F2BBC7F8BBEC}" type="pres">
      <dgm:prSet presAssocID="{05EF8EBE-A185-4CBF-BBC2-A7DD3A418BD6}" presName="parSpace" presStyleCnt="0"/>
      <dgm:spPr/>
    </dgm:pt>
    <dgm:pt modelId="{DE617AAD-E925-45FF-B61C-9705BB5622A0}" type="pres">
      <dgm:prSet presAssocID="{B91B53E2-07C4-4B80-B4D9-BAA28D2A0A40}" presName="parTxOnly" presStyleLbl="node1" presStyleIdx="5" presStyleCnt="6" custScaleX="119004">
        <dgm:presLayoutVars>
          <dgm:bulletEnabled val="1"/>
        </dgm:presLayoutVars>
      </dgm:prSet>
      <dgm:spPr>
        <a:xfrm>
          <a:off x="13369937" y="649498"/>
          <a:ext cx="4163636" cy="1399494"/>
        </a:xfrm>
        <a:prstGeom prst="chevron">
          <a:avLst/>
        </a:prstGeom>
      </dgm:spPr>
    </dgm:pt>
  </dgm:ptLst>
  <dgm:cxnLst>
    <dgm:cxn modelId="{E3DE3D03-2BEA-4958-A702-42176B465C59}" type="presOf" srcId="{6E0EFA5F-47E8-434C-AF2C-C5891330CFF9}" destId="{1FEF5B13-4CCF-4B49-8889-C972D2B4A8A4}" srcOrd="0" destOrd="0" presId="urn:microsoft.com/office/officeart/2005/8/layout/hChevron3"/>
    <dgm:cxn modelId="{98938A1B-0ACC-4AB7-99E8-45E9FBE0DB69}" srcId="{6E0EFA5F-47E8-434C-AF2C-C5891330CFF9}" destId="{EF24A225-03BA-4FE8-A729-12235F08997D}" srcOrd="2" destOrd="0" parTransId="{0842A5C0-8EA8-473A-8811-1C0A2BFE3114}" sibTransId="{7708D0BC-188C-44F3-ADF4-5EFB5CC1BF53}"/>
    <dgm:cxn modelId="{0BC4A439-BCF6-4BBB-A768-E27CD5A2D93A}" srcId="{6E0EFA5F-47E8-434C-AF2C-C5891330CFF9}" destId="{B91B53E2-07C4-4B80-B4D9-BAA28D2A0A40}" srcOrd="5" destOrd="0" parTransId="{7C9CFF4B-A327-4E86-A400-263DC286FFC1}" sibTransId="{F8220D49-BC82-4DA7-968B-B4A9D4177D6A}"/>
    <dgm:cxn modelId="{F2D58A3D-77BF-418B-AE52-107D26300DA1}" type="presOf" srcId="{B91B53E2-07C4-4B80-B4D9-BAA28D2A0A40}" destId="{DE617AAD-E925-45FF-B61C-9705BB5622A0}" srcOrd="0" destOrd="0" presId="urn:microsoft.com/office/officeart/2005/8/layout/hChevron3"/>
    <dgm:cxn modelId="{EDAC9D3E-D54A-4D96-A365-A90C233F63EE}" srcId="{6E0EFA5F-47E8-434C-AF2C-C5891330CFF9}" destId="{E5738F0E-9C8C-4343-B406-9781C3D7EA5D}" srcOrd="1" destOrd="0" parTransId="{2A70BDE1-A98B-4E2B-9A7D-47E57D3C27C5}" sibTransId="{C1F5B603-5CD4-4B6A-A9DE-3FE996E5B9B5}"/>
    <dgm:cxn modelId="{2DD12E5B-B038-4E67-9FAA-F88547D51C59}" srcId="{6E0EFA5F-47E8-434C-AF2C-C5891330CFF9}" destId="{2E68CD09-40A7-4DB6-A377-093C37214E26}" srcOrd="3" destOrd="0" parTransId="{7BA5BA5E-17FE-4F64-A40C-C463AA252D8C}" sibTransId="{7DFED8CF-CF3D-4BD9-B985-9EE9E3623F78}"/>
    <dgm:cxn modelId="{D1F4E14A-2532-448F-AF09-8F328A7B5212}" type="presOf" srcId="{E70CB8D9-B8F9-402F-83D5-90F53A78D0B8}" destId="{845E3DE8-C8F0-46CD-9E6C-814A2BA1AFC8}" srcOrd="0" destOrd="0" presId="urn:microsoft.com/office/officeart/2005/8/layout/hChevron3"/>
    <dgm:cxn modelId="{E8091051-805B-4480-A516-564A4349137D}" type="presOf" srcId="{EF24A225-03BA-4FE8-A729-12235F08997D}" destId="{5182C36F-5D9C-4191-89F2-2DBDB3C2DEC9}" srcOrd="0" destOrd="0" presId="urn:microsoft.com/office/officeart/2005/8/layout/hChevron3"/>
    <dgm:cxn modelId="{119D6557-B442-4211-A1AC-71989330D274}" type="presOf" srcId="{E5738F0E-9C8C-4343-B406-9781C3D7EA5D}" destId="{27F1CC7B-DF3D-4B75-B55D-2F0670E6EB93}" srcOrd="0" destOrd="0" presId="urn:microsoft.com/office/officeart/2005/8/layout/hChevron3"/>
    <dgm:cxn modelId="{027C9759-2787-4425-B233-C8FEA4419799}" srcId="{6E0EFA5F-47E8-434C-AF2C-C5891330CFF9}" destId="{E70CB8D9-B8F9-402F-83D5-90F53A78D0B8}" srcOrd="4" destOrd="0" parTransId="{4B0D7D9E-A1AE-46A5-9E88-5ACBD7D06371}" sibTransId="{05EF8EBE-A185-4CBF-BBC2-A7DD3A418BD6}"/>
    <dgm:cxn modelId="{55EB507E-C0B6-49D3-8E54-01CC1196CA76}" srcId="{6E0EFA5F-47E8-434C-AF2C-C5891330CFF9}" destId="{C8CF787E-4082-400E-9EA0-D8A5BF40452C}" srcOrd="0" destOrd="0" parTransId="{2BD1B303-D683-4EAB-91C2-977C6C9EF4EF}" sibTransId="{3455BC14-3E36-4180-9232-1483719711FD}"/>
    <dgm:cxn modelId="{4FA4AAA5-0535-4AD5-9864-C0CF5A5DA122}" type="presOf" srcId="{2E68CD09-40A7-4DB6-A377-093C37214E26}" destId="{6F012524-65C3-404A-8746-B901F945A20F}" srcOrd="0" destOrd="0" presId="urn:microsoft.com/office/officeart/2005/8/layout/hChevron3"/>
    <dgm:cxn modelId="{E9095FF3-7F2C-488B-B97C-5CCE8A2A47F0}" type="presOf" srcId="{C8CF787E-4082-400E-9EA0-D8A5BF40452C}" destId="{7FEA6B4A-ACEB-413A-AA91-9A6A8AC93581}" srcOrd="0" destOrd="0" presId="urn:microsoft.com/office/officeart/2005/8/layout/hChevron3"/>
    <dgm:cxn modelId="{48651974-BD5C-4E13-A244-4FE3F735DE0E}" type="presParOf" srcId="{1FEF5B13-4CCF-4B49-8889-C972D2B4A8A4}" destId="{7FEA6B4A-ACEB-413A-AA91-9A6A8AC93581}" srcOrd="0" destOrd="0" presId="urn:microsoft.com/office/officeart/2005/8/layout/hChevron3"/>
    <dgm:cxn modelId="{1D31061F-6709-4F54-8ECA-DB0FC650E5A8}" type="presParOf" srcId="{1FEF5B13-4CCF-4B49-8889-C972D2B4A8A4}" destId="{0356F916-95B4-46A0-8C61-3F94C1761E7F}" srcOrd="1" destOrd="0" presId="urn:microsoft.com/office/officeart/2005/8/layout/hChevron3"/>
    <dgm:cxn modelId="{F9D88CD5-9C99-43C9-BF86-503884F85972}" type="presParOf" srcId="{1FEF5B13-4CCF-4B49-8889-C972D2B4A8A4}" destId="{27F1CC7B-DF3D-4B75-B55D-2F0670E6EB93}" srcOrd="2" destOrd="0" presId="urn:microsoft.com/office/officeart/2005/8/layout/hChevron3"/>
    <dgm:cxn modelId="{5F08D250-F5F2-4723-9903-753B7D240447}" type="presParOf" srcId="{1FEF5B13-4CCF-4B49-8889-C972D2B4A8A4}" destId="{00948567-848A-468C-9460-634A7915064A}" srcOrd="3" destOrd="0" presId="urn:microsoft.com/office/officeart/2005/8/layout/hChevron3"/>
    <dgm:cxn modelId="{F3E1031C-F871-4AE0-8C74-C27DCB8C8310}" type="presParOf" srcId="{1FEF5B13-4CCF-4B49-8889-C972D2B4A8A4}" destId="{5182C36F-5D9C-4191-89F2-2DBDB3C2DEC9}" srcOrd="4" destOrd="0" presId="urn:microsoft.com/office/officeart/2005/8/layout/hChevron3"/>
    <dgm:cxn modelId="{7CF20F91-EEC9-49C8-94C8-80DC61533AEE}" type="presParOf" srcId="{1FEF5B13-4CCF-4B49-8889-C972D2B4A8A4}" destId="{56D6B7A7-A5B8-4E3A-BA65-B4228CF3D0BF}" srcOrd="5" destOrd="0" presId="urn:microsoft.com/office/officeart/2005/8/layout/hChevron3"/>
    <dgm:cxn modelId="{D7E9602A-E707-4B86-B166-C741E9AFE904}" type="presParOf" srcId="{1FEF5B13-4CCF-4B49-8889-C972D2B4A8A4}" destId="{6F012524-65C3-404A-8746-B901F945A20F}" srcOrd="6" destOrd="0" presId="urn:microsoft.com/office/officeart/2005/8/layout/hChevron3"/>
    <dgm:cxn modelId="{B9A475A1-447A-4BB2-881F-E557ACB9A143}" type="presParOf" srcId="{1FEF5B13-4CCF-4B49-8889-C972D2B4A8A4}" destId="{77D703AF-0AB4-4F62-B48E-1A93A5367FFB}" srcOrd="7" destOrd="0" presId="urn:microsoft.com/office/officeart/2005/8/layout/hChevron3"/>
    <dgm:cxn modelId="{793486A1-053E-4AE3-8241-2CA56D5FAD89}" type="presParOf" srcId="{1FEF5B13-4CCF-4B49-8889-C972D2B4A8A4}" destId="{845E3DE8-C8F0-46CD-9E6C-814A2BA1AFC8}" srcOrd="8" destOrd="0" presId="urn:microsoft.com/office/officeart/2005/8/layout/hChevron3"/>
    <dgm:cxn modelId="{641E0954-4307-4BDA-8BD8-61F4815A23C3}" type="presParOf" srcId="{1FEF5B13-4CCF-4B49-8889-C972D2B4A8A4}" destId="{CD6EA642-1710-4FF1-B80C-F2BBC7F8BBEC}" srcOrd="9" destOrd="0" presId="urn:microsoft.com/office/officeart/2005/8/layout/hChevron3"/>
    <dgm:cxn modelId="{28ABA9CB-E06D-44EC-8E65-FD759D31CE14}" type="presParOf" srcId="{1FEF5B13-4CCF-4B49-8889-C972D2B4A8A4}" destId="{DE617AAD-E925-45FF-B61C-9705BB5622A0}"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結論與未來研究方向</a:t>
          </a:r>
        </a:p>
      </dsp:txBody>
      <dsp:txXfrm>
        <a:off x="14069684" y="649498"/>
        <a:ext cx="2764142" cy="1399494"/>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a:t>
          </a: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研究</a:t>
          </a:r>
          <a:r>
            <a:rPr lang="zh-TW" altLang="en-US" sz="2800" kern="1200" dirty="0">
              <a:latin typeface="微軟正黑體" panose="020B0604030504040204" pitchFamily="34" charset="-120"/>
              <a:ea typeface="微軟正黑體" panose="020B0604030504040204" pitchFamily="34" charset="-120"/>
            </a:rPr>
            <a:t>方向</a:t>
          </a:r>
        </a:p>
      </dsp:txBody>
      <dsp:txXfrm>
        <a:off x="14069684" y="649498"/>
        <a:ext cx="2764142" cy="1399494"/>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A6B4A-ACEB-413A-AA91-9A6A8AC93581}">
      <dsp:nvSpPr>
        <dsp:cNvPr id="0" name=""/>
        <dsp:cNvSpPr/>
      </dsp:nvSpPr>
      <dsp:spPr>
        <a:xfrm>
          <a:off x="7214" y="649498"/>
          <a:ext cx="1501272" cy="1399494"/>
        </a:xfrm>
        <a:prstGeom prst="homePlate">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緒論</a:t>
          </a:r>
        </a:p>
      </dsp:txBody>
      <dsp:txXfrm>
        <a:off x="7214" y="649498"/>
        <a:ext cx="1151399" cy="1399494"/>
      </dsp:txXfrm>
    </dsp:sp>
    <dsp:sp modelId="{27F1CC7B-DF3D-4B75-B55D-2F0670E6EB93}">
      <dsp:nvSpPr>
        <dsp:cNvPr id="0" name=""/>
        <dsp:cNvSpPr/>
      </dsp:nvSpPr>
      <dsp:spPr>
        <a:xfrm>
          <a:off x="808739" y="649498"/>
          <a:ext cx="3807219"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實驗環境架設與負載模擬</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508486" y="649498"/>
        <a:ext cx="2407725" cy="1399494"/>
      </dsp:txXfrm>
    </dsp:sp>
    <dsp:sp modelId="{5182C36F-5D9C-4191-89F2-2DBDB3C2DEC9}">
      <dsp:nvSpPr>
        <dsp:cNvPr id="0" name=""/>
        <dsp:cNvSpPr/>
      </dsp:nvSpPr>
      <dsp:spPr>
        <a:xfrm>
          <a:off x="3916212" y="649498"/>
          <a:ext cx="3920683"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prstClr val="white"/>
              </a:solidFill>
              <a:latin typeface="微軟正黑體" panose="020B0604030504040204" pitchFamily="34" charset="-120"/>
              <a:ea typeface="微軟正黑體" panose="020B0604030504040204" pitchFamily="34" charset="-120"/>
              <a:cs typeface="+mn-cs"/>
              <a:sym typeface="Roboto Mono Medium"/>
            </a:rPr>
            <a:t>模型</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資料處理及特徵建構</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4615959" y="649498"/>
        <a:ext cx="2521189" cy="1399494"/>
      </dsp:txXfrm>
    </dsp:sp>
    <dsp:sp modelId="{6F012524-65C3-404A-8746-B901F945A20F}">
      <dsp:nvSpPr>
        <dsp:cNvPr id="0" name=""/>
        <dsp:cNvSpPr/>
      </dsp:nvSpPr>
      <dsp:spPr>
        <a:xfrm>
          <a:off x="7137148" y="649498"/>
          <a:ext cx="413354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a:t>
          </a: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型訓練與訓練結果分析比較</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7836895" y="649498"/>
        <a:ext cx="2734052" cy="1399494"/>
      </dsp:txXfrm>
    </dsp:sp>
    <dsp:sp modelId="{845E3DE8-C8F0-46CD-9E6C-814A2BA1AFC8}">
      <dsp:nvSpPr>
        <dsp:cNvPr id="0" name=""/>
        <dsp:cNvSpPr/>
      </dsp:nvSpPr>
      <dsp:spPr>
        <a:xfrm>
          <a:off x="10570948" y="649498"/>
          <a:ext cx="3498736" cy="1399494"/>
        </a:xfrm>
        <a:prstGeom prst="chevron">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solidFill>
                <a:prstClr val="white"/>
              </a:solidFill>
              <a:latin typeface="微軟正黑體" panose="020B0604030504040204" pitchFamily="34" charset="-120"/>
              <a:ea typeface="微軟正黑體" panose="020B0604030504040204" pitchFamily="34" charset="-120"/>
              <a:cs typeface="+mn-cs"/>
              <a:sym typeface="Roboto Mono Medium"/>
            </a:rPr>
            <a:t>模型應用與實驗分析</a:t>
          </a:r>
          <a:endParaRPr lang="zh-TW" altLang="en-US" sz="2800" kern="1200" dirty="0">
            <a:solidFill>
              <a:prstClr val="white"/>
            </a:solidFill>
            <a:latin typeface="微軟正黑體" panose="020B0604030504040204" pitchFamily="34" charset="-120"/>
            <a:ea typeface="微軟正黑體" panose="020B0604030504040204" pitchFamily="34" charset="-120"/>
            <a:cs typeface="+mn-cs"/>
          </a:endParaRPr>
        </a:p>
      </dsp:txBody>
      <dsp:txXfrm>
        <a:off x="11270695" y="649498"/>
        <a:ext cx="2099242" cy="1399494"/>
      </dsp:txXfrm>
    </dsp:sp>
    <dsp:sp modelId="{DE617AAD-E925-45FF-B61C-9705BB5622A0}">
      <dsp:nvSpPr>
        <dsp:cNvPr id="0" name=""/>
        <dsp:cNvSpPr/>
      </dsp:nvSpPr>
      <dsp:spPr>
        <a:xfrm>
          <a:off x="13369937" y="649498"/>
          <a:ext cx="4163636" cy="1399494"/>
        </a:xfrm>
        <a:prstGeom prst="chevron">
          <a:avLst/>
        </a:prstGeom>
        <a:solidFill>
          <a:srgbClr val="C0504D">
            <a:lumMod val="7500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結論與未來</a:t>
          </a:r>
          <a:r>
            <a:rPr lang="zh-TW" altLang="en-US" sz="2800" kern="1200" dirty="0">
              <a:solidFill>
                <a:prstClr val="white"/>
              </a:solidFill>
              <a:latin typeface="微軟正黑體" panose="020B0604030504040204" pitchFamily="34" charset="-120"/>
              <a:ea typeface="微軟正黑體" panose="020B0604030504040204" pitchFamily="34" charset="-120"/>
              <a:cs typeface="+mn-cs"/>
            </a:rPr>
            <a:t>研究</a:t>
          </a:r>
          <a:r>
            <a:rPr lang="zh-TW" altLang="en-US" sz="2800" kern="1200" dirty="0">
              <a:latin typeface="微軟正黑體" panose="020B0604030504040204" pitchFamily="34" charset="-120"/>
              <a:ea typeface="微軟正黑體" panose="020B0604030504040204" pitchFamily="34" charset="-120"/>
            </a:rPr>
            <a:t>方向</a:t>
          </a:r>
        </a:p>
      </dsp:txBody>
      <dsp:txXfrm>
        <a:off x="14069684" y="649498"/>
        <a:ext cx="2764142" cy="139949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02B047E3-AA6C-4092-8FDD-249C7140C3B8}" type="datetimeFigureOut">
              <a:rPr lang="zh-TW" altLang="en-US" smtClean="0"/>
              <a:t>2025/10/16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022DD7-B5A4-466E-81AE-CC5BD18E5D72}" type="slidenum">
              <a:rPr lang="zh-TW" altLang="en-US" smtClean="0"/>
              <a:t>‹#›</a:t>
            </a:fld>
            <a:endParaRPr lang="zh-TW" altLang="en-US"/>
          </a:p>
        </p:txBody>
      </p:sp>
    </p:spTree>
    <p:extLst>
      <p:ext uri="{BB962C8B-B14F-4D97-AF65-F5344CB8AC3E}">
        <p14:creationId xmlns:p14="http://schemas.microsoft.com/office/powerpoint/2010/main" val="4012802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各位口委老師好，我是國立臺灣海洋大學資訊工程學系的沈君豪。</a:t>
            </a:r>
            <a:br>
              <a:rPr lang="zh-TW" altLang="en-US" dirty="0"/>
            </a:br>
            <a:r>
              <a:rPr lang="zh-TW" altLang="en-US" dirty="0"/>
              <a:t>今天要向各位報告我的碩士論文題目</a:t>
            </a:r>
            <a:r>
              <a:rPr lang="zh-TW" altLang="en-US" b="1" dirty="0"/>
              <a:t>「基於機器學習的 </a:t>
            </a:r>
            <a:r>
              <a:rPr lang="en-US" altLang="zh-TW" b="1" dirty="0"/>
              <a:t>Kubernetes </a:t>
            </a:r>
            <a:r>
              <a:rPr lang="zh-TW" altLang="en-US" b="1" dirty="0"/>
              <a:t>微服務系統延遲預測研究」</a:t>
            </a:r>
            <a:r>
              <a:rPr lang="zh-TW" altLang="en-US" dirty="0"/>
              <a:t>，</a:t>
            </a:r>
            <a:br>
              <a:rPr lang="zh-TW" altLang="en-US" dirty="0"/>
            </a:br>
            <a:r>
              <a:rPr lang="zh-TW" altLang="en-US" dirty="0"/>
              <a:t>指導教授是</a:t>
            </a:r>
            <a:r>
              <a:rPr lang="zh-TW" altLang="en-US" b="1" dirty="0"/>
              <a:t>馬尚彬教授</a:t>
            </a:r>
            <a:r>
              <a:rPr lang="zh-TW" altLang="en-US" dirty="0"/>
              <a:t>。</a:t>
            </a:r>
            <a:endParaRPr lang="zh-TW" altLang="en-US" b="0" dirty="0"/>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1</a:t>
            </a:fld>
            <a:endParaRPr lang="zh-TW" altLang="en-US"/>
          </a:p>
        </p:txBody>
      </p:sp>
    </p:spTree>
    <p:extLst>
      <p:ext uri="{BB962C8B-B14F-4D97-AF65-F5344CB8AC3E}">
        <p14:creationId xmlns:p14="http://schemas.microsoft.com/office/powerpoint/2010/main" val="2850983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本次報告共分為六個部分。</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2</a:t>
            </a:fld>
            <a:endParaRPr lang="zh-TW" altLang="en-US"/>
          </a:p>
        </p:txBody>
      </p:sp>
    </p:spTree>
    <p:extLst>
      <p:ext uri="{BB962C8B-B14F-4D97-AF65-F5344CB8AC3E}">
        <p14:creationId xmlns:p14="http://schemas.microsoft.com/office/powerpoint/2010/main" val="3928948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近年來，微服務已成為現代系統的主要架構，而 </a:t>
            </a:r>
            <a:r>
              <a:rPr lang="en-US" altLang="zh-TW" dirty="0"/>
              <a:t>Kubernetes </a:t>
            </a:r>
            <a:r>
              <a:rPr lang="zh-TW" altLang="en-US" dirty="0"/>
              <a:t>等容器編排平台則讓服務部署更快速、資源配置更具彈性，不過也讓系統變得複雜，導致監控與維運難度提升。</a:t>
            </a:r>
            <a:br>
              <a:rPr lang="zh-TW" altLang="en-US" dirty="0"/>
            </a:br>
            <a:r>
              <a:rPr lang="zh-TW" altLang="en-US" dirty="0"/>
              <a:t>尤其在高併發或突發流量的情況下，系統延遲常常會出現很大的波動，</a:t>
            </a:r>
            <a:br>
              <a:rPr lang="zh-TW" altLang="en-US" dirty="0"/>
            </a:br>
            <a:r>
              <a:rPr lang="zh-TW" altLang="en-US" dirty="0"/>
              <a:t>這時候如果沒辦法及時掌握延遲的變化，就可能造成資源分配錯誤、服務品質下降，甚至影響整體穩定性。</a:t>
            </a:r>
          </a:p>
          <a:p>
            <a:r>
              <a:rPr lang="zh-TW" altLang="en-US" dirty="0"/>
              <a:t>目前企業的效能管理方式，大多還是反應式的，最常見的就是 </a:t>
            </a:r>
            <a:r>
              <a:rPr lang="en-US" altLang="zh-TW" b="1" dirty="0"/>
              <a:t>HPA</a:t>
            </a:r>
            <a:r>
              <a:rPr lang="zh-TW" altLang="en-US" b="1" dirty="0"/>
              <a:t>，</a:t>
            </a:r>
            <a:endParaRPr lang="en-US" altLang="zh-TW" b="1" dirty="0"/>
          </a:p>
          <a:p>
            <a:r>
              <a:rPr lang="zh-TW" altLang="en-US" dirty="0"/>
              <a:t>他是根據 </a:t>
            </a:r>
            <a:r>
              <a:rPr lang="en-US" altLang="zh-TW" dirty="0"/>
              <a:t>CPU </a:t>
            </a:r>
            <a:r>
              <a:rPr lang="zh-TW" altLang="en-US" dirty="0"/>
              <a:t>或記憶體的使用率是否超過閾值來決定要不要調整服務資源</a:t>
            </a:r>
            <a:br>
              <a:rPr lang="zh-TW" altLang="en-US" dirty="0"/>
            </a:br>
            <a:r>
              <a:rPr lang="zh-TW" altLang="en-US" dirty="0"/>
              <a:t>也就是說，通常都是效能出現問題之後才開始調整，那這樣就無法提前因應潛在的延遲問題。</a:t>
            </a:r>
            <a:endParaRPr lang="en-US" altLang="zh-TW" dirty="0"/>
          </a:p>
          <a:p>
            <a:r>
              <a:rPr lang="zh-TW" altLang="en-US" dirty="0"/>
              <a:t>所以本研究的出發點，就是希望能透過機器學習，去建立一個可以提前預測延遲的方法，讓系統能在延遲惡化之前就先發出警訊來降低風險。</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3</a:t>
            </a:fld>
            <a:endParaRPr lang="zh-TW" altLang="en-US"/>
          </a:p>
        </p:txBody>
      </p:sp>
    </p:spTree>
    <p:extLst>
      <p:ext uri="{BB962C8B-B14F-4D97-AF65-F5344CB8AC3E}">
        <p14:creationId xmlns:p14="http://schemas.microsoft.com/office/powerpoint/2010/main" val="3903176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本研究具體目標，主要有以下四個：</a:t>
            </a:r>
            <a:endParaRPr lang="en-US" altLang="zh-TW" dirty="0"/>
          </a:p>
          <a:p>
            <a:r>
              <a:rPr lang="en-US" altLang="zh-TW" dirty="0"/>
              <a:t>1.</a:t>
            </a:r>
            <a:r>
              <a:rPr lang="zh-TW" altLang="en-US" b="1" dirty="0"/>
              <a:t>設計一個可反映不同負載情境下的預測模型</a:t>
            </a:r>
            <a:r>
              <a:rPr lang="zh-TW" altLang="en-US" dirty="0"/>
              <a:t>，讓模型能因應不同微服務與部署條件。</a:t>
            </a:r>
            <a:endParaRPr lang="en-US" altLang="zh-TW" dirty="0"/>
          </a:p>
          <a:p>
            <a:r>
              <a:rPr lang="en-US" altLang="zh-TW" dirty="0"/>
              <a:t>2.</a:t>
            </a:r>
            <a:r>
              <a:rPr lang="zh-TW" altLang="en-US" b="1" dirty="0"/>
              <a:t>比較不同機器學習模型的準確度與穩定性</a:t>
            </a:r>
            <a:r>
              <a:rPr lang="zh-TW" altLang="en-US" dirty="0"/>
              <a:t>，找出在延遲預測任務中最合適的模型。</a:t>
            </a:r>
            <a:endParaRPr lang="en-US" altLang="zh-TW" dirty="0"/>
          </a:p>
          <a:p>
            <a:r>
              <a:rPr lang="en-US" altLang="zh-TW" dirty="0"/>
              <a:t>3.</a:t>
            </a:r>
            <a:r>
              <a:rPr lang="zh-TW" altLang="en-US" b="1" dirty="0"/>
              <a:t>將模型預測結果應用於效能監控與異常偵測評估</a:t>
            </a:r>
            <a:r>
              <a:rPr lang="zh-TW" altLang="en-US" dirty="0"/>
              <a:t>，提供維運人員及早識別效能瓶頸的依據。</a:t>
            </a:r>
            <a:endParaRPr lang="en-US" altLang="zh-TW" dirty="0"/>
          </a:p>
          <a:p>
            <a:r>
              <a:rPr lang="en-US" altLang="zh-TW" dirty="0"/>
              <a:t>4.</a:t>
            </a:r>
            <a:r>
              <a:rPr lang="zh-TW" altLang="en-US" b="1" dirty="0"/>
              <a:t>比較傳統統計方法與機器學習方法的差異</a:t>
            </a:r>
            <a:r>
              <a:rPr lang="zh-TW" altLang="en-US" dirty="0"/>
              <a:t>，觀察並分析機器學習是否能提供更穩定與可靠的參考價值</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4</a:t>
            </a:fld>
            <a:endParaRPr lang="zh-TW" altLang="en-US"/>
          </a:p>
        </p:txBody>
      </p:sp>
    </p:spTree>
    <p:extLst>
      <p:ext uri="{BB962C8B-B14F-4D97-AF65-F5344CB8AC3E}">
        <p14:creationId xmlns:p14="http://schemas.microsoft.com/office/powerpoint/2010/main" val="3035141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綜合剛剛提到的文獻回顧可以發現：</a:t>
            </a:r>
            <a:endParaRPr lang="en-US" altLang="zh-TW" dirty="0"/>
          </a:p>
          <a:p>
            <a:r>
              <a:rPr lang="en-US" altLang="zh-TW" dirty="0"/>
              <a:t>1.</a:t>
            </a:r>
            <a:r>
              <a:rPr lang="zh-TW" altLang="en-US" dirty="0"/>
              <a:t>目前現有研究</a:t>
            </a:r>
            <a:r>
              <a:rPr lang="zh-TW" altLang="en-US" b="1" dirty="0"/>
              <a:t>大多數研究都是以分類器（</a:t>
            </a:r>
            <a:r>
              <a:rPr lang="en-US" altLang="zh-TW" b="1" dirty="0"/>
              <a:t>Classifier</a:t>
            </a:r>
            <a:r>
              <a:rPr lang="zh-TW" altLang="en-US" b="1" dirty="0"/>
              <a:t>）為主</a:t>
            </a:r>
            <a:r>
              <a:rPr lang="zh-TW" altLang="en-US" dirty="0"/>
              <a:t>，也就是判斷系統是否異常，屬於「有或沒有」的判斷，再依據結果去觸發資源調整，分類器可以告訴你「系統壓力來了」，但它沒辦法告訴你「壓力會多大」</a:t>
            </a:r>
            <a:endParaRPr lang="en-US" altLang="zh-TW" dirty="0"/>
          </a:p>
          <a:p>
            <a:r>
              <a:rPr lang="en-US" altLang="zh-TW" dirty="0"/>
              <a:t>2.</a:t>
            </a:r>
            <a:r>
              <a:rPr lang="zh-TW" altLang="en-US" dirty="0"/>
              <a:t>研究都是以</a:t>
            </a:r>
            <a:r>
              <a:rPr lang="zh-TW" altLang="en-US" b="1" dirty="0"/>
              <a:t>整體工作流程層級</a:t>
            </a:r>
            <a:r>
              <a:rPr lang="zh-TW" altLang="en-US" dirty="0"/>
              <a:t>來預測效能，也就是針對整條服務鏈的平均延遲當作輸出，而非針對單一服務去做延遲預測，如果只看工作流程層級的平均延遲，不但會把各服務之間的差異平均掉，也容易忽略真正造成延遲惡化的關鍵來源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b="1" dirty="0"/>
              <a:t>在評估指標上</a:t>
            </a:r>
            <a:r>
              <a:rPr lang="zh-TW" altLang="en-US" dirty="0"/>
              <a:t>，多數研究室以平均誤差（像 </a:t>
            </a:r>
            <a:r>
              <a:rPr lang="en-US" altLang="zh-TW" dirty="0"/>
              <a:t>RMSE</a:t>
            </a:r>
            <a:r>
              <a:rPr lang="zh-TW" altLang="en-US" dirty="0"/>
              <a:t>、</a:t>
            </a:r>
            <a:r>
              <a:rPr lang="en-US" altLang="zh-TW" dirty="0"/>
              <a:t>MAE</a:t>
            </a:r>
            <a:r>
              <a:rPr lang="zh-TW" altLang="en-US" dirty="0"/>
              <a:t>）為主，但這些指標容易被大量正常樣本稀釋，在高併發或極端情境下的表現就不夠敏感。</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4.</a:t>
            </a:r>
            <a:r>
              <a:rPr lang="zh-TW" altLang="en-US" b="1" dirty="0"/>
              <a:t>現有的特徵設計多半仍集中在系統資源層面</a:t>
            </a:r>
            <a:r>
              <a:rPr lang="zh-TW" altLang="en-US" dirty="0"/>
              <a:t>，例如 </a:t>
            </a:r>
            <a:r>
              <a:rPr lang="en-US" altLang="zh-TW" dirty="0"/>
              <a:t>CPU </a:t>
            </a:r>
            <a:r>
              <a:rPr lang="zh-TW" altLang="en-US" dirty="0"/>
              <a:t>或記憶體使用率，這些指標能反映負載變化，但無法直接呈現微服務之間的延遲。</a:t>
            </a:r>
            <a:endParaRPr lang="en-US" altLang="zh-TW" b="1" dirty="0"/>
          </a:p>
          <a:p>
            <a:r>
              <a:rPr lang="zh-TW" altLang="en-US" dirty="0"/>
              <a:t>所以，本研究的定位是以「</a:t>
            </a:r>
            <a:r>
              <a:rPr lang="zh-TW" altLang="en-US" b="1" dirty="0"/>
              <a:t>微服務延遲預測</a:t>
            </a:r>
            <a:r>
              <a:rPr lang="zh-TW" altLang="en-US" dirty="0"/>
              <a:t>」為核心，採用**回歸模型（</a:t>
            </a:r>
            <a:r>
              <a:rPr lang="en-US" altLang="zh-TW" dirty="0"/>
              <a:t>Regressor</a:t>
            </a:r>
            <a:r>
              <a:rPr lang="zh-TW" altLang="en-US" dirty="0"/>
              <a:t>）**而非分類模型，去針對既有研究的這些限制，提出不同的設計方向。</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5</a:t>
            </a:fld>
            <a:endParaRPr lang="zh-TW" altLang="en-US"/>
          </a:p>
        </p:txBody>
      </p:sp>
    </p:spTree>
    <p:extLst>
      <p:ext uri="{BB962C8B-B14F-4D97-AF65-F5344CB8AC3E}">
        <p14:creationId xmlns:p14="http://schemas.microsoft.com/office/powerpoint/2010/main" val="2120050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所以在本研究中，</a:t>
            </a:r>
            <a:br>
              <a:rPr lang="zh-TW" altLang="en-US" dirty="0"/>
            </a:br>
            <a:r>
              <a:rPr lang="zh-TW" altLang="en-US" dirty="0"/>
              <a:t>我把「</a:t>
            </a:r>
            <a:r>
              <a:rPr lang="zh-TW" altLang="en-US" b="1" dirty="0"/>
              <a:t>下一分鐘的平均延遲</a:t>
            </a:r>
            <a:r>
              <a:rPr lang="zh-TW" altLang="en-US" dirty="0"/>
              <a:t>」設定為主要的預測目標。</a:t>
            </a:r>
            <a:endParaRPr lang="en-US" altLang="zh-TW" dirty="0"/>
          </a:p>
          <a:p>
            <a:r>
              <a:rPr lang="zh-TW" altLang="en-US" dirty="0"/>
              <a:t>這樣的設計主要是希望，模型能夠根據過去的資料，協助我們提前掌握效能趨勢。</a:t>
            </a:r>
            <a:endParaRPr lang="en-US" altLang="zh-TW" dirty="0"/>
          </a:p>
          <a:p>
            <a:r>
              <a:rPr lang="zh-TW" altLang="en-US" dirty="0"/>
              <a:t>之所以選擇「每分鐘」作為預測單位，主要是考量到系統的資料收集頻率與即時性需求。</a:t>
            </a:r>
            <a:br>
              <a:rPr lang="zh-TW" altLang="en-US" dirty="0"/>
            </a:br>
            <a:r>
              <a:rPr lang="zh-TW" altLang="en-US" dirty="0"/>
              <a:t>這樣的設定可以兼顧</a:t>
            </a:r>
            <a:r>
              <a:rPr lang="zh-TW" altLang="en-US" b="1" dirty="0"/>
              <a:t>觀測的穩定性與預測的反應速度</a:t>
            </a:r>
            <a:r>
              <a:rPr lang="zh-TW" altLang="en-US" dirty="0"/>
              <a:t>，讓模型既能掌握延遲變化的趨勢，又不會受到瞬時波動的影響。</a:t>
            </a:r>
            <a:br>
              <a:rPr lang="zh-TW" altLang="en-US" dirty="0"/>
            </a:br>
            <a:r>
              <a:rPr lang="zh-TW" altLang="en-US" dirty="0"/>
              <a:t>這項預測結果也可以應用在兩個面向：</a:t>
            </a:r>
            <a:br>
              <a:rPr lang="zh-TW" altLang="en-US" dirty="0"/>
            </a:br>
            <a:r>
              <a:rPr lang="zh-TW" altLang="en-US" b="1" dirty="0"/>
              <a:t>第一，提前識別潛在的效能瓶頸</a:t>
            </a:r>
            <a:r>
              <a:rPr lang="zh-TW" altLang="en-US" dirty="0"/>
              <a:t>，</a:t>
            </a:r>
            <a:br>
              <a:rPr lang="zh-TW" altLang="en-US" dirty="0"/>
            </a:br>
            <a:r>
              <a:rPr lang="zh-TW" altLang="en-US" dirty="0"/>
              <a:t>讓系統在問題發生前就能提早介入；</a:t>
            </a:r>
            <a:br>
              <a:rPr lang="zh-TW" altLang="en-US" dirty="0"/>
            </a:br>
            <a:r>
              <a:rPr lang="zh-TW" altLang="en-US" b="1" dirty="0"/>
              <a:t>第二，協助資源調度與異常告警的決策</a:t>
            </a:r>
            <a:r>
              <a:rPr lang="zh-TW" altLang="en-US" dirty="0"/>
              <a:t>，</a:t>
            </a:r>
            <a:br>
              <a:rPr lang="zh-TW" altLang="en-US" dirty="0"/>
            </a:br>
            <a:r>
              <a:rPr lang="zh-TW" altLang="en-US" dirty="0"/>
              <a:t>使運維人員能更有效地掌握整體服務狀況。</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6</a:t>
            </a:fld>
            <a:endParaRPr lang="zh-TW" altLang="en-US"/>
          </a:p>
        </p:txBody>
      </p:sp>
    </p:spTree>
    <p:extLst>
      <p:ext uri="{BB962C8B-B14F-4D97-AF65-F5344CB8AC3E}">
        <p14:creationId xmlns:p14="http://schemas.microsoft.com/office/powerpoint/2010/main" val="2960867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6D35B-7D57-F133-CA71-CA3DF80B301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334FCC-835D-01B2-0C69-1E9358CB6B1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F2DFC17-07EA-D22E-2507-BDAAB3421CF0}"/>
              </a:ext>
            </a:extLst>
          </p:cNvPr>
          <p:cNvSpPr>
            <a:spLocks noGrp="1"/>
          </p:cNvSpPr>
          <p:nvPr>
            <p:ph type="body" idx="1"/>
          </p:nvPr>
        </p:nvSpPr>
        <p:spPr/>
        <p:txBody>
          <a:bodyPr/>
          <a:lstStyle/>
          <a:p>
            <a:r>
              <a:rPr lang="zh-TW" altLang="en-US" dirty="0"/>
              <a:t>本研究的整體實驗流程說明，整體流程是由左到右串接而成，主要可以分成四個階段。</a:t>
            </a:r>
            <a:br>
              <a:rPr lang="zh-TW" altLang="en-US" dirty="0"/>
            </a:br>
            <a:r>
              <a:rPr lang="zh-TW" altLang="en-US" dirty="0"/>
              <a:t>從</a:t>
            </a:r>
            <a:r>
              <a:rPr lang="zh-TW" altLang="en-US" b="1" dirty="0"/>
              <a:t>環境建置與資料收集</a:t>
            </a:r>
            <a:r>
              <a:rPr lang="zh-TW" altLang="en-US" dirty="0"/>
              <a:t>開始，接著進行</a:t>
            </a:r>
            <a:r>
              <a:rPr lang="zh-TW" altLang="en-US" b="1" dirty="0"/>
              <a:t>資料處理與特徵建構</a:t>
            </a:r>
            <a:r>
              <a:rPr lang="zh-TW" altLang="en-US" dirty="0"/>
              <a:t>，再來是</a:t>
            </a:r>
            <a:r>
              <a:rPr lang="zh-TW" altLang="en-US" b="1" dirty="0"/>
              <a:t>模型訓練與效能分析</a:t>
            </a:r>
            <a:r>
              <a:rPr lang="zh-TW" altLang="en-US" dirty="0"/>
              <a:t>，最後是</a:t>
            </a:r>
            <a:r>
              <a:rPr lang="zh-TW" altLang="en-US" b="1" dirty="0"/>
              <a:t>模型應用與實驗驗證</a:t>
            </a:r>
            <a:r>
              <a:rPr lang="zh-TW" altLang="en-US" dirty="0"/>
              <a:t>。</a:t>
            </a:r>
          </a:p>
        </p:txBody>
      </p:sp>
      <p:sp>
        <p:nvSpPr>
          <p:cNvPr id="4" name="投影片編號版面配置區 3">
            <a:extLst>
              <a:ext uri="{FF2B5EF4-FFF2-40B4-BE49-F238E27FC236}">
                <a16:creationId xmlns:a16="http://schemas.microsoft.com/office/drawing/2014/main" id="{3F0F10C7-4135-F6B6-6F92-D494834EBB9A}"/>
              </a:ext>
            </a:extLst>
          </p:cNvPr>
          <p:cNvSpPr>
            <a:spLocks noGrp="1"/>
          </p:cNvSpPr>
          <p:nvPr>
            <p:ph type="sldNum" sz="quarter" idx="5"/>
          </p:nvPr>
        </p:nvSpPr>
        <p:spPr/>
        <p:txBody>
          <a:bodyPr/>
          <a:lstStyle/>
          <a:p>
            <a:fld id="{D5022DD7-B5A4-466E-81AE-CC5BD18E5D72}" type="slidenum">
              <a:rPr lang="zh-TW" altLang="en-US" smtClean="0"/>
              <a:t>7</a:t>
            </a:fld>
            <a:endParaRPr lang="zh-TW" altLang="en-US"/>
          </a:p>
        </p:txBody>
      </p:sp>
    </p:spTree>
    <p:extLst>
      <p:ext uri="{BB962C8B-B14F-4D97-AF65-F5344CB8AC3E}">
        <p14:creationId xmlns:p14="http://schemas.microsoft.com/office/powerpoint/2010/main" val="1286404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B456A-3993-B81A-EF82-E2221A03A0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F4D7585-36C2-534A-8F36-9405EFBA05C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AC28F91-A576-28B8-725F-9582CD4CB029}"/>
              </a:ext>
            </a:extLst>
          </p:cNvPr>
          <p:cNvSpPr>
            <a:spLocks noGrp="1"/>
          </p:cNvSpPr>
          <p:nvPr>
            <p:ph type="body" idx="1"/>
          </p:nvPr>
        </p:nvSpPr>
        <p:spPr/>
        <p:txBody>
          <a:bodyPr/>
          <a:lstStyle/>
          <a:p>
            <a:r>
              <a:rPr lang="zh-TW" altLang="en-US" dirty="0"/>
              <a:t>第一個部分：實驗環境架設與負載模擬</a:t>
            </a:r>
            <a:endParaRPr lang="en-US" altLang="zh-TW" dirty="0"/>
          </a:p>
          <a:p>
            <a:r>
              <a:rPr lang="zh-TW" altLang="en-US" dirty="0"/>
              <a:t>這一章主要是說明如何建立實驗環境、部署微服務，並模擬不同流量條件下的系統行為去產生資料</a:t>
            </a:r>
          </a:p>
        </p:txBody>
      </p:sp>
      <p:sp>
        <p:nvSpPr>
          <p:cNvPr id="4" name="投影片編號版面配置區 3">
            <a:extLst>
              <a:ext uri="{FF2B5EF4-FFF2-40B4-BE49-F238E27FC236}">
                <a16:creationId xmlns:a16="http://schemas.microsoft.com/office/drawing/2014/main" id="{CA2A6D9D-E289-0050-34D0-399E562CF736}"/>
              </a:ext>
            </a:extLst>
          </p:cNvPr>
          <p:cNvSpPr>
            <a:spLocks noGrp="1"/>
          </p:cNvSpPr>
          <p:nvPr>
            <p:ph type="sldNum" sz="quarter" idx="5"/>
          </p:nvPr>
        </p:nvSpPr>
        <p:spPr/>
        <p:txBody>
          <a:bodyPr/>
          <a:lstStyle/>
          <a:p>
            <a:fld id="{D5022DD7-B5A4-466E-81AE-CC5BD18E5D72}" type="slidenum">
              <a:rPr lang="zh-TW" altLang="en-US" smtClean="0"/>
              <a:t>8</a:t>
            </a:fld>
            <a:endParaRPr lang="zh-TW" altLang="en-US"/>
          </a:p>
        </p:txBody>
      </p:sp>
    </p:spTree>
    <p:extLst>
      <p:ext uri="{BB962C8B-B14F-4D97-AF65-F5344CB8AC3E}">
        <p14:creationId xmlns:p14="http://schemas.microsoft.com/office/powerpoint/2010/main" val="2747740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在實驗系統時參考開源專案，並以 </a:t>
            </a:r>
            <a:r>
              <a:rPr lang="en-US" altLang="zh-TW" b="1" dirty="0" err="1"/>
              <a:t>FastAPI</a:t>
            </a:r>
            <a:r>
              <a:rPr lang="zh-TW" altLang="en-US" dirty="0"/>
              <a:t> 框架重新實作成四個微服務，整體系統是部署在 </a:t>
            </a:r>
            <a:r>
              <a:rPr lang="en-US" altLang="zh-TW" b="1" dirty="0"/>
              <a:t>Kubernetes </a:t>
            </a:r>
            <a:r>
              <a:rPr lang="zh-TW" altLang="en-US" b="1" dirty="0"/>
              <a:t>叢集</a:t>
            </a:r>
            <a:r>
              <a:rPr lang="zh-TW" altLang="en-US" dirty="0"/>
              <a:t>上。</a:t>
            </a:r>
            <a:br>
              <a:rPr lang="zh-TW" altLang="en-US" dirty="0"/>
            </a:br>
            <a:r>
              <a:rPr lang="zh-TW" altLang="en-US" dirty="0"/>
              <a:t>資料部分則採用 </a:t>
            </a:r>
            <a:r>
              <a:rPr lang="en-US" altLang="zh-TW" b="1" dirty="0"/>
              <a:t>MySQL</a:t>
            </a:r>
            <a:r>
              <a:rPr lang="zh-TW" altLang="en-US" dirty="0"/>
              <a:t> 來儲存業務資料。右邊這張圖是整體架構示意。</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9</a:t>
            </a:fld>
            <a:endParaRPr lang="zh-TW" altLang="en-US"/>
          </a:p>
        </p:txBody>
      </p:sp>
    </p:spTree>
    <p:extLst>
      <p:ext uri="{BB962C8B-B14F-4D97-AF65-F5344CB8AC3E}">
        <p14:creationId xmlns:p14="http://schemas.microsoft.com/office/powerpoint/2010/main" val="2804038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在本實驗環境中，我們採用 </a:t>
            </a:r>
            <a:r>
              <a:rPr lang="en-US" altLang="zh-TW" dirty="0" err="1"/>
              <a:t>OpenTelemetry</a:t>
            </a:r>
            <a:r>
              <a:rPr lang="en-US" altLang="zh-TW" dirty="0"/>
              <a:t> </a:t>
            </a:r>
            <a:r>
              <a:rPr lang="zh-TW" altLang="en-US" dirty="0"/>
              <a:t>的 </a:t>
            </a:r>
            <a:r>
              <a:rPr lang="en-US" altLang="zh-TW" dirty="0"/>
              <a:t>Auto-Instrumentation </a:t>
            </a:r>
            <a:r>
              <a:rPr lang="zh-TW" altLang="en-US" dirty="0"/>
              <a:t>技術，實現微服務層級的自動化監控資料收集，無需修改原始程式碼即可注入追蹤。</a:t>
            </a:r>
            <a:endParaRPr lang="en-US" altLang="zh-TW" dirty="0"/>
          </a:p>
          <a:p>
            <a:r>
              <a:rPr lang="zh-TW" altLang="en-US" dirty="0"/>
              <a:t>這些資料會先由 </a:t>
            </a:r>
            <a:r>
              <a:rPr lang="en-US" altLang="zh-TW" b="1" dirty="0" err="1"/>
              <a:t>OpenTelemetry</a:t>
            </a:r>
            <a:r>
              <a:rPr lang="en-US" altLang="zh-TW" b="1" dirty="0"/>
              <a:t> Collector</a:t>
            </a:r>
            <a:r>
              <a:rPr lang="en-US" altLang="zh-TW" dirty="0"/>
              <a:t> </a:t>
            </a:r>
            <a:r>
              <a:rPr lang="zh-TW" altLang="en-US" dirty="0"/>
              <a:t>統一接收與處理，</a:t>
            </a:r>
            <a:r>
              <a:rPr lang="en-US" altLang="zh-TW" dirty="0"/>
              <a:t>Collector </a:t>
            </a:r>
            <a:r>
              <a:rPr lang="zh-TW" altLang="en-US" dirty="0"/>
              <a:t>會依序透過三個模組運作：</a:t>
            </a:r>
            <a:br>
              <a:rPr lang="zh-TW" altLang="en-US" dirty="0"/>
            </a:br>
            <a:r>
              <a:rPr lang="en-US" altLang="zh-TW" b="1" dirty="0"/>
              <a:t>Receiver</a:t>
            </a:r>
            <a:r>
              <a:rPr lang="en-US" altLang="zh-TW" dirty="0"/>
              <a:t> </a:t>
            </a:r>
            <a:r>
              <a:rPr lang="zh-TW" altLang="en-US" dirty="0"/>
              <a:t>負責接收資料、</a:t>
            </a:r>
            <a:br>
              <a:rPr lang="zh-TW" altLang="en-US" dirty="0"/>
            </a:br>
            <a:r>
              <a:rPr lang="en-US" altLang="zh-TW" b="1" dirty="0"/>
              <a:t>Processor</a:t>
            </a:r>
            <a:r>
              <a:rPr lang="en-US" altLang="zh-TW" dirty="0"/>
              <a:t> </a:t>
            </a:r>
            <a:r>
              <a:rPr lang="zh-TW" altLang="en-US" dirty="0"/>
              <a:t>負責處理與匯整、</a:t>
            </a:r>
            <a:br>
              <a:rPr lang="zh-TW" altLang="en-US" dirty="0"/>
            </a:br>
            <a:r>
              <a:rPr lang="en-US" altLang="zh-TW" b="1" dirty="0"/>
              <a:t>Exporter</a:t>
            </a:r>
            <a:r>
              <a:rPr lang="en-US" altLang="zh-TW" dirty="0"/>
              <a:t> </a:t>
            </a:r>
            <a:r>
              <a:rPr lang="zh-TW" altLang="en-US" dirty="0"/>
              <a:t>則將整理後的資料匯出到資料庫。</a:t>
            </a:r>
            <a:r>
              <a:rPr lang="en-US" altLang="zh-TW" dirty="0"/>
              <a:t>	</a:t>
            </a:r>
          </a:p>
          <a:p>
            <a:r>
              <a:rPr lang="zh-TW" altLang="en-US" dirty="0"/>
              <a:t>最終所有監控資料都會集中儲存在資料庫中，作為後續模型訓練與延遲預測分析的基礎來源。</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10</a:t>
            </a:fld>
            <a:endParaRPr lang="zh-TW" altLang="en-US"/>
          </a:p>
        </p:txBody>
      </p:sp>
    </p:spTree>
    <p:extLst>
      <p:ext uri="{BB962C8B-B14F-4D97-AF65-F5344CB8AC3E}">
        <p14:creationId xmlns:p14="http://schemas.microsoft.com/office/powerpoint/2010/main" val="1452888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這一頁主要說明 </a:t>
            </a:r>
            <a:r>
              <a:rPr lang="en-US" altLang="zh-TW" dirty="0" err="1"/>
              <a:t>OpenTelemetry</a:t>
            </a:r>
            <a:r>
              <a:rPr lang="en-US" altLang="zh-TW" dirty="0"/>
              <a:t> </a:t>
            </a:r>
            <a:r>
              <a:rPr lang="zh-TW" altLang="en-US" dirty="0"/>
              <a:t>收集到的監控資料內容。</a:t>
            </a:r>
            <a:br>
              <a:rPr lang="zh-TW" altLang="en-US" dirty="0"/>
            </a:br>
            <a:r>
              <a:rPr lang="zh-TW" altLang="en-US" dirty="0"/>
              <a:t>在系統中，</a:t>
            </a:r>
            <a:r>
              <a:rPr lang="en-US" altLang="zh-TW" dirty="0" err="1"/>
              <a:t>OpenTelemetry</a:t>
            </a:r>
            <a:r>
              <a:rPr lang="en-US" altLang="zh-TW" dirty="0"/>
              <a:t> </a:t>
            </a:r>
            <a:r>
              <a:rPr lang="zh-TW" altLang="en-US" dirty="0"/>
              <a:t>會</a:t>
            </a:r>
            <a:r>
              <a:rPr lang="zh-TW" altLang="en-US" b="1" dirty="0"/>
              <a:t>自動記錄每一筆 </a:t>
            </a:r>
            <a:r>
              <a:rPr lang="en-US" altLang="zh-TW" b="1" dirty="0"/>
              <a:t>HTTP </a:t>
            </a:r>
            <a:r>
              <a:rPr lang="zh-TW" altLang="en-US" b="1" dirty="0"/>
              <a:t>請求</a:t>
            </a:r>
            <a:r>
              <a:rPr lang="zh-TW" altLang="en-US" dirty="0"/>
              <a:t>的詳細資訊，</a:t>
            </a:r>
            <a:br>
              <a:rPr lang="zh-TW" altLang="en-US" dirty="0"/>
            </a:br>
            <a:r>
              <a:rPr lang="zh-TW" altLang="en-US" dirty="0"/>
              <a:t>像是服務識別碼、請求的 </a:t>
            </a:r>
            <a:r>
              <a:rPr lang="en-US" altLang="zh-TW" dirty="0"/>
              <a:t>Pod </a:t>
            </a:r>
            <a:r>
              <a:rPr lang="zh-TW" altLang="en-US" dirty="0"/>
              <a:t>名稱、</a:t>
            </a:r>
            <a:r>
              <a:rPr lang="en-US" altLang="zh-TW" dirty="0"/>
              <a:t>HTTP </a:t>
            </a:r>
            <a:r>
              <a:rPr lang="zh-TW" altLang="en-US" dirty="0"/>
              <a:t>方法、路徑、狀態碼，以及實際的處理時間等。</a:t>
            </a:r>
          </a:p>
          <a:p>
            <a:r>
              <a:rPr lang="zh-TW" altLang="en-US" dirty="0"/>
              <a:t>這些資料能讓我知道請求是由哪來的，</a:t>
            </a:r>
            <a:br>
              <a:rPr lang="zh-TW" altLang="en-US" dirty="0"/>
            </a:br>
            <a:r>
              <a:rPr lang="zh-TW" altLang="en-US" dirty="0"/>
              <a:t>同時也能觀察不同服務在高併發情況下的延遲差異。</a:t>
            </a:r>
          </a:p>
          <a:p>
            <a:r>
              <a:rPr lang="zh-TW" altLang="en-US" dirty="0"/>
              <a:t>右邊的表格就是實際資料結構的示意</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11</a:t>
            </a:fld>
            <a:endParaRPr lang="zh-TW" altLang="en-US"/>
          </a:p>
        </p:txBody>
      </p:sp>
    </p:spTree>
    <p:extLst>
      <p:ext uri="{BB962C8B-B14F-4D97-AF65-F5344CB8AC3E}">
        <p14:creationId xmlns:p14="http://schemas.microsoft.com/office/powerpoint/2010/main" val="2082107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在負載設計的部分，我有特別參考過去文獻中對於大型系統請求分布的紀錄，</a:t>
            </a:r>
            <a:br>
              <a:rPr lang="zh-TW" altLang="en-US" dirty="0"/>
            </a:br>
            <a:r>
              <a:rPr lang="zh-TW" altLang="en-US" dirty="0"/>
              <a:t>並根據這些實際觀察到的流量特性，去設計流量放大，來模擬系統在不同條件下的運作行為，像是高併發、尖峰時段、或是離峰時段的情況。</a:t>
            </a:r>
            <a:endParaRPr lang="en-US" altLang="zh-TW" dirty="0"/>
          </a:p>
          <a:p>
            <a:r>
              <a:rPr lang="zh-TW" altLang="en-US" dirty="0"/>
              <a:t>下方這張圖是原始的流量曲線，</a:t>
            </a:r>
            <a:br>
              <a:rPr lang="zh-TW" altLang="en-US" dirty="0"/>
            </a:br>
            <a:r>
              <a:rPr lang="zh-TW" altLang="en-US" dirty="0"/>
              <a:t>可以看到在不同時間區段，請求量會有高低起伏的變化，</a:t>
            </a:r>
            <a:br>
              <a:rPr lang="zh-TW" altLang="en-US" dirty="0"/>
            </a:br>
            <a:r>
              <a:rPr lang="zh-TW" altLang="en-US" dirty="0"/>
              <a:t>這種波動能反映真實系統運作狀態，</a:t>
            </a:r>
            <a:endParaRPr lang="en-US" altLang="zh-TW" dirty="0"/>
          </a:p>
          <a:p>
            <a:r>
              <a:rPr lang="zh-TW" altLang="en-US" dirty="0"/>
              <a:t>也讓後續模型訓練的資料更貼近實際情境</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12</a:t>
            </a:fld>
            <a:endParaRPr lang="zh-TW" altLang="en-US"/>
          </a:p>
        </p:txBody>
      </p:sp>
    </p:spTree>
    <p:extLst>
      <p:ext uri="{BB962C8B-B14F-4D97-AF65-F5344CB8AC3E}">
        <p14:creationId xmlns:p14="http://schemas.microsoft.com/office/powerpoint/2010/main" val="3451229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88CA-A811-7463-BD88-50E221B0688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93B4D2F-7BBB-3398-F0D4-B7DD419BD4A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BD8F668-EEE8-4B53-B591-4569B6E18B57}"/>
              </a:ext>
            </a:extLst>
          </p:cNvPr>
          <p:cNvSpPr>
            <a:spLocks noGrp="1"/>
          </p:cNvSpPr>
          <p:nvPr>
            <p:ph type="body" idx="1"/>
          </p:nvPr>
        </p:nvSpPr>
        <p:spPr/>
        <p:txBody>
          <a:bodyPr/>
          <a:lstStyle/>
          <a:p>
            <a:r>
              <a:rPr lang="zh-TW" altLang="en-US" dirty="0"/>
              <a:t>接下來要跟口委說明我們在實驗中如何模擬使用者行為。</a:t>
            </a:r>
            <a:endParaRPr lang="en-US" altLang="zh-TW" dirty="0"/>
          </a:p>
          <a:p>
            <a:r>
              <a:rPr lang="zh-TW" altLang="en-US" dirty="0"/>
              <a:t>採用 </a:t>
            </a:r>
            <a:r>
              <a:rPr lang="en-US" altLang="zh-TW" b="1" dirty="0"/>
              <a:t>Locust</a:t>
            </a:r>
            <a:r>
              <a:rPr lang="zh-TW" altLang="en-US" dirty="0"/>
              <a:t> 作為負載生成工具，能模擬多使用者同時發送請求的情境。</a:t>
            </a:r>
            <a:endParaRPr lang="en-US" altLang="zh-TW" dirty="0"/>
          </a:p>
          <a:p>
            <a:r>
              <a:rPr lang="zh-TW" altLang="en-US" dirty="0"/>
              <a:t>在設計上，</a:t>
            </a:r>
            <a:r>
              <a:rPr lang="zh-TW" altLang="en-US" b="1" dirty="0"/>
              <a:t>去定義使用者的操作行為</a:t>
            </a:r>
            <a:r>
              <a:rPr lang="zh-TW" altLang="en-US" dirty="0"/>
              <a:t>，並讓它</a:t>
            </a:r>
            <a:r>
              <a:rPr lang="zh-TW" altLang="en-US" b="1" dirty="0"/>
              <a:t>隨機選擇不同的請求路徑</a:t>
            </a:r>
            <a:r>
              <a:rPr lang="zh-TW" altLang="en-US" dirty="0"/>
              <a:t>，</a:t>
            </a:r>
            <a:br>
              <a:rPr lang="zh-TW" altLang="en-US" dirty="0"/>
            </a:br>
            <a:r>
              <a:rPr lang="zh-TW" altLang="en-US" dirty="0"/>
              <a:t>這樣就能模擬出多樣化的操作情境，而不是重複單一行為。</a:t>
            </a:r>
            <a:endParaRPr lang="en-US" altLang="zh-TW" dirty="0"/>
          </a:p>
          <a:p>
            <a:r>
              <a:rPr lang="zh-TW" altLang="en-US" dirty="0"/>
              <a:t>請求的間隔是依照 </a:t>
            </a:r>
            <a:r>
              <a:rPr lang="en-US" altLang="zh-TW" b="1" dirty="0"/>
              <a:t>Poisson </a:t>
            </a:r>
            <a:r>
              <a:rPr lang="zh-TW" altLang="en-US" b="1" dirty="0"/>
              <a:t>過程</a:t>
            </a:r>
            <a:r>
              <a:rPr lang="zh-TW" altLang="en-US" dirty="0"/>
              <a:t>產生，這種方式常用來模擬</a:t>
            </a:r>
            <a:r>
              <a:rPr lang="zh-TW" altLang="en-US" b="1" dirty="0"/>
              <a:t>真實使用者隨機進入系統的行為</a:t>
            </a:r>
            <a:r>
              <a:rPr lang="zh-TW" altLang="en-US" dirty="0"/>
              <a:t>，可以讓請求分布更貼近實際的到達特性，而不是固定間隔發送。</a:t>
            </a:r>
            <a:endParaRPr lang="en-US" altLang="zh-TW" dirty="0"/>
          </a:p>
          <a:p>
            <a:r>
              <a:rPr lang="zh-TW" altLang="en-US" dirty="0"/>
              <a:t>在整個模擬過程中，系統會透過 </a:t>
            </a:r>
            <a:r>
              <a:rPr lang="en-US" altLang="zh-TW" dirty="0" err="1"/>
              <a:t>OpenTelemetry</a:t>
            </a:r>
            <a:r>
              <a:rPr lang="en-US" altLang="zh-TW" dirty="0"/>
              <a:t> </a:t>
            </a:r>
            <a:r>
              <a:rPr lang="zh-TW" altLang="en-US" dirty="0"/>
              <a:t>自動收集所有 </a:t>
            </a:r>
            <a:r>
              <a:rPr lang="en-US" altLang="zh-TW" dirty="0"/>
              <a:t>HTTP </a:t>
            </a:r>
            <a:r>
              <a:rPr lang="zh-TW" altLang="en-US" dirty="0"/>
              <a:t>請求資料，這些資料後續就會成為</a:t>
            </a:r>
            <a:r>
              <a:rPr lang="zh-TW" altLang="en-US" b="1" dirty="0"/>
              <a:t>模型訓練與分析的基礎來源</a:t>
            </a:r>
            <a:r>
              <a:rPr lang="zh-TW" altLang="en-US" dirty="0"/>
              <a:t>。</a:t>
            </a:r>
          </a:p>
        </p:txBody>
      </p:sp>
      <p:sp>
        <p:nvSpPr>
          <p:cNvPr id="4" name="投影片編號版面配置區 3">
            <a:extLst>
              <a:ext uri="{FF2B5EF4-FFF2-40B4-BE49-F238E27FC236}">
                <a16:creationId xmlns:a16="http://schemas.microsoft.com/office/drawing/2014/main" id="{43ABE1FA-F9CA-022E-1483-D40ECBA73191}"/>
              </a:ext>
            </a:extLst>
          </p:cNvPr>
          <p:cNvSpPr>
            <a:spLocks noGrp="1"/>
          </p:cNvSpPr>
          <p:nvPr>
            <p:ph type="sldNum" sz="quarter" idx="5"/>
          </p:nvPr>
        </p:nvSpPr>
        <p:spPr/>
        <p:txBody>
          <a:bodyPr/>
          <a:lstStyle/>
          <a:p>
            <a:fld id="{D5022DD7-B5A4-466E-81AE-CC5BD18E5D72}" type="slidenum">
              <a:rPr lang="zh-TW" altLang="en-US" smtClean="0"/>
              <a:t>13</a:t>
            </a:fld>
            <a:endParaRPr lang="zh-TW" altLang="en-US"/>
          </a:p>
        </p:txBody>
      </p:sp>
    </p:spTree>
    <p:extLst>
      <p:ext uri="{BB962C8B-B14F-4D97-AF65-F5344CB8AC3E}">
        <p14:creationId xmlns:p14="http://schemas.microsoft.com/office/powerpoint/2010/main" val="2352087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DB61B-B037-EA28-2BB9-8CCDB6B4A34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C6A30D8-37A5-BC2C-268A-83A36F24A4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19E0610-9470-9537-F06A-B3E2F3A4C599}"/>
              </a:ext>
            </a:extLst>
          </p:cNvPr>
          <p:cNvSpPr>
            <a:spLocks noGrp="1"/>
          </p:cNvSpPr>
          <p:nvPr>
            <p:ph type="body" idx="1"/>
          </p:nvPr>
        </p:nvSpPr>
        <p:spPr/>
        <p:txBody>
          <a:bodyPr/>
          <a:lstStyle/>
          <a:p>
            <a:r>
              <a:rPr lang="zh-TW" altLang="en-US" dirty="0"/>
              <a:t>在模擬條件的部分，設定每個微服務以 </a:t>
            </a:r>
            <a:r>
              <a:rPr lang="en-US" altLang="zh-TW" b="1" dirty="0"/>
              <a:t>1 </a:t>
            </a:r>
            <a:r>
              <a:rPr lang="zh-TW" altLang="en-US" b="1" dirty="0"/>
              <a:t>到 </a:t>
            </a:r>
            <a:r>
              <a:rPr lang="en-US" altLang="zh-TW" b="1" dirty="0"/>
              <a:t>4 </a:t>
            </a:r>
            <a:r>
              <a:rPr lang="zh-TW" altLang="en-US" b="1" dirty="0"/>
              <a:t>個 </a:t>
            </a:r>
            <a:r>
              <a:rPr lang="en-US" altLang="zh-TW" b="1" dirty="0"/>
              <a:t>Pod </a:t>
            </a:r>
            <a:r>
              <a:rPr lang="zh-TW" altLang="en-US" b="1" dirty="0"/>
              <a:t>的配置方式</a:t>
            </a:r>
            <a:r>
              <a:rPr lang="zh-TW" altLang="en-US" dirty="0"/>
              <a:t> 分階段運行，而這些配置是</a:t>
            </a:r>
            <a:r>
              <a:rPr lang="zh-TW" altLang="en-US" b="1" dirty="0"/>
              <a:t>依照天數分階段調整</a:t>
            </a:r>
            <a:r>
              <a:rPr lang="zh-TW" altLang="en-US" dirty="0"/>
              <a:t>的，也就是每天的 </a:t>
            </a:r>
            <a:r>
              <a:rPr lang="en-US" altLang="zh-TW" dirty="0"/>
              <a:t>Pod </a:t>
            </a:r>
            <a:r>
              <a:rPr lang="zh-TW" altLang="en-US" dirty="0"/>
              <a:t>數會不同，用來模擬實際系統在不同資源配置下的運行狀態。</a:t>
            </a:r>
          </a:p>
          <a:p>
            <a:r>
              <a:rPr lang="zh-TW" altLang="en-US" dirty="0"/>
              <a:t>這樣設計的原因是希望</a:t>
            </a:r>
            <a:r>
              <a:rPr lang="zh-TW" altLang="en-US" b="1" dirty="0"/>
              <a:t>控制變因，觀察在固定條件下的延遲行為差異</a:t>
            </a:r>
            <a:r>
              <a:rPr lang="zh-TW" altLang="en-US" dirty="0"/>
              <a:t>。</a:t>
            </a:r>
            <a:br>
              <a:rPr lang="zh-TW" altLang="en-US" dirty="0"/>
            </a:br>
            <a:r>
              <a:rPr lang="en-US" altLang="zh-TW" dirty="0"/>
              <a:t>(</a:t>
            </a:r>
            <a:r>
              <a:rPr lang="zh-TW" altLang="en-US" dirty="0"/>
              <a:t>如果改用 </a:t>
            </a:r>
            <a:r>
              <a:rPr lang="en-US" altLang="zh-TW" dirty="0"/>
              <a:t>HPA </a:t>
            </a:r>
            <a:r>
              <a:rPr lang="zh-TW" altLang="en-US" dirty="0"/>
              <a:t>自動調整 </a:t>
            </a:r>
            <a:r>
              <a:rPr lang="en-US" altLang="zh-TW" dirty="0"/>
              <a:t>Pod </a:t>
            </a:r>
            <a:r>
              <a:rPr lang="zh-TW" altLang="en-US" dirty="0"/>
              <a:t>數，</a:t>
            </a:r>
            <a:r>
              <a:rPr lang="en-US" altLang="zh-TW" dirty="0"/>
              <a:t>Pod </a:t>
            </a:r>
            <a:r>
              <a:rPr lang="zh-TW" altLang="en-US" dirty="0"/>
              <a:t>會隨即時負載變動，</a:t>
            </a:r>
            <a:br>
              <a:rPr lang="zh-TW" altLang="en-US" dirty="0"/>
            </a:br>
            <a:r>
              <a:rPr lang="zh-TW" altLang="en-US" dirty="0"/>
              <a:t>反而會讓實驗條件不穩定，難以比較不同配置下的模型準確度。</a:t>
            </a:r>
            <a:br>
              <a:rPr lang="zh-TW" altLang="en-US" dirty="0"/>
            </a:br>
            <a:r>
              <a:rPr lang="zh-TW" altLang="en-US" dirty="0"/>
              <a:t>因此這裡選擇以每日固定 </a:t>
            </a:r>
            <a:r>
              <a:rPr lang="en-US" altLang="zh-TW" dirty="0"/>
              <a:t>Pod </a:t>
            </a:r>
            <a:r>
              <a:rPr lang="zh-TW" altLang="en-US" dirty="0"/>
              <a:t>數的方式進行，確保資料具可重現性與可對照性。</a:t>
            </a:r>
            <a:r>
              <a:rPr lang="en-US" altLang="zh-TW" dirty="0"/>
              <a:t>)</a:t>
            </a:r>
            <a:endParaRPr lang="zh-TW" altLang="en-US" dirty="0"/>
          </a:p>
          <a:p>
            <a:r>
              <a:rPr lang="zh-TW" altLang="en-US" dirty="0"/>
              <a:t>負載的部分則是根據文獻中真實系統的流量分布來參考，並</a:t>
            </a:r>
            <a:r>
              <a:rPr lang="zh-TW" altLang="en-US" b="1" dirty="0"/>
              <a:t>放大流量強度</a:t>
            </a:r>
            <a:r>
              <a:rPr lang="zh-TW" altLang="en-US" dirty="0"/>
              <a:t>以模擬高併發情境。</a:t>
            </a:r>
            <a:br>
              <a:rPr lang="zh-TW" altLang="en-US" dirty="0"/>
            </a:br>
            <a:r>
              <a:rPr lang="zh-TW" altLang="en-US" dirty="0"/>
              <a:t>整體模擬共執行 </a:t>
            </a:r>
            <a:r>
              <a:rPr lang="en-US" altLang="zh-TW" b="1" dirty="0"/>
              <a:t>9 </a:t>
            </a:r>
            <a:r>
              <a:rPr lang="zh-TW" altLang="en-US" b="1" dirty="0"/>
              <a:t>天</a:t>
            </a:r>
            <a:r>
              <a:rPr lang="zh-TW" altLang="en-US" dirty="0"/>
              <a:t>，涵蓋了不同流量與 </a:t>
            </a:r>
            <a:r>
              <a:rPr lang="en-US" altLang="zh-TW" dirty="0"/>
              <a:t>Pod </a:t>
            </a:r>
            <a:r>
              <a:rPr lang="zh-TW" altLang="en-US" dirty="0"/>
              <a:t>配置組合，讓模型能學習到更全面的系統行為與延遲特性。</a:t>
            </a:r>
          </a:p>
        </p:txBody>
      </p:sp>
      <p:sp>
        <p:nvSpPr>
          <p:cNvPr id="4" name="投影片編號版面配置區 3">
            <a:extLst>
              <a:ext uri="{FF2B5EF4-FFF2-40B4-BE49-F238E27FC236}">
                <a16:creationId xmlns:a16="http://schemas.microsoft.com/office/drawing/2014/main" id="{D74564C5-3C27-13BC-0444-0C7DA7C00855}"/>
              </a:ext>
            </a:extLst>
          </p:cNvPr>
          <p:cNvSpPr>
            <a:spLocks noGrp="1"/>
          </p:cNvSpPr>
          <p:nvPr>
            <p:ph type="sldNum" sz="quarter" idx="5"/>
          </p:nvPr>
        </p:nvSpPr>
        <p:spPr/>
        <p:txBody>
          <a:bodyPr/>
          <a:lstStyle/>
          <a:p>
            <a:fld id="{D5022DD7-B5A4-466E-81AE-CC5BD18E5D72}" type="slidenum">
              <a:rPr lang="zh-TW" altLang="en-US" smtClean="0"/>
              <a:t>14</a:t>
            </a:fld>
            <a:endParaRPr lang="zh-TW" altLang="en-US"/>
          </a:p>
        </p:txBody>
      </p:sp>
    </p:spTree>
    <p:extLst>
      <p:ext uri="{BB962C8B-B14F-4D97-AF65-F5344CB8AC3E}">
        <p14:creationId xmlns:p14="http://schemas.microsoft.com/office/powerpoint/2010/main" val="2887463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B1EAA-8159-D10C-DA98-CADC2A5F902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7D43645-564F-E977-1B22-9395A6F487A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9A2D165-C969-5D4E-EB5E-C870BDB8DB6A}"/>
              </a:ext>
            </a:extLst>
          </p:cNvPr>
          <p:cNvSpPr>
            <a:spLocks noGrp="1"/>
          </p:cNvSpPr>
          <p:nvPr>
            <p:ph type="body" idx="1"/>
          </p:nvPr>
        </p:nvSpPr>
        <p:spPr/>
        <p:txBody>
          <a:bodyPr/>
          <a:lstStyle/>
          <a:p>
            <a:r>
              <a:rPr lang="zh-TW" altLang="en-US" dirty="0"/>
              <a:t>我們在實驗時有觀察到將流量放到</a:t>
            </a:r>
            <a:r>
              <a:rPr lang="en-US" altLang="zh-TW" dirty="0"/>
              <a:t>5-7</a:t>
            </a:r>
            <a:r>
              <a:rPr lang="zh-TW" altLang="en-US" dirty="0"/>
              <a:t>倍能觸發延遲惡化的情境，但又不讓系統崩潰，因此最終採用該倍數作為模擬設定，以重現真實高併發下的臨界負載狀況。</a:t>
            </a:r>
            <a:endParaRPr lang="en-US" altLang="zh-TW" dirty="0"/>
          </a:p>
          <a:p>
            <a:r>
              <a:rPr lang="zh-TW" altLang="en-US" dirty="0"/>
              <a:t>整個模擬共執行 </a:t>
            </a:r>
            <a:r>
              <a:rPr lang="en-US" altLang="zh-TW" b="1" dirty="0"/>
              <a:t>9 </a:t>
            </a:r>
            <a:r>
              <a:rPr lang="zh-TW" altLang="en-US" b="1" dirty="0"/>
              <a:t>天</a:t>
            </a:r>
            <a:r>
              <a:rPr lang="zh-TW" altLang="en-US" dirty="0"/>
              <a:t>，總請求量大約 </a:t>
            </a:r>
            <a:r>
              <a:rPr lang="en-US" altLang="zh-TW" b="1" dirty="0"/>
              <a:t>3 </a:t>
            </a:r>
            <a:r>
              <a:rPr lang="zh-TW" altLang="en-US" b="1" dirty="0"/>
              <a:t>千萬筆</a:t>
            </a:r>
            <a:r>
              <a:rPr lang="zh-TW" altLang="en-US" dirty="0"/>
              <a:t>。</a:t>
            </a:r>
            <a:br>
              <a:rPr lang="zh-TW" altLang="en-US" dirty="0"/>
            </a:br>
            <a:r>
              <a:rPr lang="zh-TW" altLang="en-US" dirty="0"/>
              <a:t>在此期間，每個微服務都完成了多階段運行，涵蓋 </a:t>
            </a:r>
            <a:r>
              <a:rPr lang="en-US" altLang="zh-TW" b="1" dirty="0"/>
              <a:t>1 </a:t>
            </a:r>
            <a:r>
              <a:rPr lang="zh-TW" altLang="en-US" b="1" dirty="0"/>
              <a:t>到 </a:t>
            </a:r>
            <a:r>
              <a:rPr lang="en-US" altLang="zh-TW" b="1" dirty="0"/>
              <a:t>4 </a:t>
            </a:r>
            <a:r>
              <a:rPr lang="zh-TW" altLang="en-US" b="1" dirty="0"/>
              <a:t>個 </a:t>
            </a:r>
            <a:r>
              <a:rPr lang="en-US" altLang="zh-TW" b="1" dirty="0"/>
              <a:t>Pod </a:t>
            </a:r>
            <a:r>
              <a:rPr lang="zh-TW" altLang="en-US" b="1" dirty="0"/>
              <a:t>的配置</a:t>
            </a:r>
            <a:r>
              <a:rPr lang="zh-TW" altLang="en-US" dirty="0"/>
              <a:t>，能夠反映系統在不同部署條件下的延遲反應。</a:t>
            </a:r>
            <a:endParaRPr lang="en-US" altLang="zh-TW" dirty="0"/>
          </a:p>
          <a:p>
            <a:r>
              <a:rPr lang="zh-TW" altLang="en-US" dirty="0"/>
              <a:t>模擬完成後，所有監控資料都會被整合與前處理，做為後續延遲預測模型訓練的輸入來源。</a:t>
            </a:r>
          </a:p>
        </p:txBody>
      </p:sp>
      <p:sp>
        <p:nvSpPr>
          <p:cNvPr id="4" name="投影片編號版面配置區 3">
            <a:extLst>
              <a:ext uri="{FF2B5EF4-FFF2-40B4-BE49-F238E27FC236}">
                <a16:creationId xmlns:a16="http://schemas.microsoft.com/office/drawing/2014/main" id="{E33F44FB-F0CA-42C6-C196-8B4B4B82F39D}"/>
              </a:ext>
            </a:extLst>
          </p:cNvPr>
          <p:cNvSpPr>
            <a:spLocks noGrp="1"/>
          </p:cNvSpPr>
          <p:nvPr>
            <p:ph type="sldNum" sz="quarter" idx="5"/>
          </p:nvPr>
        </p:nvSpPr>
        <p:spPr/>
        <p:txBody>
          <a:bodyPr/>
          <a:lstStyle/>
          <a:p>
            <a:fld id="{D5022DD7-B5A4-466E-81AE-CC5BD18E5D72}" type="slidenum">
              <a:rPr lang="zh-TW" altLang="en-US" smtClean="0"/>
              <a:t>15</a:t>
            </a:fld>
            <a:endParaRPr lang="zh-TW" altLang="en-US"/>
          </a:p>
        </p:txBody>
      </p:sp>
    </p:spTree>
    <p:extLst>
      <p:ext uri="{BB962C8B-B14F-4D97-AF65-F5344CB8AC3E}">
        <p14:creationId xmlns:p14="http://schemas.microsoft.com/office/powerpoint/2010/main" val="3282416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這張圖是模擬資料生成的流程圖。</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16</a:t>
            </a:fld>
            <a:endParaRPr lang="zh-TW" altLang="en-US"/>
          </a:p>
        </p:txBody>
      </p:sp>
    </p:spTree>
    <p:extLst>
      <p:ext uri="{BB962C8B-B14F-4D97-AF65-F5344CB8AC3E}">
        <p14:creationId xmlns:p14="http://schemas.microsoft.com/office/powerpoint/2010/main" val="4055975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C1B7B-BDAA-7536-4D70-E463B47CB37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0286B70-1D81-278F-A68E-96950865C37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F98076B-0BF8-2D30-C746-8C9C8FA30BEC}"/>
              </a:ext>
            </a:extLst>
          </p:cNvPr>
          <p:cNvSpPr>
            <a:spLocks noGrp="1"/>
          </p:cNvSpPr>
          <p:nvPr>
            <p:ph type="body" idx="1"/>
          </p:nvPr>
        </p:nvSpPr>
        <p:spPr/>
        <p:txBody>
          <a:bodyPr/>
          <a:lstStyle/>
          <a:p>
            <a:r>
              <a:rPr lang="zh-TW" altLang="en-US" dirty="0"/>
              <a:t>接著是進到模擬資料處理與特徵建構的流程。</a:t>
            </a:r>
            <a:br>
              <a:rPr lang="zh-TW" altLang="en-US" dirty="0"/>
            </a:br>
            <a:endParaRPr lang="zh-TW" altLang="en-US" dirty="0"/>
          </a:p>
        </p:txBody>
      </p:sp>
      <p:sp>
        <p:nvSpPr>
          <p:cNvPr id="4" name="投影片編號版面配置區 3">
            <a:extLst>
              <a:ext uri="{FF2B5EF4-FFF2-40B4-BE49-F238E27FC236}">
                <a16:creationId xmlns:a16="http://schemas.microsoft.com/office/drawing/2014/main" id="{7F996745-6226-2757-C71C-DF07A00C6367}"/>
              </a:ext>
            </a:extLst>
          </p:cNvPr>
          <p:cNvSpPr>
            <a:spLocks noGrp="1"/>
          </p:cNvSpPr>
          <p:nvPr>
            <p:ph type="sldNum" sz="quarter" idx="5"/>
          </p:nvPr>
        </p:nvSpPr>
        <p:spPr/>
        <p:txBody>
          <a:bodyPr/>
          <a:lstStyle/>
          <a:p>
            <a:fld id="{D5022DD7-B5A4-466E-81AE-CC5BD18E5D72}" type="slidenum">
              <a:rPr lang="zh-TW" altLang="en-US" smtClean="0"/>
              <a:t>17</a:t>
            </a:fld>
            <a:endParaRPr lang="zh-TW" altLang="en-US"/>
          </a:p>
        </p:txBody>
      </p:sp>
    </p:spTree>
    <p:extLst>
      <p:ext uri="{BB962C8B-B14F-4D97-AF65-F5344CB8AC3E}">
        <p14:creationId xmlns:p14="http://schemas.microsoft.com/office/powerpoint/2010/main" val="718169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131D-C7D5-ABDB-8203-DF3748FC809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A9F964-EDB6-7799-903B-2DDE4E46A3F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E453309-5903-9312-7693-BD2E8C352B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首先會做</a:t>
            </a:r>
            <a:r>
              <a:rPr lang="zh-TW" altLang="en-US" b="1" dirty="0"/>
              <a:t>時間序列聚合</a:t>
            </a:r>
            <a:r>
              <a:rPr lang="zh-TW" altLang="en-US" dirty="0"/>
              <a:t>，以分鐘為單位，把同一分鐘內所有請求的資料彙整起來。</a:t>
            </a:r>
            <a:br>
              <a:rPr lang="zh-TW" altLang="en-US" dirty="0"/>
            </a:br>
            <a:r>
              <a:rPr lang="zh-TW" altLang="en-US" dirty="0"/>
              <a:t>這樣的設計除了避免秒級資料過於零碎之外，也能與後續模型的**預測輸出單位（每分鐘平均延遲）**對齊，確保資料的時間尺度一致。</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接著，會將四個微服務在相同時間內的延遲、狀態碼與負載資料</a:t>
            </a:r>
            <a:r>
              <a:rPr lang="zh-TW" altLang="en-US" b="1" dirty="0"/>
              <a:t>整合在一起</a:t>
            </a:r>
            <a:r>
              <a:rPr lang="zh-TW" altLang="en-US" dirty="0"/>
              <a:t>，形成能反映整體系統狀態的資料集。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最後，從這些彙整後的資料中輸出</a:t>
            </a:r>
            <a:r>
              <a:rPr lang="zh-TW" altLang="en-US" b="1" dirty="0"/>
              <a:t>每分鐘的統計指標</a:t>
            </a:r>
            <a:r>
              <a:rPr lang="zh-TW" altLang="en-US" dirty="0"/>
              <a:t>，像是平均值、最大值、最小值等，再搭配系統層級的狀態資訊，作為後續特徵建構的輸入基礎。</a:t>
            </a:r>
          </a:p>
        </p:txBody>
      </p:sp>
      <p:sp>
        <p:nvSpPr>
          <p:cNvPr id="4" name="投影片編號版面配置區 3">
            <a:extLst>
              <a:ext uri="{FF2B5EF4-FFF2-40B4-BE49-F238E27FC236}">
                <a16:creationId xmlns:a16="http://schemas.microsoft.com/office/drawing/2014/main" id="{4654A3DE-3055-000A-2860-574F097D3BAA}"/>
              </a:ext>
            </a:extLst>
          </p:cNvPr>
          <p:cNvSpPr>
            <a:spLocks noGrp="1"/>
          </p:cNvSpPr>
          <p:nvPr>
            <p:ph type="sldNum" sz="quarter" idx="5"/>
          </p:nvPr>
        </p:nvSpPr>
        <p:spPr/>
        <p:txBody>
          <a:bodyPr/>
          <a:lstStyle/>
          <a:p>
            <a:fld id="{D5022DD7-B5A4-466E-81AE-CC5BD18E5D72}" type="slidenum">
              <a:rPr lang="zh-TW" altLang="en-US" smtClean="0"/>
              <a:t>18</a:t>
            </a:fld>
            <a:endParaRPr lang="zh-TW" altLang="en-US"/>
          </a:p>
        </p:txBody>
      </p:sp>
    </p:spTree>
    <p:extLst>
      <p:ext uri="{BB962C8B-B14F-4D97-AF65-F5344CB8AC3E}">
        <p14:creationId xmlns:p14="http://schemas.microsoft.com/office/powerpoint/2010/main" val="2833604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D2043-8598-3F33-7A01-3E02E3D878A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9D1DCAC-3274-20F9-9090-C81B5BE6A0C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8C4E50E-488D-2D30-86F3-CD74883EC987}"/>
              </a:ext>
            </a:extLst>
          </p:cNvPr>
          <p:cNvSpPr>
            <a:spLocks noGrp="1"/>
          </p:cNvSpPr>
          <p:nvPr>
            <p:ph type="body" idx="1"/>
          </p:nvPr>
        </p:nvSpPr>
        <p:spPr/>
        <p:txBody>
          <a:bodyPr/>
          <a:lstStyle/>
          <a:p>
            <a:r>
              <a:rPr lang="zh-TW" altLang="en-US" dirty="0"/>
              <a:t>這張表是最終整理後的資料集規模。</a:t>
            </a:r>
            <a:br>
              <a:rPr lang="zh-TW" altLang="en-US" dirty="0"/>
            </a:br>
            <a:r>
              <a:rPr lang="zh-TW" altLang="en-US" dirty="0"/>
              <a:t>整合四個微服務的觀測資料後，共收集 </a:t>
            </a:r>
            <a:r>
              <a:rPr lang="en-US" altLang="zh-TW" b="1" dirty="0"/>
              <a:t>51,780 </a:t>
            </a:r>
            <a:r>
              <a:rPr lang="zh-TW" altLang="en-US" b="1" dirty="0"/>
              <a:t>筆樣本</a:t>
            </a:r>
            <a:endParaRPr lang="en-US" altLang="zh-TW" b="1" dirty="0"/>
          </a:p>
          <a:p>
            <a:r>
              <a:rPr lang="zh-TW" altLang="en-US" dirty="0"/>
              <a:t>在負載方面，四個服務的平均請求量合計約 </a:t>
            </a:r>
            <a:r>
              <a:rPr lang="en-US" altLang="zh-TW" b="1" dirty="0"/>
              <a:t>608</a:t>
            </a:r>
            <a:r>
              <a:rPr lang="zh-TW" altLang="en-US" b="1" dirty="0"/>
              <a:t>筆</a:t>
            </a:r>
            <a:r>
              <a:rPr lang="en-US" altLang="zh-TW" b="1" dirty="0"/>
              <a:t>/</a:t>
            </a:r>
            <a:r>
              <a:rPr lang="zh-TW" altLang="en-US" b="1" dirty="0"/>
              <a:t>分鐘</a:t>
            </a:r>
            <a:r>
              <a:rPr lang="zh-TW" altLang="en-US" dirty="0"/>
              <a:t>，</a:t>
            </a:r>
            <a:br>
              <a:rPr lang="zh-TW" altLang="en-US" dirty="0"/>
            </a:br>
            <a:r>
              <a:rPr lang="zh-TW" altLang="en-US" dirty="0"/>
              <a:t>平均錯誤率約 </a:t>
            </a:r>
            <a:r>
              <a:rPr lang="en-US" altLang="zh-TW" b="1" dirty="0"/>
              <a:t>1.9%</a:t>
            </a:r>
            <a:r>
              <a:rPr lang="zh-TW" altLang="en-US" dirty="0"/>
              <a:t>，主要反映高併發時的部分逾時或失敗請求。</a:t>
            </a:r>
            <a:endParaRPr lang="en-US" altLang="zh-TW" dirty="0"/>
          </a:p>
          <a:p>
            <a:r>
              <a:rPr lang="zh-TW" altLang="en-US" dirty="0"/>
              <a:t>這份資料集是後續</a:t>
            </a:r>
            <a:r>
              <a:rPr lang="zh-TW" altLang="en-US" b="1" dirty="0"/>
              <a:t>特徵建構與模型訓練</a:t>
            </a:r>
            <a:r>
              <a:rPr lang="zh-TW" altLang="en-US" dirty="0"/>
              <a:t>的基礎，涵蓋不同服務角色與負載條件下的系統行為。</a:t>
            </a:r>
          </a:p>
        </p:txBody>
      </p:sp>
      <p:sp>
        <p:nvSpPr>
          <p:cNvPr id="4" name="投影片編號版面配置區 3">
            <a:extLst>
              <a:ext uri="{FF2B5EF4-FFF2-40B4-BE49-F238E27FC236}">
                <a16:creationId xmlns:a16="http://schemas.microsoft.com/office/drawing/2014/main" id="{06A88535-AAEC-9C83-513B-F7053E735818}"/>
              </a:ext>
            </a:extLst>
          </p:cNvPr>
          <p:cNvSpPr>
            <a:spLocks noGrp="1"/>
          </p:cNvSpPr>
          <p:nvPr>
            <p:ph type="sldNum" sz="quarter" idx="5"/>
          </p:nvPr>
        </p:nvSpPr>
        <p:spPr/>
        <p:txBody>
          <a:bodyPr/>
          <a:lstStyle/>
          <a:p>
            <a:fld id="{D5022DD7-B5A4-466E-81AE-CC5BD18E5D72}" type="slidenum">
              <a:rPr lang="zh-TW" altLang="en-US" smtClean="0"/>
              <a:t>19</a:t>
            </a:fld>
            <a:endParaRPr lang="zh-TW" altLang="en-US"/>
          </a:p>
        </p:txBody>
      </p:sp>
    </p:spTree>
    <p:extLst>
      <p:ext uri="{BB962C8B-B14F-4D97-AF65-F5344CB8AC3E}">
        <p14:creationId xmlns:p14="http://schemas.microsoft.com/office/powerpoint/2010/main" val="10871299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在特徵建構的部分，這裡先介紹</a:t>
            </a:r>
            <a:r>
              <a:rPr lang="zh-TW" altLang="en-US" b="1" dirty="0"/>
              <a:t>基礎特徵（</a:t>
            </a:r>
            <a:r>
              <a:rPr lang="en-US" altLang="zh-TW" b="1" dirty="0"/>
              <a:t>Basic Features</a:t>
            </a:r>
            <a:r>
              <a:rPr lang="zh-TW" altLang="en-US" b="1" dirty="0"/>
              <a:t>）</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我們是從整合後的時間序列資料中，提取出與延遲、負載以及錯誤率相關的核心指標，主要用來描述系統在每分鐘的運作狀態。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針對每分鐘的觀測資料，會計算多種</a:t>
            </a:r>
            <a:r>
              <a:rPr lang="zh-TW" altLang="en-US" b="1" dirty="0"/>
              <a:t>統計型特徵</a:t>
            </a:r>
            <a:r>
              <a:rPr lang="zh-TW" altLang="en-US" dirty="0"/>
              <a:t>，像是平均值、最大值、最小值、標準差、以及第 </a:t>
            </a:r>
            <a:r>
              <a:rPr lang="en-US" altLang="zh-TW" dirty="0"/>
              <a:t>95</a:t>
            </a:r>
            <a:r>
              <a:rPr lang="zh-TW" altLang="en-US" dirty="0"/>
              <a:t>、</a:t>
            </a:r>
            <a:r>
              <a:rPr lang="en-US" altLang="zh-TW" dirty="0"/>
              <a:t>99 </a:t>
            </a:r>
            <a:r>
              <a:rPr lang="zh-TW" altLang="en-US" dirty="0"/>
              <a:t>百分位數，這些能反映系統延遲的分布情形與尾端行為。</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此外，也保留了系統層級的狀態指標，像是 </a:t>
            </a:r>
            <a:r>
              <a:rPr lang="en-US" altLang="zh-TW" dirty="0"/>
              <a:t>Pod </a:t>
            </a:r>
            <a:r>
              <a:rPr lang="zh-TW" altLang="en-US" dirty="0"/>
              <a:t>數量、成功率、以及 </a:t>
            </a:r>
            <a:r>
              <a:rPr lang="en-US" altLang="zh-TW" dirty="0"/>
              <a:t>4xx</a:t>
            </a:r>
            <a:r>
              <a:rPr lang="zh-TW" altLang="en-US" dirty="0"/>
              <a:t>、</a:t>
            </a:r>
            <a:r>
              <a:rPr lang="en-US" altLang="zh-TW" dirty="0"/>
              <a:t>5xx </a:t>
            </a:r>
            <a:r>
              <a:rPr lang="zh-TW" altLang="en-US" dirty="0"/>
              <a:t>錯誤率，作為延遲與系統狀態之間關聯分析的依據。</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20</a:t>
            </a:fld>
            <a:endParaRPr lang="zh-TW" altLang="en-US"/>
          </a:p>
        </p:txBody>
      </p:sp>
    </p:spTree>
    <p:extLst>
      <p:ext uri="{BB962C8B-B14F-4D97-AF65-F5344CB8AC3E}">
        <p14:creationId xmlns:p14="http://schemas.microsoft.com/office/powerpoint/2010/main" val="4090591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F6C53-A6EB-934D-4D55-98F4627BE7A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3BC7123-8A1A-859C-F951-41BBB26B2D3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2A5505E-7350-1310-E89E-0FAD08F5E487}"/>
              </a:ext>
            </a:extLst>
          </p:cNvPr>
          <p:cNvSpPr>
            <a:spLocks noGrp="1"/>
          </p:cNvSpPr>
          <p:nvPr>
            <p:ph type="body" idx="1"/>
          </p:nvPr>
        </p:nvSpPr>
        <p:spPr/>
        <p:txBody>
          <a:bodyPr/>
          <a:lstStyle/>
          <a:p>
            <a:r>
              <a:rPr lang="zh-TW" altLang="en-US" dirty="0"/>
              <a:t>在基礎特徵之後，我們再進一步設計了</a:t>
            </a:r>
            <a:r>
              <a:rPr lang="zh-TW" altLang="en-US" b="1" dirty="0"/>
              <a:t>延伸特徵，</a:t>
            </a:r>
            <a:r>
              <a:rPr lang="zh-TW" altLang="en-US" dirty="0"/>
              <a:t>主要分成三種類型。</a:t>
            </a:r>
            <a:endParaRPr lang="en-US" altLang="zh-TW" dirty="0"/>
          </a:p>
          <a:p>
            <a:r>
              <a:rPr lang="zh-TW" altLang="en-US" dirty="0"/>
              <a:t>第一是 </a:t>
            </a:r>
            <a:r>
              <a:rPr lang="zh-TW" altLang="en-US" b="1" dirty="0"/>
              <a:t>延遲特徵（</a:t>
            </a:r>
            <a:r>
              <a:rPr lang="en-US" altLang="zh-TW" b="1" dirty="0"/>
              <a:t>Lag Features</a:t>
            </a:r>
            <a:r>
              <a:rPr lang="zh-TW" altLang="en-US" b="1" dirty="0"/>
              <a:t>）</a:t>
            </a:r>
            <a:r>
              <a:rPr lang="zh-TW" altLang="en-US" dirty="0"/>
              <a:t>，保留過去 </a:t>
            </a:r>
            <a:r>
              <a:rPr lang="en-US" altLang="zh-TW" b="1" dirty="0"/>
              <a:t>1</a:t>
            </a:r>
            <a:r>
              <a:rPr lang="zh-TW" altLang="en-US" b="1" dirty="0"/>
              <a:t>、</a:t>
            </a:r>
            <a:r>
              <a:rPr lang="en-US" altLang="zh-TW" b="1" dirty="0"/>
              <a:t>5</a:t>
            </a:r>
            <a:r>
              <a:rPr lang="zh-TW" altLang="en-US" b="1" dirty="0"/>
              <a:t>、</a:t>
            </a:r>
            <a:r>
              <a:rPr lang="en-US" altLang="zh-TW" b="1" dirty="0"/>
              <a:t>10 </a:t>
            </a:r>
            <a:r>
              <a:rPr lang="zh-TW" altLang="en-US" b="1" dirty="0"/>
              <a:t>分鐘</a:t>
            </a:r>
            <a:r>
              <a:rPr lang="zh-TW" altLang="en-US" dirty="0"/>
              <a:t> 的歷史觀測值，用來捕捉短期的效能變化與延遲波動關係。</a:t>
            </a:r>
            <a:endParaRPr lang="en-US" altLang="zh-TW" dirty="0"/>
          </a:p>
          <a:p>
            <a:r>
              <a:rPr lang="zh-TW" altLang="en-US" dirty="0"/>
              <a:t>第二是 </a:t>
            </a:r>
            <a:r>
              <a:rPr lang="zh-TW" altLang="en-US" b="1" dirty="0"/>
              <a:t>趨勢特徵（</a:t>
            </a:r>
            <a:r>
              <a:rPr lang="en-US" altLang="zh-TW" b="1" dirty="0"/>
              <a:t>Trend Features</a:t>
            </a:r>
            <a:r>
              <a:rPr lang="zh-TW" altLang="en-US" b="1" dirty="0"/>
              <a:t>）</a:t>
            </a:r>
            <a:r>
              <a:rPr lang="zh-TW" altLang="en-US" dirty="0"/>
              <a:t>，以</a:t>
            </a:r>
            <a:r>
              <a:rPr lang="zh-TW" altLang="en-US" b="1" dirty="0"/>
              <a:t>移動平均</a:t>
            </a:r>
            <a:r>
              <a:rPr lang="zh-TW" altLang="en-US" dirty="0"/>
              <a:t>與</a:t>
            </a:r>
            <a:r>
              <a:rPr lang="zh-TW" altLang="en-US" b="1" dirty="0"/>
              <a:t>移動指數</a:t>
            </a:r>
            <a:r>
              <a:rPr lang="zh-TW" altLang="en-US" dirty="0"/>
              <a:t>等方式計算 </a:t>
            </a:r>
            <a:r>
              <a:rPr lang="en-US" altLang="zh-TW" b="1" dirty="0"/>
              <a:t>5</a:t>
            </a:r>
            <a:r>
              <a:rPr lang="zh-TW" altLang="en-US" b="1" dirty="0"/>
              <a:t>、</a:t>
            </a:r>
            <a:r>
              <a:rPr lang="en-US" altLang="zh-TW" b="1" dirty="0"/>
              <a:t>15</a:t>
            </a:r>
            <a:r>
              <a:rPr lang="zh-TW" altLang="en-US" b="1" dirty="0"/>
              <a:t>、</a:t>
            </a:r>
            <a:r>
              <a:rPr lang="en-US" altLang="zh-TW" b="1" dirty="0"/>
              <a:t>30 </a:t>
            </a:r>
            <a:r>
              <a:rPr lang="zh-TW" altLang="en-US" b="1" dirty="0"/>
              <a:t>分鐘</a:t>
            </a:r>
            <a:r>
              <a:rPr lang="zh-TW" altLang="en-US" dirty="0"/>
              <a:t> 的變化趨勢，反映系統效能的長期走向。</a:t>
            </a:r>
          </a:p>
          <a:p>
            <a:r>
              <a:rPr lang="zh-TW" altLang="en-US" dirty="0"/>
              <a:t>最後是 </a:t>
            </a:r>
            <a:r>
              <a:rPr lang="zh-TW" altLang="en-US" b="1" dirty="0"/>
              <a:t>服務識別特徵（</a:t>
            </a:r>
            <a:r>
              <a:rPr lang="en-US" altLang="zh-TW" b="1" dirty="0"/>
              <a:t>Service Identifier Features</a:t>
            </a:r>
            <a:r>
              <a:rPr lang="zh-TW" altLang="en-US" b="1" dirty="0"/>
              <a:t>）</a:t>
            </a:r>
            <a:r>
              <a:rPr lang="zh-TW" altLang="en-US" dirty="0"/>
              <a:t>，以 </a:t>
            </a:r>
            <a:r>
              <a:rPr lang="en-US" altLang="zh-TW" b="1" dirty="0"/>
              <a:t>One-hot </a:t>
            </a:r>
            <a:r>
              <a:rPr lang="zh-TW" altLang="en-US" b="1" dirty="0"/>
              <a:t>編碼</a:t>
            </a:r>
            <a:r>
              <a:rPr lang="zh-TW" altLang="en-US" dirty="0"/>
              <a:t> 標示各微服務的來源，讓模型能識別不同服務之間的差異，避免在濃縮後的資料集中混淆服務特性。</a:t>
            </a:r>
          </a:p>
          <a:p>
            <a:r>
              <a:rPr lang="zh-TW" altLang="en-US" dirty="0"/>
              <a:t>這些延伸特徵的加入，能讓模型同時學到</a:t>
            </a:r>
            <a:r>
              <a:rPr lang="zh-TW" altLang="en-US" b="1" dirty="0"/>
              <a:t>短期反應</a:t>
            </a:r>
            <a:r>
              <a:rPr lang="zh-TW" altLang="en-US" dirty="0"/>
              <a:t>與</a:t>
            </a:r>
            <a:r>
              <a:rPr lang="zh-TW" altLang="en-US" b="1" dirty="0"/>
              <a:t>長期趨勢</a:t>
            </a:r>
            <a:r>
              <a:rPr lang="zh-TW" altLang="en-US" dirty="0"/>
              <a:t>，也提升服務預測時的辨識能力。</a:t>
            </a:r>
            <a:endParaRPr lang="en-US" altLang="zh-TW" dirty="0"/>
          </a:p>
          <a:p>
            <a:endParaRPr lang="en-US" altLang="zh-TW" dirty="0"/>
          </a:p>
          <a:p>
            <a:r>
              <a:rPr lang="en-US" altLang="zh-TW" b="1" dirty="0"/>
              <a:t>One-hot </a:t>
            </a:r>
            <a:r>
              <a:rPr lang="zh-TW" altLang="en-US" b="1" dirty="0"/>
              <a:t>編碼是一種將分類資料轉換成數值的方法。</a:t>
            </a:r>
            <a:br>
              <a:rPr lang="zh-TW" altLang="en-US" dirty="0"/>
            </a:br>
            <a:r>
              <a:rPr lang="zh-TW" altLang="en-US" dirty="0"/>
              <a:t>它會把每個類別變成一個向量，只有代表該類別的位置是 </a:t>
            </a:r>
            <a:r>
              <a:rPr lang="en-US" altLang="zh-TW" dirty="0"/>
              <a:t>1</a:t>
            </a:r>
            <a:r>
              <a:rPr lang="zh-TW" altLang="en-US" dirty="0"/>
              <a:t>，其他都是 </a:t>
            </a:r>
            <a:r>
              <a:rPr lang="en-US" altLang="zh-TW" dirty="0"/>
              <a:t>0</a:t>
            </a:r>
            <a:r>
              <a:rPr lang="zh-TW" altLang="en-US" dirty="0"/>
              <a:t>。</a:t>
            </a:r>
          </a:p>
          <a:p>
            <a:endParaRPr lang="zh-TW" altLang="en-US" dirty="0"/>
          </a:p>
        </p:txBody>
      </p:sp>
      <p:sp>
        <p:nvSpPr>
          <p:cNvPr id="4" name="投影片編號版面配置區 3">
            <a:extLst>
              <a:ext uri="{FF2B5EF4-FFF2-40B4-BE49-F238E27FC236}">
                <a16:creationId xmlns:a16="http://schemas.microsoft.com/office/drawing/2014/main" id="{9A5876F6-B9F9-BA83-B53B-A0E4D833A5EC}"/>
              </a:ext>
            </a:extLst>
          </p:cNvPr>
          <p:cNvSpPr>
            <a:spLocks noGrp="1"/>
          </p:cNvSpPr>
          <p:nvPr>
            <p:ph type="sldNum" sz="quarter" idx="5"/>
          </p:nvPr>
        </p:nvSpPr>
        <p:spPr/>
        <p:txBody>
          <a:bodyPr/>
          <a:lstStyle/>
          <a:p>
            <a:fld id="{D5022DD7-B5A4-466E-81AE-CC5BD18E5D72}" type="slidenum">
              <a:rPr lang="zh-TW" altLang="en-US" smtClean="0"/>
              <a:t>21</a:t>
            </a:fld>
            <a:endParaRPr lang="zh-TW" altLang="en-US"/>
          </a:p>
        </p:txBody>
      </p:sp>
    </p:spTree>
    <p:extLst>
      <p:ext uri="{BB962C8B-B14F-4D97-AF65-F5344CB8AC3E}">
        <p14:creationId xmlns:p14="http://schemas.microsoft.com/office/powerpoint/2010/main" val="1924504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46CAB-EBBA-6FC9-4CC7-773333D7E97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46426EA-CF15-8C0E-2C79-917486EE26D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5CB9F79-3152-9CE2-9AE3-60765D9E347E}"/>
              </a:ext>
            </a:extLst>
          </p:cNvPr>
          <p:cNvSpPr>
            <a:spLocks noGrp="1"/>
          </p:cNvSpPr>
          <p:nvPr>
            <p:ph type="body" idx="1"/>
          </p:nvPr>
        </p:nvSpPr>
        <p:spPr/>
        <p:txBody>
          <a:bodyPr/>
          <a:lstStyle/>
          <a:p>
            <a:r>
              <a:rPr lang="zh-TW" altLang="en-US" dirty="0"/>
              <a:t>這張表是完整特徵的組成與設計。</a:t>
            </a:r>
            <a:br>
              <a:rPr lang="zh-TW" altLang="en-US" dirty="0"/>
            </a:br>
            <a:r>
              <a:rPr lang="zh-TW" altLang="en-US" dirty="0"/>
              <a:t>整體分成四大類：</a:t>
            </a:r>
            <a:r>
              <a:rPr lang="zh-TW" altLang="en-US" b="1" dirty="0"/>
              <a:t>基礎特徵、延遲特徵、趨勢特徵</a:t>
            </a:r>
            <a:r>
              <a:rPr lang="zh-TW" altLang="en-US" dirty="0"/>
              <a:t>，以及</a:t>
            </a:r>
            <a:r>
              <a:rPr lang="zh-TW" altLang="en-US" b="1" dirty="0"/>
              <a:t>服務識別特徵</a:t>
            </a:r>
            <a:r>
              <a:rPr lang="zh-TW" altLang="en-US" dirty="0"/>
              <a:t>。</a:t>
            </a:r>
            <a:endParaRPr lang="en-US" altLang="zh-TW" dirty="0"/>
          </a:p>
          <a:p>
            <a:r>
              <a:rPr lang="zh-TW" altLang="en-US" dirty="0"/>
              <a:t>基礎特徵共 </a:t>
            </a:r>
            <a:r>
              <a:rPr lang="en-US" altLang="zh-TW" dirty="0"/>
              <a:t>14 </a:t>
            </a:r>
            <a:r>
              <a:rPr lang="zh-TW" altLang="en-US" dirty="0"/>
              <a:t>維，包含時間區間指標、統計指標與系統狀態指標；</a:t>
            </a:r>
            <a:br>
              <a:rPr lang="zh-TW" altLang="en-US" dirty="0"/>
            </a:br>
            <a:r>
              <a:rPr lang="zh-TW" altLang="en-US" dirty="0"/>
              <a:t>延遲特徵則是針對七個核心指標，計算過去 </a:t>
            </a:r>
            <a:r>
              <a:rPr lang="en-US" altLang="zh-TW" dirty="0"/>
              <a:t>1</a:t>
            </a:r>
            <a:r>
              <a:rPr lang="zh-TW" altLang="en-US" dirty="0"/>
              <a:t>、</a:t>
            </a:r>
            <a:r>
              <a:rPr lang="en-US" altLang="zh-TW" dirty="0"/>
              <a:t>5</a:t>
            </a:r>
            <a:r>
              <a:rPr lang="zh-TW" altLang="en-US" dirty="0"/>
              <a:t>、</a:t>
            </a:r>
            <a:r>
              <a:rPr lang="en-US" altLang="zh-TW" dirty="0"/>
              <a:t>10 </a:t>
            </a:r>
            <a:r>
              <a:rPr lang="zh-TW" altLang="en-US" dirty="0"/>
              <a:t>分鐘的歷史值，共 </a:t>
            </a:r>
            <a:r>
              <a:rPr lang="en-US" altLang="zh-TW" dirty="0"/>
              <a:t>21 </a:t>
            </a:r>
            <a:r>
              <a:rPr lang="zh-TW" altLang="en-US" dirty="0"/>
              <a:t>維；</a:t>
            </a:r>
            <a:br>
              <a:rPr lang="zh-TW" altLang="en-US" dirty="0"/>
            </a:br>
            <a:r>
              <a:rPr lang="zh-TW" altLang="en-US" dirty="0"/>
              <a:t>趨勢特徵以移動平均與移動指數方式，計算 </a:t>
            </a:r>
            <a:r>
              <a:rPr lang="en-US" altLang="zh-TW" dirty="0"/>
              <a:t>5</a:t>
            </a:r>
            <a:r>
              <a:rPr lang="zh-TW" altLang="en-US" dirty="0"/>
              <a:t>、</a:t>
            </a:r>
            <a:r>
              <a:rPr lang="en-US" altLang="zh-TW" dirty="0"/>
              <a:t>15</a:t>
            </a:r>
            <a:r>
              <a:rPr lang="zh-TW" altLang="en-US" dirty="0"/>
              <a:t>、</a:t>
            </a:r>
            <a:r>
              <a:rPr lang="en-US" altLang="zh-TW" dirty="0"/>
              <a:t>30 </a:t>
            </a:r>
            <a:r>
              <a:rPr lang="zh-TW" altLang="en-US" dirty="0"/>
              <a:t>分鐘的變化趨勢，共 </a:t>
            </a:r>
            <a:r>
              <a:rPr lang="en-US" altLang="zh-TW" dirty="0"/>
              <a:t>42 </a:t>
            </a:r>
            <a:r>
              <a:rPr lang="zh-TW" altLang="en-US" dirty="0"/>
              <a:t>維；</a:t>
            </a:r>
            <a:br>
              <a:rPr lang="zh-TW" altLang="en-US" dirty="0"/>
            </a:br>
            <a:r>
              <a:rPr lang="zh-TW" altLang="en-US" dirty="0"/>
              <a:t>最後再加上四個微服務的 </a:t>
            </a:r>
            <a:r>
              <a:rPr lang="en-US" altLang="zh-TW" dirty="0"/>
              <a:t>One-hot </a:t>
            </a:r>
            <a:r>
              <a:rPr lang="zh-TW" altLang="en-US" dirty="0"/>
              <a:t>服務識別特徵。</a:t>
            </a:r>
            <a:endParaRPr lang="en-US" altLang="zh-TW" dirty="0"/>
          </a:p>
          <a:p>
            <a:r>
              <a:rPr lang="zh-TW" altLang="en-US" dirty="0"/>
              <a:t>最終共設計 </a:t>
            </a:r>
            <a:r>
              <a:rPr lang="en-US" altLang="zh-TW" b="1" dirty="0"/>
              <a:t>81 </a:t>
            </a:r>
            <a:r>
              <a:rPr lang="zh-TW" altLang="en-US" b="1" dirty="0"/>
              <a:t>維與 </a:t>
            </a:r>
            <a:r>
              <a:rPr lang="en-US" altLang="zh-TW" b="1" dirty="0"/>
              <a:t>308 </a:t>
            </a:r>
            <a:r>
              <a:rPr lang="zh-TW" altLang="en-US" b="1" dirty="0"/>
              <a:t>維</a:t>
            </a:r>
            <a:r>
              <a:rPr lang="zh-TW" altLang="en-US" dirty="0"/>
              <a:t> 兩個版本：</a:t>
            </a:r>
            <a:br>
              <a:rPr lang="zh-TW" altLang="en-US" dirty="0"/>
            </a:br>
            <a:r>
              <a:rPr lang="en-US" altLang="zh-TW" dirty="0"/>
              <a:t>81 </a:t>
            </a:r>
            <a:r>
              <a:rPr lang="zh-TW" altLang="en-US" dirty="0"/>
              <a:t>維是</a:t>
            </a:r>
            <a:r>
              <a:rPr lang="zh-TW" altLang="en-US" b="1" dirty="0"/>
              <a:t>濃縮特徵設計</a:t>
            </a:r>
            <a:r>
              <a:rPr lang="zh-TW" altLang="en-US" dirty="0"/>
              <a:t>，將四個服務合併並以服務識別區分；</a:t>
            </a:r>
            <a:br>
              <a:rPr lang="zh-TW" altLang="en-US" dirty="0"/>
            </a:br>
            <a:r>
              <a:rPr lang="en-US" altLang="zh-TW" dirty="0"/>
              <a:t>308 </a:t>
            </a:r>
            <a:r>
              <a:rPr lang="zh-TW" altLang="en-US" dirty="0"/>
              <a:t>維則是</a:t>
            </a:r>
            <a:r>
              <a:rPr lang="zh-TW" altLang="en-US" b="1" dirty="0"/>
              <a:t>展開特徵設計</a:t>
            </a:r>
            <a:r>
              <a:rPr lang="zh-TW" altLang="en-US" dirty="0"/>
              <a:t>，保留各服務的獨立欄位。</a:t>
            </a:r>
            <a:br>
              <a:rPr lang="zh-TW" altLang="en-US" dirty="0"/>
            </a:br>
            <a:r>
              <a:rPr lang="zh-TW" altLang="en-US" dirty="0"/>
              <a:t>這兩個版本後續都會進行模型訓練與效能比較，</a:t>
            </a:r>
            <a:br>
              <a:rPr lang="zh-TW" altLang="en-US" dirty="0"/>
            </a:br>
            <a:r>
              <a:rPr lang="zh-TW" altLang="en-US" dirty="0"/>
              <a:t>用來分析不同特徵結構對預測結果的影響。</a:t>
            </a:r>
          </a:p>
        </p:txBody>
      </p:sp>
      <p:sp>
        <p:nvSpPr>
          <p:cNvPr id="4" name="投影片編號版面配置區 3">
            <a:extLst>
              <a:ext uri="{FF2B5EF4-FFF2-40B4-BE49-F238E27FC236}">
                <a16:creationId xmlns:a16="http://schemas.microsoft.com/office/drawing/2014/main" id="{A9C300FF-9F04-081F-D2A4-7A6E0B48DFCF}"/>
              </a:ext>
            </a:extLst>
          </p:cNvPr>
          <p:cNvSpPr>
            <a:spLocks noGrp="1"/>
          </p:cNvSpPr>
          <p:nvPr>
            <p:ph type="sldNum" sz="quarter" idx="5"/>
          </p:nvPr>
        </p:nvSpPr>
        <p:spPr/>
        <p:txBody>
          <a:bodyPr/>
          <a:lstStyle/>
          <a:p>
            <a:fld id="{D5022DD7-B5A4-466E-81AE-CC5BD18E5D72}" type="slidenum">
              <a:rPr lang="zh-TW" altLang="en-US" smtClean="0"/>
              <a:t>22</a:t>
            </a:fld>
            <a:endParaRPr lang="zh-TW" altLang="en-US"/>
          </a:p>
        </p:txBody>
      </p:sp>
    </p:spTree>
    <p:extLst>
      <p:ext uri="{BB962C8B-B14F-4D97-AF65-F5344CB8AC3E}">
        <p14:creationId xmlns:p14="http://schemas.microsoft.com/office/powerpoint/2010/main" val="22798555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BD4DA-95B5-E0B6-B09B-DCF99FB68B1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6B83852-E2EC-6C0F-BE33-AB063192326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23A96DE-7247-3AE1-B699-AB3826E8A231}"/>
              </a:ext>
            </a:extLst>
          </p:cNvPr>
          <p:cNvSpPr>
            <a:spLocks noGrp="1"/>
          </p:cNvSpPr>
          <p:nvPr>
            <p:ph type="body" idx="1"/>
          </p:nvPr>
        </p:nvSpPr>
        <p:spPr/>
        <p:txBody>
          <a:bodyPr/>
          <a:lstStyle/>
          <a:p>
            <a:r>
              <a:rPr lang="zh-TW" altLang="en-US" dirty="0"/>
              <a:t>接下來主要說明模型訓練的過程與結果分析的比較</a:t>
            </a:r>
          </a:p>
        </p:txBody>
      </p:sp>
      <p:sp>
        <p:nvSpPr>
          <p:cNvPr id="4" name="投影片編號版面配置區 3">
            <a:extLst>
              <a:ext uri="{FF2B5EF4-FFF2-40B4-BE49-F238E27FC236}">
                <a16:creationId xmlns:a16="http://schemas.microsoft.com/office/drawing/2014/main" id="{26B3C418-C0E4-59E6-8CAF-176ECCEE5F1F}"/>
              </a:ext>
            </a:extLst>
          </p:cNvPr>
          <p:cNvSpPr>
            <a:spLocks noGrp="1"/>
          </p:cNvSpPr>
          <p:nvPr>
            <p:ph type="sldNum" sz="quarter" idx="5"/>
          </p:nvPr>
        </p:nvSpPr>
        <p:spPr/>
        <p:txBody>
          <a:bodyPr/>
          <a:lstStyle/>
          <a:p>
            <a:fld id="{D5022DD7-B5A4-466E-81AE-CC5BD18E5D72}" type="slidenum">
              <a:rPr lang="zh-TW" altLang="en-US" smtClean="0"/>
              <a:t>23</a:t>
            </a:fld>
            <a:endParaRPr lang="zh-TW" altLang="en-US"/>
          </a:p>
        </p:txBody>
      </p:sp>
    </p:spTree>
    <p:extLst>
      <p:ext uri="{BB962C8B-B14F-4D97-AF65-F5344CB8AC3E}">
        <p14:creationId xmlns:p14="http://schemas.microsoft.com/office/powerpoint/2010/main" val="1641363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l">
              <a:lnSpc>
                <a:spcPts val="4200"/>
              </a:lnSpc>
              <a:buFont typeface="Arial" panose="020B0604020202020204" pitchFamily="34" charset="0"/>
              <a:buNone/>
            </a:pPr>
            <a:r>
              <a:rPr lang="zh-TW" altLang="en-US" b="1" dirty="0"/>
              <a:t>支援向量回歸（</a:t>
            </a:r>
            <a:r>
              <a:rPr lang="en-US" altLang="zh-TW" b="1" dirty="0"/>
              <a:t>SVR</a:t>
            </a:r>
            <a:r>
              <a:rPr lang="zh-TW" altLang="en-US" b="1" dirty="0"/>
              <a:t>）</a:t>
            </a:r>
            <a:r>
              <a:rPr lang="zh-TW" altLang="en-US" dirty="0"/>
              <a:t> 適合處理小樣本與高維度的回歸任務，能透過核函數捕捉非線性關係，不過在大規模資料下訓練效率相對較低</a:t>
            </a:r>
            <a:endParaRPr lang="en-US" altLang="zh-TW" dirty="0"/>
          </a:p>
          <a:p>
            <a:pPr marL="0" indent="0" algn="l">
              <a:lnSpc>
                <a:spcPts val="4200"/>
              </a:lnSpc>
              <a:buFont typeface="Arial" panose="020B0604020202020204" pitchFamily="34" charset="0"/>
              <a:buNone/>
            </a:pPr>
            <a:r>
              <a:rPr lang="zh-TW" altLang="en-US" dirty="0"/>
              <a:t>接著是 </a:t>
            </a:r>
            <a:r>
              <a:rPr lang="zh-TW" altLang="en-US" b="1" dirty="0"/>
              <a:t>隨機森林（</a:t>
            </a:r>
            <a:r>
              <a:rPr lang="en-US" altLang="zh-TW" b="1" dirty="0"/>
              <a:t>Random Forest</a:t>
            </a:r>
            <a:r>
              <a:rPr lang="zh-TW" altLang="en-US" b="1" dirty="0"/>
              <a:t>）</a:t>
            </a:r>
            <a:r>
              <a:rPr lang="zh-TW" altLang="en-US" dirty="0"/>
              <a:t>，它屬於集成式的回歸演算法，會同時訓練多棵決策樹，最後再整合各樹的預測結果找出最具代表性的預測值</a:t>
            </a:r>
            <a:endParaRPr lang="en-US" altLang="zh-TW" dirty="0"/>
          </a:p>
          <a:p>
            <a:pPr marL="0" indent="0" algn="l">
              <a:lnSpc>
                <a:spcPts val="4200"/>
              </a:lnSpc>
              <a:buFont typeface="Arial" panose="020B0604020202020204" pitchFamily="34" charset="0"/>
              <a:buNone/>
            </a:pPr>
            <a:r>
              <a:rPr lang="zh-TW" altLang="en-US" dirty="0"/>
              <a:t>最後是 </a:t>
            </a:r>
            <a:r>
              <a:rPr lang="zh-TW" altLang="en-US" b="1" dirty="0"/>
              <a:t>極限梯度提升（</a:t>
            </a:r>
            <a:r>
              <a:rPr lang="en-US" altLang="zh-TW" b="1" dirty="0" err="1"/>
              <a:t>XGBoost</a:t>
            </a:r>
            <a:r>
              <a:rPr lang="zh-TW" altLang="en-US" b="1" dirty="0"/>
              <a:t>）</a:t>
            </a:r>
            <a:r>
              <a:rPr lang="zh-TW" altLang="en-US" dirty="0"/>
              <a:t>，也是集成演算法，透過逐步修正誤差來提升預測準確度，並加入模型簡化機制以提升效率</a:t>
            </a:r>
            <a:endParaRPr lang="en-US" altLang="zh-TW" dirty="0"/>
          </a:p>
          <a:p>
            <a:pPr marL="0" indent="0" algn="l">
              <a:lnSpc>
                <a:spcPts val="4200"/>
              </a:lnSpc>
              <a:buFont typeface="Arial" panose="020B0604020202020204" pitchFamily="34" charset="0"/>
              <a:buNone/>
            </a:pPr>
            <a:r>
              <a:rPr lang="zh-TW" altLang="en-US" dirty="0"/>
              <a:t>這三種模型分別代表了不同的演算法特性與複雜度，透過比較它們的訓練結果，可以更清楚了解哪種類型的模型較適合用於微服務系統的延遲預測。</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24</a:t>
            </a:fld>
            <a:endParaRPr lang="zh-TW" altLang="en-US"/>
          </a:p>
        </p:txBody>
      </p:sp>
    </p:spTree>
    <p:extLst>
      <p:ext uri="{BB962C8B-B14F-4D97-AF65-F5344CB8AC3E}">
        <p14:creationId xmlns:p14="http://schemas.microsoft.com/office/powerpoint/2010/main" val="994396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FAF7-3744-5D04-15F2-F1A04987DAE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8CE740-571A-A759-3300-812B97A1227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576AC2A-37FC-F4DE-DFC4-B7E23BC14DED}"/>
              </a:ext>
            </a:extLst>
          </p:cNvPr>
          <p:cNvSpPr>
            <a:spLocks noGrp="1"/>
          </p:cNvSpPr>
          <p:nvPr>
            <p:ph type="body" idx="1"/>
          </p:nvPr>
        </p:nvSpPr>
        <p:spPr/>
        <p:txBody>
          <a:bodyPr/>
          <a:lstStyle/>
          <a:p>
            <a:r>
              <a:rPr lang="zh-TW" altLang="en-US" dirty="0"/>
              <a:t>在模型訓練的部分，本研究以相同的觀測資料建立了兩種特徵版本，分別是 </a:t>
            </a:r>
            <a:r>
              <a:rPr lang="en-US" altLang="zh-TW" dirty="0"/>
              <a:t>81 </a:t>
            </a:r>
            <a:r>
              <a:rPr lang="zh-TW" altLang="en-US" dirty="0"/>
              <a:t>維的濃縮特徵與 </a:t>
            </a:r>
            <a:r>
              <a:rPr lang="en-US" altLang="zh-TW" dirty="0"/>
              <a:t>308 </a:t>
            </a:r>
            <a:r>
              <a:rPr lang="zh-TW" altLang="en-US" dirty="0"/>
              <a:t>維的展開特徵，用來比較不同特徵結構對延遲預測效能的影響。</a:t>
            </a:r>
          </a:p>
          <a:p>
            <a:r>
              <a:rPr lang="zh-TW" altLang="en-US" dirty="0"/>
              <a:t>在資料切分上，訓練集、驗證集與測試集的比例分別為 </a:t>
            </a:r>
            <a:r>
              <a:rPr lang="en-US" altLang="zh-TW" dirty="0"/>
              <a:t>80%</a:t>
            </a:r>
            <a:r>
              <a:rPr lang="zh-TW" altLang="en-US" dirty="0"/>
              <a:t>、</a:t>
            </a:r>
            <a:r>
              <a:rPr lang="en-US" altLang="zh-TW" dirty="0"/>
              <a:t>5% </a:t>
            </a:r>
            <a:r>
              <a:rPr lang="zh-TW" altLang="en-US" dirty="0"/>
              <a:t>與 </a:t>
            </a:r>
            <a:r>
              <a:rPr lang="en-US" altLang="zh-TW" dirty="0"/>
              <a:t>15%</a:t>
            </a:r>
            <a:r>
              <a:rPr lang="zh-TW" altLang="en-US" dirty="0"/>
              <a:t>，訓練集用於模型學習，驗證集則用來進行超參數調整，最後再用測試集來評估模型在未知資料上的預測表現。</a:t>
            </a:r>
            <a:endParaRPr lang="en-US" altLang="zh-TW" dirty="0"/>
          </a:p>
          <a:p>
            <a:r>
              <a:rPr lang="zh-TW" altLang="en-US" dirty="0"/>
              <a:t>所有模型都使用相同的資料集與切分方式，目的就是要確保不同演算法之間的結果具有公平性與可比較性，這樣後續的比較分析才具有統一的基礎。</a:t>
            </a:r>
          </a:p>
        </p:txBody>
      </p:sp>
      <p:sp>
        <p:nvSpPr>
          <p:cNvPr id="4" name="投影片編號版面配置區 3">
            <a:extLst>
              <a:ext uri="{FF2B5EF4-FFF2-40B4-BE49-F238E27FC236}">
                <a16:creationId xmlns:a16="http://schemas.microsoft.com/office/drawing/2014/main" id="{FBDE724C-ECAC-8768-BF79-C9F00ED07486}"/>
              </a:ext>
            </a:extLst>
          </p:cNvPr>
          <p:cNvSpPr>
            <a:spLocks noGrp="1"/>
          </p:cNvSpPr>
          <p:nvPr>
            <p:ph type="sldNum" sz="quarter" idx="5"/>
          </p:nvPr>
        </p:nvSpPr>
        <p:spPr/>
        <p:txBody>
          <a:bodyPr/>
          <a:lstStyle/>
          <a:p>
            <a:fld id="{D5022DD7-B5A4-466E-81AE-CC5BD18E5D72}" type="slidenum">
              <a:rPr lang="zh-TW" altLang="en-US" smtClean="0"/>
              <a:t>25</a:t>
            </a:fld>
            <a:endParaRPr lang="zh-TW" altLang="en-US"/>
          </a:p>
        </p:txBody>
      </p:sp>
    </p:spTree>
    <p:extLst>
      <p:ext uri="{BB962C8B-B14F-4D97-AF65-F5344CB8AC3E}">
        <p14:creationId xmlns:p14="http://schemas.microsoft.com/office/powerpoint/2010/main" val="56941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在超參數搜尋的部分，本研究採用了 </a:t>
            </a:r>
            <a:r>
              <a:rPr lang="en-US" altLang="zh-TW" dirty="0" err="1"/>
              <a:t>Optuna</a:t>
            </a:r>
            <a:r>
              <a:rPr lang="en-US" altLang="zh-TW" dirty="0"/>
              <a:t> </a:t>
            </a:r>
            <a:r>
              <a:rPr lang="zh-TW" altLang="en-US" dirty="0"/>
              <a:t>框架，讓模型在不同特徵版本下能自動化地搜尋出最適合的參數組合</a:t>
            </a:r>
            <a:r>
              <a:rPr lang="zh-TW" altLang="en-US" dirty="0">
                <a:sym typeface="Blink Twice"/>
              </a:rPr>
              <a:t>。</a:t>
            </a:r>
            <a:endParaRPr lang="en-US" altLang="zh-TW" dirty="0">
              <a:sym typeface="Blink Twic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Optuna</a:t>
            </a:r>
            <a:r>
              <a:rPr lang="en-US" altLang="zh-TW" dirty="0"/>
              <a:t> </a:t>
            </a:r>
            <a:r>
              <a:rPr lang="zh-TW" altLang="en-US" dirty="0"/>
              <a:t>支援多種搜尋演算法，每次試驗的結果都會自動記錄下來，方便後續比較不同超參數組合的效果。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此外，</a:t>
            </a:r>
            <a:r>
              <a:rPr lang="en-US" altLang="zh-TW" dirty="0" err="1"/>
              <a:t>Optuna</a:t>
            </a:r>
            <a:r>
              <a:rPr lang="en-US" altLang="zh-TW" dirty="0"/>
              <a:t> </a:t>
            </a:r>
            <a:r>
              <a:rPr lang="zh-TW" altLang="en-US" dirty="0"/>
              <a:t>還能即時觀察訓練進度，若發現某些組合的結果不佳，可以提前中止試驗，這樣一來就能節省大量搜尋時間，也能讓整體訓練流程更有彈性。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26</a:t>
            </a:fld>
            <a:endParaRPr lang="zh-TW" altLang="en-US"/>
          </a:p>
        </p:txBody>
      </p:sp>
    </p:spTree>
    <p:extLst>
      <p:ext uri="{BB962C8B-B14F-4D97-AF65-F5344CB8AC3E}">
        <p14:creationId xmlns:p14="http://schemas.microsoft.com/office/powerpoint/2010/main" val="41322237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84A74-88B0-A5C6-D4A2-4C231999D14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51801F-9540-AB95-4D46-87D13DEC9F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13C57A2-7AC7-4EF5-D7BC-C370C8FE92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在超參數搜尋演算法上，本研究首先採用了 </a:t>
            </a:r>
            <a:r>
              <a:rPr lang="en-US" altLang="zh-TW" b="1" dirty="0"/>
              <a:t>Grid Search</a:t>
            </a:r>
            <a:r>
              <a:rPr lang="zh-TW" altLang="en-US" dirty="0"/>
              <a:t> 作為基準。主要原因是它能遍歷所有參數組合，確保搜尋過程可重現且不受演算法隨機性的影響。</a:t>
            </a:r>
            <a:br>
              <a:rPr lang="zh-TW" altLang="en-US" dirty="0"/>
            </a:br>
            <a:r>
              <a:rPr lang="zh-TW" altLang="en-US" dirty="0"/>
              <a:t>這樣可以讓不同模型與特徵版本的搜尋結果都具備一致性與公平性。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至於搜尋範圍與初始值，則是參考各模型的官方文件與文獻中常用的建議設定，目的在於確保搜尋範圍合理、不會造成過度訓練或偏離常見的最佳化範圍。</a:t>
            </a:r>
            <a:endParaRPr lang="en-US" altLang="zh-TW" dirty="0">
              <a:sym typeface="Blink Twice"/>
            </a:endParaRPr>
          </a:p>
        </p:txBody>
      </p:sp>
      <p:sp>
        <p:nvSpPr>
          <p:cNvPr id="4" name="投影片編號版面配置區 3">
            <a:extLst>
              <a:ext uri="{FF2B5EF4-FFF2-40B4-BE49-F238E27FC236}">
                <a16:creationId xmlns:a16="http://schemas.microsoft.com/office/drawing/2014/main" id="{4DFDAE9F-75CC-AC44-A6A2-E641B975FC8B}"/>
              </a:ext>
            </a:extLst>
          </p:cNvPr>
          <p:cNvSpPr>
            <a:spLocks noGrp="1"/>
          </p:cNvSpPr>
          <p:nvPr>
            <p:ph type="sldNum" sz="quarter" idx="5"/>
          </p:nvPr>
        </p:nvSpPr>
        <p:spPr/>
        <p:txBody>
          <a:bodyPr/>
          <a:lstStyle/>
          <a:p>
            <a:fld id="{D5022DD7-B5A4-466E-81AE-CC5BD18E5D72}" type="slidenum">
              <a:rPr lang="zh-TW" altLang="en-US" smtClean="0"/>
              <a:t>27</a:t>
            </a:fld>
            <a:endParaRPr lang="zh-TW" altLang="en-US"/>
          </a:p>
        </p:txBody>
      </p:sp>
    </p:spTree>
    <p:extLst>
      <p:ext uri="{BB962C8B-B14F-4D97-AF65-F5344CB8AC3E}">
        <p14:creationId xmlns:p14="http://schemas.microsoft.com/office/powerpoint/2010/main" val="2792411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SVR</a:t>
            </a:r>
            <a:r>
              <a:rPr lang="zh-TW" altLang="en-US" dirty="0"/>
              <a:t>超參數設定與最佳參數組合如下表，在實驗中發現</a:t>
            </a:r>
            <a:r>
              <a:rPr lang="en-US" altLang="zh-TW" dirty="0"/>
              <a:t>SVR</a:t>
            </a:r>
            <a:r>
              <a:rPr lang="zh-TW" altLang="en-US" dirty="0"/>
              <a:t>需要做標準化，而未標準化模型的評估指標會跟標準化的模型差距過大</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28</a:t>
            </a:fld>
            <a:endParaRPr lang="zh-TW" altLang="en-US"/>
          </a:p>
        </p:txBody>
      </p:sp>
    </p:spTree>
    <p:extLst>
      <p:ext uri="{BB962C8B-B14F-4D97-AF65-F5344CB8AC3E}">
        <p14:creationId xmlns:p14="http://schemas.microsoft.com/office/powerpoint/2010/main" val="39854766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隨機森林的超參數設定與最佳參數組合如下表。</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29</a:t>
            </a:fld>
            <a:endParaRPr lang="zh-TW" altLang="en-US"/>
          </a:p>
        </p:txBody>
      </p:sp>
    </p:spTree>
    <p:extLst>
      <p:ext uri="{BB962C8B-B14F-4D97-AF65-F5344CB8AC3E}">
        <p14:creationId xmlns:p14="http://schemas.microsoft.com/office/powerpoint/2010/main" val="939542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XGBoost</a:t>
            </a:r>
            <a:r>
              <a:rPr lang="zh-TW" altLang="en-US" dirty="0"/>
              <a:t>的超參數設定與最佳參數組合如下表。</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30</a:t>
            </a:fld>
            <a:endParaRPr lang="zh-TW" altLang="en-US"/>
          </a:p>
        </p:txBody>
      </p:sp>
    </p:spTree>
    <p:extLst>
      <p:ext uri="{BB962C8B-B14F-4D97-AF65-F5344CB8AC3E}">
        <p14:creationId xmlns:p14="http://schemas.microsoft.com/office/powerpoint/2010/main" val="3984896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在模型訓練完成後，為了比較不同模型與特徵版本的預測表現，觀察了五項效能評估指標。</a:t>
            </a:r>
            <a:endParaRPr lang="en-US" altLang="zh-TW" dirty="0"/>
          </a:p>
          <a:p>
            <a:r>
              <a:rPr lang="zh-TW" altLang="en-US" dirty="0"/>
              <a:t>前四項是常見的回歸型指標：</a:t>
            </a:r>
            <a:br>
              <a:rPr lang="zh-TW" altLang="en-US" dirty="0"/>
            </a:br>
            <a:r>
              <a:rPr lang="zh-TW" altLang="en-US" dirty="0"/>
              <a:t>首先，</a:t>
            </a:r>
            <a:r>
              <a:rPr lang="en-US" altLang="zh-TW" b="1" dirty="0"/>
              <a:t>RMSE</a:t>
            </a:r>
            <a:r>
              <a:rPr lang="zh-TW" altLang="en-US" dirty="0"/>
              <a:t>主要衡量平均平方誤差，會對較大的誤差給予更高權重，它的重點在於衡量模型在整體上的精確度，特別是針對波動較明顯的樣本；</a:t>
            </a:r>
            <a:br>
              <a:rPr lang="zh-TW" altLang="en-US" dirty="0"/>
            </a:br>
            <a:r>
              <a:rPr lang="en-US" altLang="zh-TW" b="1" dirty="0"/>
              <a:t>MAE</a:t>
            </a:r>
            <a:r>
              <a:rPr lang="zh-TW" altLang="en-US" dirty="0"/>
              <a:t> 則是平均絕對誤差，相對穩定，不容易受到極端值影響；</a:t>
            </a:r>
            <a:br>
              <a:rPr lang="zh-TW" altLang="en-US" dirty="0"/>
            </a:br>
            <a:r>
              <a:rPr lang="en-US" altLang="zh-TW" b="1" dirty="0"/>
              <a:t>MAPE</a:t>
            </a:r>
            <a:r>
              <a:rPr lang="zh-TW" altLang="en-US" dirty="0"/>
              <a:t> 會以百分比的方式呈現誤差比例，方便跨服務比較，不過在實際延遲值過小時誤差會被放大；</a:t>
            </a:r>
            <a:br>
              <a:rPr lang="zh-TW" altLang="en-US" dirty="0"/>
            </a:br>
            <a:r>
              <a:rPr lang="en-US" altLang="zh-TW" b="1" dirty="0" err="1"/>
              <a:t>MaxAE</a:t>
            </a:r>
            <a:r>
              <a:rPr lang="zh-TW" altLang="en-US" dirty="0"/>
              <a:t> 則是觀察模型在最壞情況下的最大誤差，用來檢視極端延遲誤差的表現。</a:t>
            </a:r>
            <a:endParaRPr lang="en-US" altLang="zh-TW" dirty="0"/>
          </a:p>
          <a:p>
            <a:r>
              <a:rPr lang="zh-TW" altLang="en-US" dirty="0"/>
              <a:t>最後是本研究主要的比較指標 </a:t>
            </a:r>
            <a:r>
              <a:rPr lang="en-US" altLang="zh-TW" dirty="0"/>
              <a:t>—— </a:t>
            </a:r>
            <a:r>
              <a:rPr lang="en-US" altLang="zh-TW" b="1" dirty="0"/>
              <a:t>RPS</a:t>
            </a:r>
            <a:r>
              <a:rPr lang="zh-TW" altLang="en-US" b="1" dirty="0"/>
              <a:t>（</a:t>
            </a:r>
            <a:r>
              <a:rPr lang="en-US" altLang="zh-TW" b="1" dirty="0"/>
              <a:t>Rate-Percentile Score</a:t>
            </a:r>
            <a:r>
              <a:rPr lang="zh-TW" altLang="en-US" b="1" dirty="0"/>
              <a:t>）</a:t>
            </a:r>
            <a:r>
              <a:rPr lang="zh-TW" altLang="en-US" dirty="0"/>
              <a:t>。</a:t>
            </a:r>
            <a:br>
              <a:rPr lang="zh-TW" altLang="en-US" dirty="0"/>
            </a:br>
            <a:r>
              <a:rPr lang="zh-TW" altLang="en-US" dirty="0"/>
              <a:t>這個指標是我自行設計的多分位數加權誤差，結合 </a:t>
            </a:r>
            <a:r>
              <a:rPr lang="en-US" altLang="zh-TW" dirty="0"/>
              <a:t>P50</a:t>
            </a:r>
            <a:r>
              <a:rPr lang="zh-TW" altLang="en-US" dirty="0"/>
              <a:t>、</a:t>
            </a:r>
            <a:r>
              <a:rPr lang="en-US" altLang="zh-TW" dirty="0"/>
              <a:t>P90</a:t>
            </a:r>
            <a:r>
              <a:rPr lang="zh-TW" altLang="en-US" dirty="0"/>
              <a:t>、</a:t>
            </a:r>
            <a:r>
              <a:rPr lang="en-US" altLang="zh-TW" dirty="0"/>
              <a:t>P95</a:t>
            </a:r>
            <a:r>
              <a:rPr lang="zh-TW" altLang="en-US" dirty="0"/>
              <a:t>、</a:t>
            </a:r>
            <a:r>
              <a:rPr lang="en-US" altLang="zh-TW" dirty="0"/>
              <a:t>P99 </a:t>
            </a:r>
            <a:r>
              <a:rPr lang="zh-TW" altLang="en-US" dirty="0"/>
              <a:t>四個百分位，分別給予 </a:t>
            </a:r>
            <a:r>
              <a:rPr lang="en-US" altLang="zh-TW" dirty="0"/>
              <a:t>0.1</a:t>
            </a:r>
            <a:r>
              <a:rPr lang="zh-TW" altLang="en-US" dirty="0"/>
              <a:t>、</a:t>
            </a:r>
            <a:r>
              <a:rPr lang="en-US" altLang="zh-TW" dirty="0"/>
              <a:t>0.4</a:t>
            </a:r>
            <a:r>
              <a:rPr lang="zh-TW" altLang="en-US" dirty="0"/>
              <a:t>、</a:t>
            </a:r>
            <a:r>
              <a:rPr lang="en-US" altLang="zh-TW" dirty="0"/>
              <a:t>0.4</a:t>
            </a:r>
            <a:r>
              <a:rPr lang="zh-TW" altLang="en-US" dirty="0"/>
              <a:t>、</a:t>
            </a:r>
            <a:r>
              <a:rPr lang="en-US" altLang="zh-TW" dirty="0"/>
              <a:t>0.1 </a:t>
            </a:r>
            <a:r>
              <a:rPr lang="zh-TW" altLang="en-US" dirty="0"/>
              <a:t>的權重。</a:t>
            </a:r>
            <a:endParaRPr lang="en-US" altLang="zh-TW" dirty="0"/>
          </a:p>
          <a:p>
            <a:r>
              <a:rPr lang="en-US" altLang="zh-TW" dirty="0"/>
              <a:t>RPS </a:t>
            </a:r>
            <a:r>
              <a:rPr lang="zh-TW" altLang="en-US" dirty="0"/>
              <a:t>的設計目的不是單純放大高誤差，而是希望</a:t>
            </a:r>
            <a:r>
              <a:rPr lang="zh-TW" altLang="en-US" b="1" dirty="0"/>
              <a:t>在整體準確度與誤差分布的穩定性之間取得平衡</a:t>
            </a:r>
            <a:r>
              <a:rPr lang="zh-TW" altLang="en-US" dirty="0"/>
              <a:t>。</a:t>
            </a:r>
            <a:br>
              <a:rPr lang="zh-TW" altLang="en-US" dirty="0"/>
            </a:br>
            <a:r>
              <a:rPr lang="en-US" altLang="zh-TW" dirty="0"/>
              <a:t>RMSE</a:t>
            </a:r>
            <a:r>
              <a:rPr lang="zh-TW" altLang="en-US" dirty="0"/>
              <a:t>透過平方誤差放大極端值，主要反映「誤差大小」；</a:t>
            </a:r>
            <a:br>
              <a:rPr lang="zh-TW" altLang="en-US" dirty="0"/>
            </a:br>
            <a:r>
              <a:rPr lang="zh-TW" altLang="en-US" dirty="0"/>
              <a:t>而 </a:t>
            </a:r>
            <a:r>
              <a:rPr lang="en-US" altLang="zh-TW" dirty="0"/>
              <a:t>RPS </a:t>
            </a:r>
            <a:r>
              <a:rPr lang="zh-TW" altLang="en-US" dirty="0"/>
              <a:t>是從「誤差在不同分布區段的穩定程度」來觀察模型表現。</a:t>
            </a:r>
            <a:br>
              <a:rPr lang="zh-TW" altLang="en-US" dirty="0"/>
            </a:br>
            <a:r>
              <a:rPr lang="zh-TW" altLang="en-US" dirty="0"/>
              <a:t>也就是說，</a:t>
            </a:r>
            <a:r>
              <a:rPr lang="en-US" altLang="zh-TW" dirty="0"/>
              <a:t>RPS </a:t>
            </a:r>
            <a:r>
              <a:rPr lang="zh-TW" altLang="en-US" dirty="0"/>
              <a:t>不僅看平均誤差是否小，更強調模型在高誤差區段是否仍能維持穩定預測。</a:t>
            </a:r>
          </a:p>
          <a:p>
            <a:r>
              <a:rPr lang="zh-TW" altLang="en-US" dirty="0"/>
              <a:t>因此在後續的分析中，</a:t>
            </a:r>
            <a:r>
              <a:rPr lang="en-US" altLang="zh-TW" dirty="0"/>
              <a:t>RPS </a:t>
            </a:r>
            <a:r>
              <a:rPr lang="zh-TW" altLang="en-US" dirty="0"/>
              <a:t>會作為主要的綜合評估指標，用來比較各模型在整體預測穩定性上的差異。</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31</a:t>
            </a:fld>
            <a:endParaRPr lang="zh-TW" altLang="en-US"/>
          </a:p>
        </p:txBody>
      </p:sp>
    </p:spTree>
    <p:extLst>
      <p:ext uri="{BB962C8B-B14F-4D97-AF65-F5344CB8AC3E}">
        <p14:creationId xmlns:p14="http://schemas.microsoft.com/office/powerpoint/2010/main" val="3483467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C504-1804-109C-0122-B22315516C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439E97E-4347-247B-1FD6-5DF8CEAAB1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EC4F17-5EAE-D6B9-0363-B1F92E8A18FB}"/>
              </a:ext>
            </a:extLst>
          </p:cNvPr>
          <p:cNvSpPr>
            <a:spLocks noGrp="1"/>
          </p:cNvSpPr>
          <p:nvPr>
            <p:ph type="body" idx="1"/>
          </p:nvPr>
        </p:nvSpPr>
        <p:spPr/>
        <p:txBody>
          <a:bodyPr/>
          <a:lstStyle/>
          <a:p>
            <a:r>
              <a:rPr lang="zh-TW" altLang="en-US" dirty="0"/>
              <a:t>這張表主要是為了讓後續的結果分析更清楚，在看到各模型代碼時，可以直接對應到它所使用的模型類型與特徵設定，避免在比較圖或表格中造成混淆。</a:t>
            </a:r>
          </a:p>
        </p:txBody>
      </p:sp>
      <p:sp>
        <p:nvSpPr>
          <p:cNvPr id="4" name="投影片編號版面配置區 3">
            <a:extLst>
              <a:ext uri="{FF2B5EF4-FFF2-40B4-BE49-F238E27FC236}">
                <a16:creationId xmlns:a16="http://schemas.microsoft.com/office/drawing/2014/main" id="{6E83B250-C01E-166E-BC8C-EE41C040E93F}"/>
              </a:ext>
            </a:extLst>
          </p:cNvPr>
          <p:cNvSpPr>
            <a:spLocks noGrp="1"/>
          </p:cNvSpPr>
          <p:nvPr>
            <p:ph type="sldNum" sz="quarter" idx="5"/>
          </p:nvPr>
        </p:nvSpPr>
        <p:spPr/>
        <p:txBody>
          <a:bodyPr/>
          <a:lstStyle/>
          <a:p>
            <a:fld id="{D5022DD7-B5A4-466E-81AE-CC5BD18E5D72}" type="slidenum">
              <a:rPr lang="zh-TW" altLang="en-US" smtClean="0"/>
              <a:t>32</a:t>
            </a:fld>
            <a:endParaRPr lang="zh-TW" altLang="en-US"/>
          </a:p>
        </p:txBody>
      </p:sp>
    </p:spTree>
    <p:extLst>
      <p:ext uri="{BB962C8B-B14F-4D97-AF65-F5344CB8AC3E}">
        <p14:creationId xmlns:p14="http://schemas.microsoft.com/office/powerpoint/2010/main" val="3287687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這張表是</a:t>
            </a:r>
            <a:r>
              <a:rPr lang="zh-TW" altLang="en-US" b="1" dirty="0"/>
              <a:t>各模型在 </a:t>
            </a:r>
            <a:r>
              <a:rPr lang="en-US" altLang="zh-TW" b="1" dirty="0"/>
              <a:t>Grid Search </a:t>
            </a:r>
            <a:r>
              <a:rPr lang="zh-TW" altLang="en-US" b="1" dirty="0"/>
              <a:t>階段的比較結果</a:t>
            </a:r>
            <a:r>
              <a:rPr lang="zh-TW" altLang="en-US" dirty="0"/>
              <a:t>。</a:t>
            </a:r>
            <a:br>
              <a:rPr lang="zh-TW" altLang="en-US" dirty="0"/>
            </a:br>
            <a:r>
              <a:rPr lang="zh-TW" altLang="en-US" dirty="0"/>
              <a:t>可以看到，</a:t>
            </a:r>
            <a:r>
              <a:rPr lang="en-US" altLang="zh-TW" b="1" dirty="0" err="1"/>
              <a:t>XGBoost</a:t>
            </a:r>
            <a:r>
              <a:rPr lang="zh-TW" altLang="en-US" b="1" dirty="0"/>
              <a:t>（</a:t>
            </a:r>
            <a:r>
              <a:rPr lang="en-US" altLang="zh-TW" b="1" dirty="0"/>
              <a:t>81</a:t>
            </a:r>
            <a:r>
              <a:rPr lang="zh-TW" altLang="en-US" b="1" dirty="0"/>
              <a:t>維版本，</a:t>
            </a:r>
            <a:r>
              <a:rPr lang="en-US" altLang="zh-TW" b="1" dirty="0"/>
              <a:t>XGB-S</a:t>
            </a:r>
            <a:r>
              <a:rPr lang="zh-TW" altLang="en-US" b="1" dirty="0"/>
              <a:t>）在所有指標中整體表現最佳。</a:t>
            </a:r>
            <a:r>
              <a:rPr lang="zh-TW" altLang="en-US" dirty="0"/>
              <a:t>而</a:t>
            </a:r>
            <a:r>
              <a:rPr lang="en-US" altLang="zh-TW" dirty="0"/>
              <a:t>RPS</a:t>
            </a:r>
            <a:r>
              <a:rPr lang="zh-TW" altLang="en-US" dirty="0"/>
              <a:t>也最低，顯示它在不同百分位誤差下的整體表現最穩定。</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33</a:t>
            </a:fld>
            <a:endParaRPr lang="zh-TW" altLang="en-US"/>
          </a:p>
        </p:txBody>
      </p:sp>
    </p:spTree>
    <p:extLst>
      <p:ext uri="{BB962C8B-B14F-4D97-AF65-F5344CB8AC3E}">
        <p14:creationId xmlns:p14="http://schemas.microsoft.com/office/powerpoint/2010/main" val="31058386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BA2D9-F96C-F49B-319D-A769171F8B1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EAF65DA-51AD-3000-5870-5F36333F005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15FA665-84B4-4013-DD7B-68B328F825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ym typeface="Blink Twice"/>
              </a:rPr>
              <a:t>TPE</a:t>
            </a:r>
            <a:r>
              <a:rPr lang="zh-TW" altLang="en-US" dirty="0">
                <a:sym typeface="Blink Twice"/>
              </a:rPr>
              <a:t>搜尋演算法是</a:t>
            </a:r>
            <a:r>
              <a:rPr lang="en-US" altLang="zh-TW" dirty="0" err="1">
                <a:sym typeface="Blink Twice"/>
              </a:rPr>
              <a:t>Optuna</a:t>
            </a:r>
            <a:r>
              <a:rPr lang="zh-TW" altLang="en-US" dirty="0">
                <a:sym typeface="Blink Twice"/>
              </a:rPr>
              <a:t>預設的參數搜尋方法，</a:t>
            </a:r>
            <a:r>
              <a:rPr lang="zh-TW" altLang="en-US" dirty="0"/>
              <a:t>他的特點是能根據過去試驗的結果，</a:t>
            </a:r>
            <a:r>
              <a:rPr lang="zh-TW" altLang="en-US" b="1" dirty="0"/>
              <a:t>動態調整搜尋方向</a:t>
            </a:r>
            <a:r>
              <a:rPr lang="zh-TW" altLang="en-US" dirty="0"/>
              <a:t>，不像 </a:t>
            </a:r>
            <a:r>
              <a:rPr lang="en-US" altLang="zh-TW" dirty="0"/>
              <a:t>Grid Search </a:t>
            </a:r>
            <a:r>
              <a:rPr lang="zh-TW" altLang="en-US" dirty="0"/>
              <a:t>那樣去嘗試所有參數組合，因此能夠</a:t>
            </a:r>
            <a:r>
              <a:rPr lang="zh-TW" altLang="en-US" b="1" dirty="0"/>
              <a:t>更快收斂到效果較好的參數區域</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相較於傳統 </a:t>
            </a:r>
            <a:r>
              <a:rPr lang="en-US" altLang="zh-TW" dirty="0"/>
              <a:t>Grid Search</a:t>
            </a:r>
            <a:r>
              <a:rPr lang="zh-TW" altLang="en-US" dirty="0"/>
              <a:t>，</a:t>
            </a:r>
            <a:r>
              <a:rPr lang="en-US" altLang="zh-TW" dirty="0"/>
              <a:t>TPE </a:t>
            </a:r>
            <a:r>
              <a:rPr lang="zh-TW" altLang="en-US" dirty="0"/>
              <a:t>不需要窮舉全部組合，只需透過機率模型評估每次試驗的結果，用</a:t>
            </a:r>
            <a:r>
              <a:rPr lang="zh-TW" altLang="en-US" b="1" dirty="0"/>
              <a:t>更少的試驗次數</a:t>
            </a:r>
            <a:r>
              <a:rPr lang="zh-TW" altLang="en-US" dirty="0"/>
              <a:t>就能找到更好的超參數組合。</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所以在本研究中，我們先用 </a:t>
            </a:r>
            <a:r>
              <a:rPr lang="en-US" altLang="zh-TW" dirty="0"/>
              <a:t>Grid Search </a:t>
            </a:r>
            <a:r>
              <a:rPr lang="zh-TW" altLang="en-US" dirty="0"/>
              <a:t>找出表現最好的模型，也就是 </a:t>
            </a:r>
            <a:r>
              <a:rPr lang="en-US" altLang="zh-TW" b="1" dirty="0"/>
              <a:t>XGB-S</a:t>
            </a:r>
            <a:r>
              <a:rPr lang="zh-TW" altLang="en-US" dirty="0"/>
              <a:t>，再利用 </a:t>
            </a:r>
            <a:r>
              <a:rPr lang="en-US" altLang="zh-TW" dirty="0"/>
              <a:t>TPE </a:t>
            </a:r>
            <a:r>
              <a:rPr lang="zh-TW" altLang="en-US" dirty="0"/>
              <a:t>方法進一步做超參數最佳化，來</a:t>
            </a:r>
            <a:r>
              <a:rPr lang="zh-TW" altLang="en-US" b="1" dirty="0"/>
              <a:t>提升模型的預測精度與整體效能</a:t>
            </a:r>
            <a:r>
              <a:rPr lang="zh-TW" altLang="en-US" dirty="0"/>
              <a:t>。</a:t>
            </a:r>
            <a:endParaRPr lang="en-US" altLang="zh-TW" dirty="0">
              <a:sym typeface="Blink Twice"/>
            </a:endParaRPr>
          </a:p>
        </p:txBody>
      </p:sp>
      <p:sp>
        <p:nvSpPr>
          <p:cNvPr id="4" name="投影片編號版面配置區 3">
            <a:extLst>
              <a:ext uri="{FF2B5EF4-FFF2-40B4-BE49-F238E27FC236}">
                <a16:creationId xmlns:a16="http://schemas.microsoft.com/office/drawing/2014/main" id="{44A07158-135B-D536-8904-314813BC6171}"/>
              </a:ext>
            </a:extLst>
          </p:cNvPr>
          <p:cNvSpPr>
            <a:spLocks noGrp="1"/>
          </p:cNvSpPr>
          <p:nvPr>
            <p:ph type="sldNum" sz="quarter" idx="5"/>
          </p:nvPr>
        </p:nvSpPr>
        <p:spPr/>
        <p:txBody>
          <a:bodyPr/>
          <a:lstStyle/>
          <a:p>
            <a:fld id="{D5022DD7-B5A4-466E-81AE-CC5BD18E5D72}" type="slidenum">
              <a:rPr lang="zh-TW" altLang="en-US" smtClean="0"/>
              <a:t>34</a:t>
            </a:fld>
            <a:endParaRPr lang="zh-TW" altLang="en-US"/>
          </a:p>
        </p:txBody>
      </p:sp>
    </p:spTree>
    <p:extLst>
      <p:ext uri="{BB962C8B-B14F-4D97-AF65-F5344CB8AC3E}">
        <p14:creationId xmlns:p14="http://schemas.microsoft.com/office/powerpoint/2010/main" val="38761338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F74C-4965-423E-BC64-E4021D55F5F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31A24C7-7FF2-0B6A-8BBA-D87412D56C8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D730036-EC00-5CA0-423E-6DA40175F298}"/>
              </a:ext>
            </a:extLst>
          </p:cNvPr>
          <p:cNvSpPr>
            <a:spLocks noGrp="1"/>
          </p:cNvSpPr>
          <p:nvPr>
            <p:ph type="body" idx="1"/>
          </p:nvPr>
        </p:nvSpPr>
        <p:spPr/>
        <p:txBody>
          <a:bodyPr/>
          <a:lstStyle/>
          <a:p>
            <a:r>
              <a:rPr lang="zh-TW" altLang="en-US" dirty="0"/>
              <a:t>這邊是 </a:t>
            </a:r>
            <a:r>
              <a:rPr lang="en-US" altLang="zh-TW" b="1" dirty="0"/>
              <a:t>XGB-S </a:t>
            </a:r>
            <a:r>
              <a:rPr lang="zh-TW" altLang="en-US" b="1" dirty="0"/>
              <a:t>模型經 </a:t>
            </a:r>
            <a:r>
              <a:rPr lang="en-US" altLang="zh-TW" b="1" dirty="0"/>
              <a:t>TPE </a:t>
            </a:r>
            <a:r>
              <a:rPr lang="zh-TW" altLang="en-US" b="1" dirty="0"/>
              <a:t>方法調整後的最佳參數組合</a:t>
            </a:r>
            <a:r>
              <a:rPr lang="zh-TW" altLang="en-US" dirty="0"/>
              <a:t>。</a:t>
            </a:r>
          </a:p>
        </p:txBody>
      </p:sp>
      <p:sp>
        <p:nvSpPr>
          <p:cNvPr id="4" name="投影片編號版面配置區 3">
            <a:extLst>
              <a:ext uri="{FF2B5EF4-FFF2-40B4-BE49-F238E27FC236}">
                <a16:creationId xmlns:a16="http://schemas.microsoft.com/office/drawing/2014/main" id="{C85566EE-7C57-2712-FF9C-5A1AD665B771}"/>
              </a:ext>
            </a:extLst>
          </p:cNvPr>
          <p:cNvSpPr>
            <a:spLocks noGrp="1"/>
          </p:cNvSpPr>
          <p:nvPr>
            <p:ph type="sldNum" sz="quarter" idx="5"/>
          </p:nvPr>
        </p:nvSpPr>
        <p:spPr/>
        <p:txBody>
          <a:bodyPr/>
          <a:lstStyle/>
          <a:p>
            <a:fld id="{D5022DD7-B5A4-466E-81AE-CC5BD18E5D72}" type="slidenum">
              <a:rPr lang="zh-TW" altLang="en-US" smtClean="0"/>
              <a:t>35</a:t>
            </a:fld>
            <a:endParaRPr lang="zh-TW" altLang="en-US"/>
          </a:p>
        </p:txBody>
      </p:sp>
    </p:spTree>
    <p:extLst>
      <p:ext uri="{BB962C8B-B14F-4D97-AF65-F5344CB8AC3E}">
        <p14:creationId xmlns:p14="http://schemas.microsoft.com/office/powerpoint/2010/main" val="20021084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4D96B-EBDC-578B-A56F-4E09A49EDE5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8F7DC96-1F90-3567-235A-AC236689AAF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410EF60-2760-94DE-B5B7-CFBD7DF6075F}"/>
              </a:ext>
            </a:extLst>
          </p:cNvPr>
          <p:cNvSpPr>
            <a:spLocks noGrp="1"/>
          </p:cNvSpPr>
          <p:nvPr>
            <p:ph type="body" idx="1"/>
          </p:nvPr>
        </p:nvSpPr>
        <p:spPr/>
        <p:txBody>
          <a:bodyPr/>
          <a:lstStyle/>
          <a:p>
            <a:r>
              <a:rPr lang="zh-TW" altLang="en-US" dirty="0"/>
              <a:t>這邊是 </a:t>
            </a:r>
            <a:r>
              <a:rPr lang="en-US" altLang="zh-TW" b="1" dirty="0"/>
              <a:t>XGB-S </a:t>
            </a:r>
            <a:r>
              <a:rPr lang="zh-TW" altLang="en-US" b="1" dirty="0"/>
              <a:t>模型在經過 </a:t>
            </a:r>
            <a:r>
              <a:rPr lang="en-US" altLang="zh-TW" b="1" dirty="0"/>
              <a:t>TPE </a:t>
            </a:r>
            <a:r>
              <a:rPr lang="zh-TW" altLang="en-US" b="1" dirty="0"/>
              <a:t>超參數最佳化後的結果，</a:t>
            </a:r>
            <a:r>
              <a:rPr lang="zh-TW" altLang="en-US" dirty="0"/>
              <a:t>最佳化後的版本命名為 </a:t>
            </a:r>
            <a:r>
              <a:rPr lang="en-US" altLang="zh-TW" b="1" dirty="0"/>
              <a:t>XGB-OPT</a:t>
            </a:r>
            <a:r>
              <a:rPr lang="zh-TW" altLang="en-US" dirty="0"/>
              <a:t>。同時把兩個模型做比較</a:t>
            </a:r>
            <a:endParaRPr lang="en-US" altLang="zh-TW" dirty="0"/>
          </a:p>
          <a:p>
            <a:r>
              <a:rPr lang="zh-TW" altLang="en-US" dirty="0"/>
              <a:t>從表中可以看到，</a:t>
            </a:r>
            <a:r>
              <a:rPr lang="en-US" altLang="zh-TW" dirty="0"/>
              <a:t>XGB-OPT </a:t>
            </a:r>
            <a:r>
              <a:rPr lang="zh-TW" altLang="en-US" dirty="0"/>
              <a:t>在幾乎所有指標上都有進步，顯示整體在不同百分位誤差下的表現更均衡</a:t>
            </a:r>
            <a:endParaRPr lang="en-US" altLang="zh-TW" dirty="0"/>
          </a:p>
          <a:p>
            <a:r>
              <a:rPr lang="zh-TW" altLang="en-US" dirty="0"/>
              <a:t>整體來說，</a:t>
            </a:r>
            <a:r>
              <a:rPr lang="en-US" altLang="zh-TW" b="1" dirty="0"/>
              <a:t>TPE </a:t>
            </a:r>
            <a:r>
              <a:rPr lang="zh-TW" altLang="en-US" b="1" dirty="0"/>
              <a:t>搜尋確實進一步提升了 </a:t>
            </a:r>
            <a:r>
              <a:rPr lang="en-US" altLang="zh-TW" b="1" dirty="0" err="1"/>
              <a:t>XGBoost</a:t>
            </a:r>
            <a:r>
              <a:rPr lang="en-US" altLang="zh-TW" b="1" dirty="0"/>
              <a:t> </a:t>
            </a:r>
            <a:r>
              <a:rPr lang="zh-TW" altLang="en-US" b="1" dirty="0"/>
              <a:t>的預測精度與穩定性</a:t>
            </a:r>
            <a:r>
              <a:rPr lang="zh-TW" altLang="en-US" dirty="0"/>
              <a:t>，因此後續實驗都會以這個最佳化後的 </a:t>
            </a:r>
            <a:r>
              <a:rPr lang="en-US" altLang="zh-TW" b="1" dirty="0"/>
              <a:t>XGB-OPT </a:t>
            </a:r>
            <a:r>
              <a:rPr lang="zh-TW" altLang="en-US" b="1" dirty="0"/>
              <a:t>模型</a:t>
            </a:r>
            <a:r>
              <a:rPr lang="zh-TW" altLang="en-US" dirty="0"/>
              <a:t> 為主。</a:t>
            </a:r>
          </a:p>
        </p:txBody>
      </p:sp>
      <p:sp>
        <p:nvSpPr>
          <p:cNvPr id="4" name="投影片編號版面配置區 3">
            <a:extLst>
              <a:ext uri="{FF2B5EF4-FFF2-40B4-BE49-F238E27FC236}">
                <a16:creationId xmlns:a16="http://schemas.microsoft.com/office/drawing/2014/main" id="{F226FD6A-5657-903D-8B3A-326A2D50BCCB}"/>
              </a:ext>
            </a:extLst>
          </p:cNvPr>
          <p:cNvSpPr>
            <a:spLocks noGrp="1"/>
          </p:cNvSpPr>
          <p:nvPr>
            <p:ph type="sldNum" sz="quarter" idx="5"/>
          </p:nvPr>
        </p:nvSpPr>
        <p:spPr/>
        <p:txBody>
          <a:bodyPr/>
          <a:lstStyle/>
          <a:p>
            <a:fld id="{D5022DD7-B5A4-466E-81AE-CC5BD18E5D72}" type="slidenum">
              <a:rPr lang="zh-TW" altLang="en-US" smtClean="0"/>
              <a:t>36</a:t>
            </a:fld>
            <a:endParaRPr lang="zh-TW" altLang="en-US"/>
          </a:p>
        </p:txBody>
      </p:sp>
    </p:spTree>
    <p:extLst>
      <p:ext uri="{BB962C8B-B14F-4D97-AF65-F5344CB8AC3E}">
        <p14:creationId xmlns:p14="http://schemas.microsoft.com/office/powerpoint/2010/main" val="16827744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從實驗觀察結果來看</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t>相較於文獻中常見的「展開式特徵設計」，本研究的「濃縮特徵」（</a:t>
            </a:r>
            <a:r>
              <a:rPr lang="en-US" altLang="zh-TW" dirty="0"/>
              <a:t>81 </a:t>
            </a:r>
            <a:r>
              <a:rPr lang="zh-TW" altLang="en-US" dirty="0"/>
              <a:t>維）整體表現反而更好。</a:t>
            </a:r>
            <a:endParaRPr lang="en-US" altLang="zh-TW" dirty="0"/>
          </a:p>
          <a:p>
            <a:r>
              <a:rPr lang="zh-TW" altLang="en-US" dirty="0"/>
              <a:t>代表只要保留核心延遲特徵，再加上服務識別，就能有效支撐預測任務，不需要依服務展開到 </a:t>
            </a:r>
            <a:r>
              <a:rPr lang="en-US" altLang="zh-TW" dirty="0"/>
              <a:t>308 </a:t>
            </a:r>
            <a:r>
              <a:rPr lang="zh-TW" altLang="en-US" dirty="0"/>
              <a:t>維這麼高的維度。</a:t>
            </a:r>
            <a:endParaRPr lang="en-US" altLang="zh-TW" dirty="0"/>
          </a:p>
          <a:p>
            <a:r>
              <a:rPr lang="zh-TW" altLang="en-US" dirty="0"/>
              <a:t>從各項評估指標來看，</a:t>
            </a:r>
            <a:r>
              <a:rPr lang="en-US" altLang="zh-TW" b="1" dirty="0" err="1"/>
              <a:t>XGBoost</a:t>
            </a:r>
            <a:r>
              <a:rPr lang="en-US" altLang="zh-TW" b="1" dirty="0"/>
              <a:t> </a:t>
            </a:r>
            <a:r>
              <a:rPr lang="zh-TW" altLang="en-US" b="1" dirty="0"/>
              <a:t>系列模型的表現最為穩定且準確</a:t>
            </a:r>
            <a:r>
              <a:rPr lang="zh-TW" altLang="en-US" dirty="0"/>
              <a:t>，整體評估指標都優於 </a:t>
            </a:r>
            <a:r>
              <a:rPr lang="en-US" altLang="zh-TW" dirty="0"/>
              <a:t>Random Forest </a:t>
            </a:r>
            <a:r>
              <a:rPr lang="zh-TW" altLang="en-US" dirty="0"/>
              <a:t>和 </a:t>
            </a:r>
            <a:r>
              <a:rPr lang="en-US" altLang="zh-TW" dirty="0"/>
              <a:t>SVR</a:t>
            </a:r>
            <a:r>
              <a:rPr lang="zh-TW" altLang="en-US" dirty="0"/>
              <a:t>。</a:t>
            </a:r>
            <a:endParaRPr lang="en-US" altLang="zh-TW" dirty="0"/>
          </a:p>
          <a:p>
            <a:r>
              <a:rPr lang="zh-TW" altLang="en-US" dirty="0"/>
              <a:t>此外，濃縮設計不僅降低了訓練時間與運算負擔，也讓模型結構更簡潔、結果更穩定，顯示這樣的特徵構想在實務上更具可行性。</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37</a:t>
            </a:fld>
            <a:endParaRPr lang="zh-TW" altLang="en-US"/>
          </a:p>
        </p:txBody>
      </p:sp>
    </p:spTree>
    <p:extLst>
      <p:ext uri="{BB962C8B-B14F-4D97-AF65-F5344CB8AC3E}">
        <p14:creationId xmlns:p14="http://schemas.microsoft.com/office/powerpoint/2010/main" val="4116517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AA4D-5224-0E93-97FB-760B9F4E55D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673486-B5D0-9FCB-CB1D-0F7A2C3CD77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51B8591-4C26-E4FE-BC34-A25E6AA92992}"/>
              </a:ext>
            </a:extLst>
          </p:cNvPr>
          <p:cNvSpPr>
            <a:spLocks noGrp="1"/>
          </p:cNvSpPr>
          <p:nvPr>
            <p:ph type="body" idx="1"/>
          </p:nvPr>
        </p:nvSpPr>
        <p:spPr/>
        <p:txBody>
          <a:bodyPr/>
          <a:lstStyle/>
          <a:p>
            <a:r>
              <a:rPr lang="zh-TW" altLang="en-US" dirty="0"/>
              <a:t>接下來進入 </a:t>
            </a:r>
            <a:r>
              <a:rPr lang="zh-TW" altLang="en-US" b="1" dirty="0"/>
              <a:t>模型應用與實驗分析</a:t>
            </a:r>
            <a:r>
              <a:rPr lang="zh-TW" altLang="en-US" dirty="0"/>
              <a:t> 的部分</a:t>
            </a:r>
          </a:p>
        </p:txBody>
      </p:sp>
      <p:sp>
        <p:nvSpPr>
          <p:cNvPr id="4" name="投影片編號版面配置區 3">
            <a:extLst>
              <a:ext uri="{FF2B5EF4-FFF2-40B4-BE49-F238E27FC236}">
                <a16:creationId xmlns:a16="http://schemas.microsoft.com/office/drawing/2014/main" id="{58B7E537-2A58-C9F7-3674-C7669A191E41}"/>
              </a:ext>
            </a:extLst>
          </p:cNvPr>
          <p:cNvSpPr>
            <a:spLocks noGrp="1"/>
          </p:cNvSpPr>
          <p:nvPr>
            <p:ph type="sldNum" sz="quarter" idx="5"/>
          </p:nvPr>
        </p:nvSpPr>
        <p:spPr/>
        <p:txBody>
          <a:bodyPr/>
          <a:lstStyle/>
          <a:p>
            <a:fld id="{D5022DD7-B5A4-466E-81AE-CC5BD18E5D72}" type="slidenum">
              <a:rPr lang="zh-TW" altLang="en-US" smtClean="0"/>
              <a:t>38</a:t>
            </a:fld>
            <a:endParaRPr lang="zh-TW" altLang="en-US"/>
          </a:p>
        </p:txBody>
      </p:sp>
    </p:spTree>
    <p:extLst>
      <p:ext uri="{BB962C8B-B14F-4D97-AF65-F5344CB8AC3E}">
        <p14:creationId xmlns:p14="http://schemas.microsoft.com/office/powerpoint/2010/main" val="18681965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a:t>第二部分的實驗主要是機器學習與傳統方法的比較實驗</a:t>
            </a:r>
            <a:r>
              <a:rPr lang="zh-TW" altLang="en-US" dirty="0"/>
              <a:t>。</a:t>
            </a:r>
            <a:endParaRPr lang="en-US" altLang="zh-TW" dirty="0"/>
          </a:p>
          <a:p>
            <a:r>
              <a:rPr lang="zh-TW" altLang="en-US" dirty="0"/>
              <a:t>這個實驗的目的，是要比較本研究提出的機器學習模型，和傳統統計方法（也就是 </a:t>
            </a:r>
            <a:r>
              <a:rPr lang="en-US" altLang="zh-TW" dirty="0"/>
              <a:t>EMA</a:t>
            </a:r>
            <a:r>
              <a:rPr lang="zh-TW" altLang="en-US" dirty="0"/>
              <a:t>，指數移動平均）在延遲預測上的誤差表現，並觀察在異常警告通知準確率上是否有明顯提升。</a:t>
            </a:r>
            <a:endParaRPr lang="en-US" altLang="zh-TW" dirty="0"/>
          </a:p>
          <a:p>
            <a:r>
              <a:rPr lang="zh-TW" altLang="en-US" dirty="0"/>
              <a:t>實驗設計上，我們一樣參考了文獻中的流量模式，並將流量放大數倍，模擬真實高併發情境。</a:t>
            </a:r>
            <a:br>
              <a:rPr lang="zh-TW" altLang="en-US" dirty="0"/>
            </a:br>
            <a:r>
              <a:rPr lang="zh-TW" altLang="en-US" dirty="0"/>
              <a:t>整個模擬持續四天，每天分別以 </a:t>
            </a:r>
            <a:r>
              <a:rPr lang="en-US" altLang="zh-TW" dirty="0"/>
              <a:t>1 </a:t>
            </a:r>
            <a:r>
              <a:rPr lang="zh-TW" altLang="en-US" dirty="0"/>
              <a:t>到 </a:t>
            </a:r>
            <a:r>
              <a:rPr lang="en-US" altLang="zh-TW" dirty="0"/>
              <a:t>4 </a:t>
            </a:r>
            <a:r>
              <a:rPr lang="zh-TW" altLang="en-US" dirty="0"/>
              <a:t>個 </a:t>
            </a:r>
            <a:r>
              <a:rPr lang="en-US" altLang="zh-TW" dirty="0"/>
              <a:t>Pod </a:t>
            </a:r>
            <a:r>
              <a:rPr lang="zh-TW" altLang="en-US" dirty="0"/>
              <a:t>的不同配置進行測試，以觀察在不同負載條件下的模型表現差異。</a:t>
            </a:r>
            <a:endParaRPr lang="en-US" altLang="zh-TW" dirty="0"/>
          </a:p>
          <a:p>
            <a:r>
              <a:rPr lang="zh-TW" altLang="en-US" dirty="0"/>
              <a:t>最終總共產生了 </a:t>
            </a:r>
            <a:r>
              <a:rPr lang="en-US" altLang="zh-TW" b="1" dirty="0"/>
              <a:t>5,760 </a:t>
            </a:r>
            <a:r>
              <a:rPr lang="zh-TW" altLang="en-US" b="1" dirty="0"/>
              <a:t>筆預測樣本</a:t>
            </a:r>
            <a:r>
              <a:rPr lang="zh-TW" altLang="en-US" dirty="0"/>
              <a:t>，這些資料會作為後續延遲預測比較與異常偵測分析的依據。</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39</a:t>
            </a:fld>
            <a:endParaRPr lang="zh-TW" altLang="en-US"/>
          </a:p>
        </p:txBody>
      </p:sp>
    </p:spTree>
    <p:extLst>
      <p:ext uri="{BB962C8B-B14F-4D97-AF65-F5344CB8AC3E}">
        <p14:creationId xmlns:p14="http://schemas.microsoft.com/office/powerpoint/2010/main" val="1429516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EDE62-E913-919B-6988-739C6425188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40E8FA9-20A9-E754-8B78-24917D66780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99357CA-741F-3793-1A3C-FF6A8E62733C}"/>
              </a:ext>
            </a:extLst>
          </p:cNvPr>
          <p:cNvSpPr>
            <a:spLocks noGrp="1"/>
          </p:cNvSpPr>
          <p:nvPr>
            <p:ph type="body" idx="1"/>
          </p:nvPr>
        </p:nvSpPr>
        <p:spPr/>
        <p:txBody>
          <a:bodyPr/>
          <a:lstStyle/>
          <a:p>
            <a:r>
              <a:rPr lang="zh-TW" altLang="en-US" dirty="0"/>
              <a:t>說明本研究在</a:t>
            </a:r>
            <a:r>
              <a:rPr lang="zh-TW" altLang="en-US" b="1" dirty="0"/>
              <a:t>延遲預測與異常告警通知</a:t>
            </a:r>
            <a:r>
              <a:rPr lang="zh-TW" altLang="en-US" dirty="0"/>
              <a:t>這兩個部分的方法設計</a:t>
            </a:r>
            <a:endParaRPr lang="en-US" altLang="zh-TW" dirty="0"/>
          </a:p>
          <a:p>
            <a:r>
              <a:rPr lang="zh-TW" altLang="en-US" dirty="0"/>
              <a:t>首先是延遲預測的部分，</a:t>
            </a:r>
            <a:r>
              <a:rPr lang="zh-TW" altLang="en-US" b="1" dirty="0"/>
              <a:t>傳統方法是參考企業作法</a:t>
            </a:r>
            <a:r>
              <a:rPr lang="en-US" altLang="zh-TW" b="1" dirty="0"/>
              <a:t>:</a:t>
            </a:r>
            <a:r>
              <a:rPr lang="zh-TW" altLang="en-US" dirty="0"/>
              <a:t>利用過去 </a:t>
            </a:r>
            <a:r>
              <a:rPr lang="en-US" altLang="zh-TW" dirty="0"/>
              <a:t>5 </a:t>
            </a:r>
            <a:r>
              <a:rPr lang="zh-TW" altLang="en-US" dirty="0"/>
              <a:t>分鐘的延遲平均值趨勢，來預測下一分鐘的平均延遲。</a:t>
            </a:r>
            <a:endParaRPr lang="en-US" altLang="zh-TW" dirty="0"/>
          </a:p>
          <a:p>
            <a:r>
              <a:rPr lang="zh-TW" altLang="en-US" dirty="0"/>
              <a:t>而在</a:t>
            </a:r>
            <a:r>
              <a:rPr lang="zh-TW" altLang="en-US" b="1" dirty="0"/>
              <a:t>機器學習方法</a:t>
            </a:r>
            <a:r>
              <a:rPr lang="zh-TW" altLang="en-US" dirty="0"/>
              <a:t>，則是使用訓練好的</a:t>
            </a:r>
            <a:r>
              <a:rPr lang="en-US" altLang="zh-TW" b="1" dirty="0" err="1"/>
              <a:t>XGBoost</a:t>
            </a:r>
            <a:r>
              <a:rPr lang="zh-TW" altLang="en-US" b="1" dirty="0"/>
              <a:t>模型結和我們的系統</a:t>
            </a:r>
            <a:r>
              <a:rPr lang="zh-TW" altLang="en-US" dirty="0"/>
              <a:t>，同樣輸出下一分鐘的平均延遲預測值。</a:t>
            </a:r>
            <a:endParaRPr lang="en-US" altLang="zh-TW" dirty="0"/>
          </a:p>
          <a:p>
            <a:r>
              <a:rPr lang="zh-TW" altLang="en-US" dirty="0"/>
              <a:t>另外在</a:t>
            </a:r>
            <a:r>
              <a:rPr lang="zh-TW" altLang="en-US" b="1" dirty="0"/>
              <a:t>異常告警通知</a:t>
            </a:r>
            <a:r>
              <a:rPr lang="zh-TW" altLang="en-US" dirty="0"/>
              <a:t>的部分，兩種方法都以相同的 </a:t>
            </a:r>
            <a:r>
              <a:rPr lang="en-US" altLang="zh-TW" dirty="0"/>
              <a:t>±3σ</a:t>
            </a:r>
            <a:r>
              <a:rPr lang="zh-TW" altLang="en-US" dirty="0"/>
              <a:t>（標準差）作為正常範圍。若預測結果超過這個區間，就會觸發告警，藉此來觀察傳統與機器學習的準確率。</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C24CBAF-D444-74B0-9DDC-E622D57A76EE}"/>
              </a:ext>
            </a:extLst>
          </p:cNvPr>
          <p:cNvSpPr>
            <a:spLocks noGrp="1"/>
          </p:cNvSpPr>
          <p:nvPr>
            <p:ph type="sldNum" sz="quarter" idx="5"/>
          </p:nvPr>
        </p:nvSpPr>
        <p:spPr/>
        <p:txBody>
          <a:bodyPr/>
          <a:lstStyle/>
          <a:p>
            <a:fld id="{D5022DD7-B5A4-466E-81AE-CC5BD18E5D72}" type="slidenum">
              <a:rPr lang="zh-TW" altLang="en-US" smtClean="0"/>
              <a:t>40</a:t>
            </a:fld>
            <a:endParaRPr lang="zh-TW" altLang="en-US"/>
          </a:p>
        </p:txBody>
      </p:sp>
    </p:spTree>
    <p:extLst>
      <p:ext uri="{BB962C8B-B14F-4D97-AF65-F5344CB8AC3E}">
        <p14:creationId xmlns:p14="http://schemas.microsoft.com/office/powerpoint/2010/main" val="3251723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B905E-9FC1-70BC-4C9A-586D6C8187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E7B3BE7-4B0C-E0A4-881A-D7C75E183FE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916426A-2771-C6B7-7228-6895D463B98F}"/>
              </a:ext>
            </a:extLst>
          </p:cNvPr>
          <p:cNvSpPr>
            <a:spLocks noGrp="1"/>
          </p:cNvSpPr>
          <p:nvPr>
            <p:ph type="body" idx="1"/>
          </p:nvPr>
        </p:nvSpPr>
        <p:spPr/>
        <p:txBody>
          <a:bodyPr/>
          <a:lstStyle/>
          <a:p>
            <a:r>
              <a:rPr lang="zh-TW" altLang="en-US" dirty="0"/>
              <a:t>這頁主要說明本研究模型結合 </a:t>
            </a:r>
            <a:r>
              <a:rPr lang="zh-TW" altLang="en-US" b="1" dirty="0"/>
              <a:t>機器學習模型</a:t>
            </a:r>
            <a:r>
              <a:rPr lang="zh-TW" altLang="en-US" dirty="0"/>
              <a:t> 與 </a:t>
            </a:r>
            <a:r>
              <a:rPr lang="zh-TW" altLang="en-US" b="1" dirty="0"/>
              <a:t>微服務監控架構</a:t>
            </a:r>
            <a:r>
              <a:rPr lang="zh-TW" altLang="en-US" dirty="0"/>
              <a:t>，讓系統在實際運行過程中，能夠不斷地收集指標資料，並進行延遲預測，形成一個</a:t>
            </a:r>
            <a:r>
              <a:rPr lang="zh-TW" altLang="en-US" b="1" dirty="0"/>
              <a:t>自動化的閉環流程</a:t>
            </a:r>
            <a:r>
              <a:rPr lang="zh-TW" altLang="en-US" dirty="0"/>
              <a:t>。</a:t>
            </a:r>
            <a:endParaRPr lang="en-US" altLang="zh-TW" dirty="0"/>
          </a:p>
          <a:p>
            <a:r>
              <a:rPr lang="zh-TW" altLang="en-US" dirty="0"/>
              <a:t>右邊的流程圖展示了整體架構：</a:t>
            </a:r>
            <a:br>
              <a:rPr lang="zh-TW" altLang="en-US" dirty="0"/>
            </a:br>
            <a:r>
              <a:rPr lang="zh-TW" altLang="en-US" dirty="0"/>
              <a:t>資料會先收集原始資料，經過彙整之後再送入機器學習模型做延遲預測，判斷說預測延遲是否超出門檻，若超過就會觸發告警通知。</a:t>
            </a:r>
          </a:p>
        </p:txBody>
      </p:sp>
      <p:sp>
        <p:nvSpPr>
          <p:cNvPr id="4" name="投影片編號版面配置區 3">
            <a:extLst>
              <a:ext uri="{FF2B5EF4-FFF2-40B4-BE49-F238E27FC236}">
                <a16:creationId xmlns:a16="http://schemas.microsoft.com/office/drawing/2014/main" id="{6FB5A053-214B-7CCE-C72D-A550AB2E7094}"/>
              </a:ext>
            </a:extLst>
          </p:cNvPr>
          <p:cNvSpPr>
            <a:spLocks noGrp="1"/>
          </p:cNvSpPr>
          <p:nvPr>
            <p:ph type="sldNum" sz="quarter" idx="5"/>
          </p:nvPr>
        </p:nvSpPr>
        <p:spPr/>
        <p:txBody>
          <a:bodyPr/>
          <a:lstStyle/>
          <a:p>
            <a:fld id="{D5022DD7-B5A4-466E-81AE-CC5BD18E5D72}" type="slidenum">
              <a:rPr lang="zh-TW" altLang="en-US" smtClean="0"/>
              <a:t>41</a:t>
            </a:fld>
            <a:endParaRPr lang="zh-TW" altLang="en-US"/>
          </a:p>
        </p:txBody>
      </p:sp>
    </p:spTree>
    <p:extLst>
      <p:ext uri="{BB962C8B-B14F-4D97-AF65-F5344CB8AC3E}">
        <p14:creationId xmlns:p14="http://schemas.microsoft.com/office/powerpoint/2010/main" val="39891061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這邊是</a:t>
            </a:r>
            <a:r>
              <a:rPr lang="zh-TW" altLang="en-US" b="1" dirty="0"/>
              <a:t>延遲預測結果的比較</a:t>
            </a:r>
            <a:r>
              <a:rPr lang="zh-TW" altLang="en-US" dirty="0"/>
              <a:t>。</a:t>
            </a:r>
            <a:endParaRPr lang="en-US" altLang="zh-TW" dirty="0"/>
          </a:p>
          <a:p>
            <a:r>
              <a:rPr lang="zh-TW" altLang="en-US" dirty="0"/>
              <a:t>首先可以看到，</a:t>
            </a:r>
            <a:r>
              <a:rPr lang="zh-TW" altLang="en-US" b="1" dirty="0"/>
              <a:t>本研究模型的整體誤差都明顯低於傳統方法（</a:t>
            </a:r>
            <a:r>
              <a:rPr lang="en-US" altLang="zh-TW" b="1" dirty="0"/>
              <a:t>EMA</a:t>
            </a:r>
            <a:r>
              <a:rPr lang="zh-TW" altLang="en-US" b="1" dirty="0"/>
              <a:t>）</a:t>
            </a:r>
            <a:r>
              <a:rPr lang="zh-TW" altLang="en-US" dirty="0"/>
              <a:t>，代表機器學習模型在預測準確度上有顯著提升。</a:t>
            </a:r>
            <a:endParaRPr lang="en-US" altLang="zh-TW" dirty="0"/>
          </a:p>
          <a:p>
            <a:r>
              <a:rPr lang="zh-TW" altLang="en-US" dirty="0"/>
              <a:t>其次，整體誤差與我們提出的 </a:t>
            </a:r>
            <a:r>
              <a:rPr lang="en-US" altLang="zh-TW" b="1" dirty="0"/>
              <a:t>RPS </a:t>
            </a:r>
            <a:r>
              <a:rPr lang="zh-TW" altLang="en-US" b="1" dirty="0"/>
              <a:t>指標</a:t>
            </a:r>
            <a:r>
              <a:rPr lang="zh-TW" altLang="en-US" dirty="0"/>
              <a:t> 也都明顯下降，這表示模型能有效抑制極端延遲的預測偏差，在「尾端誤差」的控制上也更穩定。</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另外，從圖可以看到，不論是 </a:t>
            </a:r>
            <a:r>
              <a:rPr lang="en-US" altLang="zh-TW" dirty="0"/>
              <a:t>Auth</a:t>
            </a:r>
            <a:r>
              <a:rPr lang="zh-TW" altLang="en-US" dirty="0"/>
              <a:t>、</a:t>
            </a:r>
            <a:r>
              <a:rPr lang="en-US" altLang="zh-TW" dirty="0"/>
              <a:t>Comment</a:t>
            </a:r>
            <a:r>
              <a:rPr lang="zh-TW" altLang="en-US" dirty="0"/>
              <a:t>、</a:t>
            </a:r>
            <a:r>
              <a:rPr lang="en-US" altLang="zh-TW" dirty="0"/>
              <a:t>Post </a:t>
            </a:r>
            <a:r>
              <a:rPr lang="zh-TW" altLang="en-US" dirty="0"/>
              <a:t>還是 </a:t>
            </a:r>
            <a:r>
              <a:rPr lang="en-US" altLang="zh-TW" dirty="0"/>
              <a:t>User </a:t>
            </a:r>
            <a:r>
              <a:rPr lang="zh-TW" altLang="en-US" dirty="0"/>
              <a:t>服務，模型在不同負載條件下都維持穩定的表現，顯示它具備一致且可靠的預測能力。</a:t>
            </a:r>
          </a:p>
          <a:p>
            <a:endParaRPr lang="zh-TW" altLang="en-US" dirty="0"/>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42</a:t>
            </a:fld>
            <a:endParaRPr lang="zh-TW" altLang="en-US"/>
          </a:p>
        </p:txBody>
      </p:sp>
    </p:spTree>
    <p:extLst>
      <p:ext uri="{BB962C8B-B14F-4D97-AF65-F5344CB8AC3E}">
        <p14:creationId xmlns:p14="http://schemas.microsoft.com/office/powerpoint/2010/main" val="32781852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BDED-FAB0-BC9A-B237-27574545CB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7E06AAE-7F09-3A29-044B-C6078638776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BB14AB7-CDC0-A89C-71A3-A496F858BB5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6A181AE-9F30-CF0C-4019-C28206E04779}"/>
              </a:ext>
            </a:extLst>
          </p:cNvPr>
          <p:cNvSpPr>
            <a:spLocks noGrp="1"/>
          </p:cNvSpPr>
          <p:nvPr>
            <p:ph type="sldNum" sz="quarter" idx="5"/>
          </p:nvPr>
        </p:nvSpPr>
        <p:spPr/>
        <p:txBody>
          <a:bodyPr/>
          <a:lstStyle/>
          <a:p>
            <a:fld id="{D5022DD7-B5A4-466E-81AE-CC5BD18E5D72}" type="slidenum">
              <a:rPr lang="zh-TW" altLang="en-US" smtClean="0"/>
              <a:t>43</a:t>
            </a:fld>
            <a:endParaRPr lang="zh-TW" altLang="en-US"/>
          </a:p>
        </p:txBody>
      </p:sp>
    </p:spTree>
    <p:extLst>
      <p:ext uri="{BB962C8B-B14F-4D97-AF65-F5344CB8AC3E}">
        <p14:creationId xmlns:p14="http://schemas.microsoft.com/office/powerpoint/2010/main" val="37918214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FB37D-99C2-7508-14D0-94ECE6B1891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ECD6EDD-5DD4-A8C9-284C-C1B5EFA7C72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D96747F-2D9F-9A12-A6CC-11ACFD39044C}"/>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81FC65E-C52B-1FDC-E30D-46008A2D7AAE}"/>
              </a:ext>
            </a:extLst>
          </p:cNvPr>
          <p:cNvSpPr>
            <a:spLocks noGrp="1"/>
          </p:cNvSpPr>
          <p:nvPr>
            <p:ph type="sldNum" sz="quarter" idx="5"/>
          </p:nvPr>
        </p:nvSpPr>
        <p:spPr/>
        <p:txBody>
          <a:bodyPr/>
          <a:lstStyle/>
          <a:p>
            <a:fld id="{D5022DD7-B5A4-466E-81AE-CC5BD18E5D72}" type="slidenum">
              <a:rPr lang="zh-TW" altLang="en-US" smtClean="0"/>
              <a:t>44</a:t>
            </a:fld>
            <a:endParaRPr lang="zh-TW" altLang="en-US"/>
          </a:p>
        </p:txBody>
      </p:sp>
    </p:spTree>
    <p:extLst>
      <p:ext uri="{BB962C8B-B14F-4D97-AF65-F5344CB8AC3E}">
        <p14:creationId xmlns:p14="http://schemas.microsoft.com/office/powerpoint/2010/main" val="289195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a:t>接下來是異常偵測架構設計，</a:t>
            </a:r>
            <a:r>
              <a:rPr lang="zh-TW" altLang="en-US" dirty="0"/>
              <a:t>建立了一個 </a:t>
            </a:r>
            <a:r>
              <a:rPr lang="zh-TW" altLang="en-US" b="1" dirty="0"/>
              <a:t>監控儀表板</a:t>
            </a:r>
            <a:r>
              <a:rPr lang="zh-TW" altLang="en-US" dirty="0"/>
              <a:t>，</a:t>
            </a:r>
            <a:br>
              <a:rPr lang="zh-TW" altLang="en-US" dirty="0"/>
            </a:br>
            <a:r>
              <a:rPr lang="zh-TW" altLang="en-US" dirty="0"/>
              <a:t>透過 </a:t>
            </a:r>
            <a:r>
              <a:rPr lang="en-US" altLang="zh-TW" dirty="0"/>
              <a:t>API </a:t>
            </a:r>
            <a:r>
              <a:rPr lang="zh-TW" altLang="en-US" dirty="0"/>
              <a:t>以「每分鐘」為單位更新資料，在儀表板上，我同時呈現了</a:t>
            </a:r>
            <a:r>
              <a:rPr lang="en-US" altLang="zh-TW" dirty="0"/>
              <a:t>3</a:t>
            </a:r>
            <a:r>
              <a:rPr lang="zh-TW" altLang="en-US" dirty="0"/>
              <a:t>條主要曲線：</a:t>
            </a:r>
            <a:br>
              <a:rPr lang="zh-TW" altLang="en-US" dirty="0"/>
            </a:br>
            <a:r>
              <a:rPr lang="zh-TW" altLang="en-US" dirty="0"/>
              <a:t>第一條是 </a:t>
            </a:r>
            <a:r>
              <a:rPr lang="zh-TW" altLang="en-US" b="1" dirty="0"/>
              <a:t>傳統方法（</a:t>
            </a:r>
            <a:r>
              <a:rPr lang="en-US" altLang="zh-TW" b="1" dirty="0"/>
              <a:t>EMA</a:t>
            </a:r>
            <a:r>
              <a:rPr lang="zh-TW" altLang="en-US" b="1" dirty="0"/>
              <a:t>）的預測結果</a:t>
            </a:r>
            <a:r>
              <a:rPr lang="zh-TW" altLang="en-US" dirty="0"/>
              <a:t>，第二條是 </a:t>
            </a:r>
            <a:r>
              <a:rPr lang="zh-TW" altLang="en-US" b="1" dirty="0"/>
              <a:t>機器學習模型的預測結果</a:t>
            </a:r>
            <a:r>
              <a:rPr lang="zh-TW" altLang="en-US" dirty="0"/>
              <a:t>，第三條是 </a:t>
            </a:r>
            <a:r>
              <a:rPr lang="zh-TW" altLang="en-US" b="1" dirty="0"/>
              <a:t>實際量測到的延遲曲線</a:t>
            </a:r>
            <a:r>
              <a:rPr lang="zh-TW" altLang="en-US" dirty="0"/>
              <a:t>，另外還有做</a:t>
            </a:r>
            <a:r>
              <a:rPr lang="zh-TW" altLang="en-US" b="1" dirty="0"/>
              <a:t>正常範圍的區間帶（</a:t>
            </a:r>
            <a:r>
              <a:rPr lang="en-US" altLang="zh-TW" b="1" dirty="0"/>
              <a:t>±3σ</a:t>
            </a:r>
            <a:r>
              <a:rPr lang="zh-TW" altLang="en-US" b="1" dirty="0"/>
              <a:t>）</a:t>
            </a:r>
            <a:r>
              <a:rPr lang="zh-TW" altLang="en-US" dirty="0"/>
              <a:t>。</a:t>
            </a:r>
            <a:endParaRPr lang="en-US" altLang="zh-TW" dirty="0"/>
          </a:p>
          <a:p>
            <a:r>
              <a:rPr lang="zh-TW" altLang="en-US" dirty="0"/>
              <a:t>右邊的架構圖可以看到，系統會從各微服務收集「實際延遲」與「預測延遲」，再經由 </a:t>
            </a:r>
            <a:r>
              <a:rPr lang="en-US" altLang="zh-TW" b="1" dirty="0"/>
              <a:t>API</a:t>
            </a:r>
            <a:r>
              <a:rPr lang="zh-TW" altLang="en-US" dirty="0"/>
              <a:t> 傳送到儀表板，形成一個能觀察與比較的監控介面。</a:t>
            </a:r>
            <a:endParaRPr lang="en-US" altLang="zh-TW" dirty="0"/>
          </a:p>
          <a:p>
            <a:r>
              <a:rPr lang="zh-TW" altLang="en-US" dirty="0"/>
              <a:t>這樣的設計讓我們可以直接觀察模型預測是否準確，以及在延遲異常發生時，能否觸發告警。</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45</a:t>
            </a:fld>
            <a:endParaRPr lang="zh-TW" altLang="en-US"/>
          </a:p>
        </p:txBody>
      </p:sp>
    </p:spTree>
    <p:extLst>
      <p:ext uri="{BB962C8B-B14F-4D97-AF65-F5344CB8AC3E}">
        <p14:creationId xmlns:p14="http://schemas.microsoft.com/office/powerpoint/2010/main" val="30936864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0CCAC-0983-7E15-500C-5A70EC66752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96D0A73-93C5-528B-55A2-1A233CED765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F77DE74-CC51-84D1-DA57-D16B297F828F}"/>
              </a:ext>
            </a:extLst>
          </p:cNvPr>
          <p:cNvSpPr>
            <a:spLocks noGrp="1"/>
          </p:cNvSpPr>
          <p:nvPr>
            <p:ph type="body" idx="1"/>
          </p:nvPr>
        </p:nvSpPr>
        <p:spPr/>
        <p:txBody>
          <a:bodyPr/>
          <a:lstStyle/>
          <a:p>
            <a:r>
              <a:rPr lang="zh-TW" altLang="en-US" dirty="0"/>
              <a:t>說明 </a:t>
            </a:r>
            <a:r>
              <a:rPr lang="zh-TW" altLang="en-US" b="1" dirty="0"/>
              <a:t>異常偵測的判斷機制與準確率評估方式，</a:t>
            </a:r>
            <a:r>
              <a:rPr lang="zh-TW" altLang="en-US" dirty="0"/>
              <a:t>在判斷機制上，本研究採用 </a:t>
            </a:r>
            <a:r>
              <a:rPr lang="zh-TW" altLang="en-US" b="1" dirty="0"/>
              <a:t>統計製程管制圖（</a:t>
            </a:r>
            <a:r>
              <a:rPr lang="en-US" altLang="zh-TW" b="1" dirty="0"/>
              <a:t>Control Chart</a:t>
            </a:r>
            <a:r>
              <a:rPr lang="zh-TW" altLang="en-US" b="1" dirty="0"/>
              <a:t>）</a:t>
            </a:r>
            <a:r>
              <a:rPr lang="zh-TW" altLang="en-US" dirty="0"/>
              <a:t> 作為依據。</a:t>
            </a:r>
            <a:endParaRPr lang="en-US" altLang="zh-TW" dirty="0"/>
          </a:p>
          <a:p>
            <a:r>
              <a:rPr lang="zh-TW" altLang="en-US" dirty="0"/>
              <a:t>依照企業實務常用的做法，以過去 </a:t>
            </a:r>
            <a:r>
              <a:rPr lang="en-US" altLang="zh-TW" dirty="0"/>
              <a:t>5 </a:t>
            </a:r>
            <a:r>
              <a:rPr lang="zh-TW" altLang="en-US" dirty="0"/>
              <a:t>分鐘的平均延遲為基準，並設定 </a:t>
            </a:r>
            <a:r>
              <a:rPr lang="en-US" altLang="zh-TW" dirty="0"/>
              <a:t>±3 </a:t>
            </a:r>
            <a:r>
              <a:rPr lang="zh-TW" altLang="en-US" dirty="0"/>
              <a:t>倍標準差（</a:t>
            </a:r>
            <a:r>
              <a:rPr lang="en-US" altLang="zh-TW" dirty="0"/>
              <a:t>3σ</a:t>
            </a:r>
            <a:r>
              <a:rPr lang="zh-TW" altLang="en-US" dirty="0"/>
              <a:t>）作為上下界限。</a:t>
            </a:r>
            <a:endParaRPr lang="en-US" altLang="zh-TW" dirty="0"/>
          </a:p>
          <a:p>
            <a:r>
              <a:rPr lang="zh-TW" altLang="en-US" dirty="0"/>
              <a:t>當模型預測的延遲超出這個範圍時，就會被視為「異常」，並觸發異常告警。</a:t>
            </a:r>
            <a:endParaRPr lang="en-US" altLang="zh-TW" dirty="0"/>
          </a:p>
          <a:p>
            <a:r>
              <a:rPr lang="zh-TW" altLang="en-US" dirty="0"/>
              <a:t>為了評估偵測結果的準確性，</a:t>
            </a:r>
            <a:br>
              <a:rPr lang="zh-TW" altLang="en-US" dirty="0"/>
            </a:br>
            <a:r>
              <a:rPr lang="zh-TW" altLang="en-US" dirty="0"/>
              <a:t>我們使用 </a:t>
            </a:r>
            <a:r>
              <a:rPr lang="zh-TW" altLang="en-US" b="1" dirty="0"/>
              <a:t>混淆矩陣（</a:t>
            </a:r>
            <a:r>
              <a:rPr lang="en-US" altLang="zh-TW" b="1" dirty="0"/>
              <a:t>Confusion Matrix</a:t>
            </a:r>
            <a:r>
              <a:rPr lang="zh-TW" altLang="en-US" b="1" dirty="0"/>
              <a:t>）</a:t>
            </a:r>
            <a:r>
              <a:rPr lang="zh-TW" altLang="en-US" dirty="0"/>
              <a:t> 作為分析工具，</a:t>
            </a:r>
            <a:br>
              <a:rPr lang="zh-TW" altLang="en-US" dirty="0"/>
            </a:br>
            <a:r>
              <a:rPr lang="zh-TW" altLang="en-US" dirty="0"/>
              <a:t>將結果分成四種類型：</a:t>
            </a:r>
            <a:endParaRPr lang="en-US" altLang="zh-TW" dirty="0"/>
          </a:p>
          <a:p>
            <a:r>
              <a:rPr lang="en-US" altLang="zh-TW" b="1" dirty="0"/>
              <a:t>TP</a:t>
            </a:r>
            <a:r>
              <a:rPr lang="zh-TW" altLang="en-US" b="1" dirty="0"/>
              <a:t>（</a:t>
            </a:r>
            <a:r>
              <a:rPr lang="en-US" altLang="zh-TW" b="1" dirty="0"/>
              <a:t>True Positive</a:t>
            </a:r>
            <a:r>
              <a:rPr lang="zh-TW" altLang="en-US" b="1" dirty="0"/>
              <a:t>）</a:t>
            </a:r>
            <a:r>
              <a:rPr lang="zh-TW" altLang="en-US" dirty="0"/>
              <a:t>：真實異常且成功發出告警。</a:t>
            </a:r>
          </a:p>
          <a:p>
            <a:r>
              <a:rPr lang="en-US" altLang="zh-TW" b="1" dirty="0"/>
              <a:t>FP</a:t>
            </a:r>
            <a:r>
              <a:rPr lang="zh-TW" altLang="en-US" b="1" dirty="0"/>
              <a:t>（</a:t>
            </a:r>
            <a:r>
              <a:rPr lang="en-US" altLang="zh-TW" b="1" dirty="0"/>
              <a:t>False Positive</a:t>
            </a:r>
            <a:r>
              <a:rPr lang="zh-TW" altLang="en-US" b="1" dirty="0"/>
              <a:t>）</a:t>
            </a:r>
            <a:r>
              <a:rPr lang="zh-TW" altLang="en-US" dirty="0"/>
              <a:t>：真實正常但被誤判為異常。</a:t>
            </a:r>
          </a:p>
          <a:p>
            <a:r>
              <a:rPr lang="en-US" altLang="zh-TW" b="1" dirty="0"/>
              <a:t>FN</a:t>
            </a:r>
            <a:r>
              <a:rPr lang="zh-TW" altLang="en-US" b="1" dirty="0"/>
              <a:t>（</a:t>
            </a:r>
            <a:r>
              <a:rPr lang="en-US" altLang="zh-TW" b="1" dirty="0"/>
              <a:t>False Negative</a:t>
            </a:r>
            <a:r>
              <a:rPr lang="zh-TW" altLang="en-US" b="1" dirty="0"/>
              <a:t>）</a:t>
            </a:r>
            <a:r>
              <a:rPr lang="zh-TW" altLang="en-US" dirty="0"/>
              <a:t>：真實異常但未被正確判斷。</a:t>
            </a:r>
          </a:p>
          <a:p>
            <a:r>
              <a:rPr lang="en-US" altLang="zh-TW" b="1" dirty="0"/>
              <a:t>TN</a:t>
            </a:r>
            <a:r>
              <a:rPr lang="zh-TW" altLang="en-US" b="1" dirty="0"/>
              <a:t>（</a:t>
            </a:r>
            <a:r>
              <a:rPr lang="en-US" altLang="zh-TW" b="1" dirty="0"/>
              <a:t>True Negative</a:t>
            </a:r>
            <a:r>
              <a:rPr lang="zh-TW" altLang="en-US" b="1" dirty="0"/>
              <a:t>）</a:t>
            </a:r>
            <a:r>
              <a:rPr lang="zh-TW" altLang="en-US" dirty="0"/>
              <a:t>：真實正常且未發出告警。</a:t>
            </a:r>
          </a:p>
          <a:p>
            <a:r>
              <a:rPr lang="zh-TW" altLang="en-US" dirty="0"/>
              <a:t>透過這四種分類，我們就能計算模型的準確率與警報判斷效能，作為後續比較的依據。</a:t>
            </a:r>
          </a:p>
        </p:txBody>
      </p:sp>
      <p:sp>
        <p:nvSpPr>
          <p:cNvPr id="4" name="投影片編號版面配置區 3">
            <a:extLst>
              <a:ext uri="{FF2B5EF4-FFF2-40B4-BE49-F238E27FC236}">
                <a16:creationId xmlns:a16="http://schemas.microsoft.com/office/drawing/2014/main" id="{22B9FBF3-B2DF-16E1-4E40-5B301C5646C9}"/>
              </a:ext>
            </a:extLst>
          </p:cNvPr>
          <p:cNvSpPr>
            <a:spLocks noGrp="1"/>
          </p:cNvSpPr>
          <p:nvPr>
            <p:ph type="sldNum" sz="quarter" idx="5"/>
          </p:nvPr>
        </p:nvSpPr>
        <p:spPr/>
        <p:txBody>
          <a:bodyPr/>
          <a:lstStyle/>
          <a:p>
            <a:fld id="{D5022DD7-B5A4-466E-81AE-CC5BD18E5D72}" type="slidenum">
              <a:rPr lang="zh-TW" altLang="en-US" smtClean="0"/>
              <a:t>46</a:t>
            </a:fld>
            <a:endParaRPr lang="zh-TW" altLang="en-US"/>
          </a:p>
        </p:txBody>
      </p:sp>
    </p:spTree>
    <p:extLst>
      <p:ext uri="{BB962C8B-B14F-4D97-AF65-F5344CB8AC3E}">
        <p14:creationId xmlns:p14="http://schemas.microsoft.com/office/powerpoint/2010/main" val="8400985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AAD4-684A-9B31-27FF-D3C12C267D2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07A3B89-2C96-508B-94B4-1FB15760CC3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530BF2F-FACA-9E73-4BCD-7BCA44D30DEF}"/>
              </a:ext>
            </a:extLst>
          </p:cNvPr>
          <p:cNvSpPr>
            <a:spLocks noGrp="1"/>
          </p:cNvSpPr>
          <p:nvPr>
            <p:ph type="body" idx="1"/>
          </p:nvPr>
        </p:nvSpPr>
        <p:spPr/>
        <p:txBody>
          <a:bodyPr/>
          <a:lstStyle/>
          <a:p>
            <a:r>
              <a:rPr lang="zh-TW" altLang="en-US" dirty="0"/>
              <a:t>這邊就是我們監控儀表板的圖</a:t>
            </a:r>
          </a:p>
        </p:txBody>
      </p:sp>
      <p:sp>
        <p:nvSpPr>
          <p:cNvPr id="4" name="投影片編號版面配置區 3">
            <a:extLst>
              <a:ext uri="{FF2B5EF4-FFF2-40B4-BE49-F238E27FC236}">
                <a16:creationId xmlns:a16="http://schemas.microsoft.com/office/drawing/2014/main" id="{D4DF91A8-F11A-69AF-ADEC-4A62FB325710}"/>
              </a:ext>
            </a:extLst>
          </p:cNvPr>
          <p:cNvSpPr>
            <a:spLocks noGrp="1"/>
          </p:cNvSpPr>
          <p:nvPr>
            <p:ph type="sldNum" sz="quarter" idx="5"/>
          </p:nvPr>
        </p:nvSpPr>
        <p:spPr/>
        <p:txBody>
          <a:bodyPr/>
          <a:lstStyle/>
          <a:p>
            <a:fld id="{D5022DD7-B5A4-466E-81AE-CC5BD18E5D72}" type="slidenum">
              <a:rPr lang="zh-TW" altLang="en-US" smtClean="0"/>
              <a:t>47</a:t>
            </a:fld>
            <a:endParaRPr lang="zh-TW" altLang="en-US"/>
          </a:p>
        </p:txBody>
      </p:sp>
    </p:spTree>
    <p:extLst>
      <p:ext uri="{BB962C8B-B14F-4D97-AF65-F5344CB8AC3E}">
        <p14:creationId xmlns:p14="http://schemas.microsoft.com/office/powerpoint/2010/main" val="28855814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E7539-3502-654F-5A1E-F9DE28AC4F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812EF65-98B3-A17B-F1C1-741FED32025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60C2457-0145-520D-F368-B57AE7B96EA4}"/>
              </a:ext>
            </a:extLst>
          </p:cNvPr>
          <p:cNvSpPr>
            <a:spLocks noGrp="1"/>
          </p:cNvSpPr>
          <p:nvPr>
            <p:ph type="body" idx="1"/>
          </p:nvPr>
        </p:nvSpPr>
        <p:spPr/>
        <p:txBody>
          <a:bodyPr/>
          <a:lstStyle/>
          <a:p>
            <a:r>
              <a:rPr lang="zh-TW" altLang="en-US" dirty="0"/>
              <a:t>這邊就是我們監控儀表板的圖，四個微服務都有做出畫面</a:t>
            </a:r>
          </a:p>
        </p:txBody>
      </p:sp>
      <p:sp>
        <p:nvSpPr>
          <p:cNvPr id="4" name="投影片編號版面配置區 3">
            <a:extLst>
              <a:ext uri="{FF2B5EF4-FFF2-40B4-BE49-F238E27FC236}">
                <a16:creationId xmlns:a16="http://schemas.microsoft.com/office/drawing/2014/main" id="{926EFA6D-5375-C5EC-5529-AA8B022FC60D}"/>
              </a:ext>
            </a:extLst>
          </p:cNvPr>
          <p:cNvSpPr>
            <a:spLocks noGrp="1"/>
          </p:cNvSpPr>
          <p:nvPr>
            <p:ph type="sldNum" sz="quarter" idx="5"/>
          </p:nvPr>
        </p:nvSpPr>
        <p:spPr/>
        <p:txBody>
          <a:bodyPr/>
          <a:lstStyle/>
          <a:p>
            <a:fld id="{D5022DD7-B5A4-466E-81AE-CC5BD18E5D72}" type="slidenum">
              <a:rPr lang="zh-TW" altLang="en-US" smtClean="0"/>
              <a:t>48</a:t>
            </a:fld>
            <a:endParaRPr lang="zh-TW" altLang="en-US"/>
          </a:p>
        </p:txBody>
      </p:sp>
    </p:spTree>
    <p:extLst>
      <p:ext uri="{BB962C8B-B14F-4D97-AF65-F5344CB8AC3E}">
        <p14:creationId xmlns:p14="http://schemas.microsoft.com/office/powerpoint/2010/main" val="36310525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0CCAC-0983-7E15-500C-5A70EC66752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96D0A73-93C5-528B-55A2-1A233CED765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F77DE74-CC51-84D1-DA57-D16B297F828F}"/>
              </a:ext>
            </a:extLst>
          </p:cNvPr>
          <p:cNvSpPr>
            <a:spLocks noGrp="1"/>
          </p:cNvSpPr>
          <p:nvPr>
            <p:ph type="body" idx="1"/>
          </p:nvPr>
        </p:nvSpPr>
        <p:spPr/>
        <p:txBody>
          <a:bodyPr/>
          <a:lstStyle/>
          <a:p>
            <a:r>
              <a:rPr lang="zh-TW" altLang="en-US" dirty="0"/>
              <a:t>從結果可以看到，</a:t>
            </a:r>
            <a:r>
              <a:rPr lang="zh-TW" altLang="en-US" b="1" dirty="0"/>
              <a:t>機器學習模型在異常偵測準確率上明顯優於傳統方法，</a:t>
            </a:r>
            <a:r>
              <a:rPr lang="zh-TW" altLang="en-US" dirty="0"/>
              <a:t>首先，成功預測異常的次數（</a:t>
            </a:r>
            <a:r>
              <a:rPr lang="en-US" altLang="zh-TW" dirty="0"/>
              <a:t>TP</a:t>
            </a:r>
            <a:r>
              <a:rPr lang="zh-TW" altLang="en-US" dirty="0"/>
              <a:t>）由傳統方法的 </a:t>
            </a:r>
            <a:r>
              <a:rPr lang="en-US" altLang="zh-TW" b="1" dirty="0"/>
              <a:t>966 </a:t>
            </a:r>
            <a:r>
              <a:rPr lang="zh-TW" altLang="en-US" b="1" dirty="0"/>
              <a:t>次提升到 </a:t>
            </a:r>
            <a:r>
              <a:rPr lang="en-US" altLang="zh-TW" b="1" dirty="0"/>
              <a:t>1,318 </a:t>
            </a:r>
            <a:r>
              <a:rPr lang="zh-TW" altLang="en-US" b="1" dirty="0"/>
              <a:t>次</a:t>
            </a:r>
            <a:r>
              <a:rPr lang="zh-TW" altLang="en-US" dirty="0"/>
              <a:t>，提升幅度約 </a:t>
            </a:r>
            <a:r>
              <a:rPr lang="en-US" altLang="zh-TW" b="1" dirty="0"/>
              <a:t>36%</a:t>
            </a:r>
            <a:r>
              <a:rPr lang="zh-TW" altLang="en-US" dirty="0"/>
              <a:t>。</a:t>
            </a:r>
            <a:endParaRPr lang="en-US" altLang="zh-TW" dirty="0"/>
          </a:p>
          <a:p>
            <a:r>
              <a:rPr lang="zh-TW" altLang="en-US" dirty="0"/>
              <a:t>漏報異常（</a:t>
            </a:r>
            <a:r>
              <a:rPr lang="en-US" altLang="zh-TW" dirty="0"/>
              <a:t>FN</a:t>
            </a:r>
            <a:r>
              <a:rPr lang="zh-TW" altLang="en-US" dirty="0"/>
              <a:t>）由 </a:t>
            </a:r>
            <a:r>
              <a:rPr lang="en-US" altLang="zh-TW" b="1" dirty="0"/>
              <a:t>971 </a:t>
            </a:r>
            <a:r>
              <a:rPr lang="zh-TW" altLang="en-US" b="1" dirty="0"/>
              <a:t>次下降到 </a:t>
            </a:r>
            <a:r>
              <a:rPr lang="en-US" altLang="zh-TW" b="1" dirty="0"/>
              <a:t>439 </a:t>
            </a:r>
            <a:r>
              <a:rPr lang="zh-TW" altLang="en-US" b="1" dirty="0"/>
              <a:t>次</a:t>
            </a:r>
            <a:r>
              <a:rPr lang="zh-TW" altLang="en-US" dirty="0"/>
              <a:t>，減少幅度約 </a:t>
            </a:r>
            <a:r>
              <a:rPr lang="en-US" altLang="zh-TW" b="1" dirty="0"/>
              <a:t>55%</a:t>
            </a:r>
            <a:r>
              <a:rPr lang="zh-TW" altLang="en-US" dirty="0"/>
              <a:t>，代表模型能更有效地捕捉到真實異常情況。</a:t>
            </a:r>
            <a:endParaRPr lang="en-US" altLang="zh-TW" dirty="0"/>
          </a:p>
          <a:p>
            <a:r>
              <a:rPr lang="zh-TW" altLang="en-US" dirty="0"/>
              <a:t>誤報數（</a:t>
            </a:r>
            <a:r>
              <a:rPr lang="en-US" altLang="zh-TW" dirty="0"/>
              <a:t>FP</a:t>
            </a:r>
            <a:r>
              <a:rPr lang="zh-TW" altLang="en-US" dirty="0"/>
              <a:t>）也由 </a:t>
            </a:r>
            <a:r>
              <a:rPr lang="en-US" altLang="zh-TW" b="1" dirty="0"/>
              <a:t>192 </a:t>
            </a:r>
            <a:r>
              <a:rPr lang="zh-TW" altLang="en-US" b="1" dirty="0"/>
              <a:t>次下降到 </a:t>
            </a:r>
            <a:r>
              <a:rPr lang="en-US" altLang="zh-TW" b="1" dirty="0"/>
              <a:t>96 </a:t>
            </a:r>
            <a:r>
              <a:rPr lang="zh-TW" altLang="en-US" b="1" dirty="0"/>
              <a:t>次</a:t>
            </a:r>
            <a:r>
              <a:rPr lang="zh-TW" altLang="en-US" dirty="0"/>
              <a:t>，下降幅度達 </a:t>
            </a:r>
            <a:r>
              <a:rPr lang="en-US" altLang="zh-TW" b="1" dirty="0"/>
              <a:t>50%</a:t>
            </a:r>
            <a:r>
              <a:rPr lang="zh-TW" altLang="en-US" dirty="0"/>
              <a:t>，顯示模型的判斷更精準，不容易誤觸警報。</a:t>
            </a:r>
            <a:endParaRPr lang="en-US" altLang="zh-TW" dirty="0"/>
          </a:p>
          <a:p>
            <a:r>
              <a:rPr lang="zh-TW" altLang="en-US" dirty="0"/>
              <a:t>綜合來看，整體準確率（</a:t>
            </a:r>
            <a:r>
              <a:rPr lang="en-US" altLang="zh-TW" dirty="0"/>
              <a:t>Accuracy</a:t>
            </a:r>
            <a:r>
              <a:rPr lang="zh-TW" altLang="en-US" dirty="0"/>
              <a:t>）由 </a:t>
            </a:r>
            <a:r>
              <a:rPr lang="en-US" altLang="zh-TW" b="1" dirty="0"/>
              <a:t>79.81% </a:t>
            </a:r>
            <a:r>
              <a:rPr lang="zh-TW" altLang="en-US" b="1" dirty="0"/>
              <a:t>提升到 </a:t>
            </a:r>
            <a:r>
              <a:rPr lang="en-US" altLang="zh-TW" b="1" dirty="0"/>
              <a:t>90.71%</a:t>
            </a:r>
            <a:r>
              <a:rPr lang="zh-TW" altLang="en-US" dirty="0"/>
              <a:t>，顯示在整體偵測上都有顯著改善。</a:t>
            </a:r>
            <a:endParaRPr lang="en-US" altLang="zh-TW" dirty="0"/>
          </a:p>
          <a:p>
            <a:r>
              <a:rPr lang="zh-TW" altLang="en-US" dirty="0"/>
              <a:t>因此，本研究提出的機器學習模型不僅能更準確預測延遲，也能有效提升異常告警的可靠度。</a:t>
            </a:r>
          </a:p>
        </p:txBody>
      </p:sp>
      <p:sp>
        <p:nvSpPr>
          <p:cNvPr id="4" name="投影片編號版面配置區 3">
            <a:extLst>
              <a:ext uri="{FF2B5EF4-FFF2-40B4-BE49-F238E27FC236}">
                <a16:creationId xmlns:a16="http://schemas.microsoft.com/office/drawing/2014/main" id="{22B9FBF3-B2DF-16E1-4E40-5B301C5646C9}"/>
              </a:ext>
            </a:extLst>
          </p:cNvPr>
          <p:cNvSpPr>
            <a:spLocks noGrp="1"/>
          </p:cNvSpPr>
          <p:nvPr>
            <p:ph type="sldNum" sz="quarter" idx="5"/>
          </p:nvPr>
        </p:nvSpPr>
        <p:spPr/>
        <p:txBody>
          <a:bodyPr/>
          <a:lstStyle/>
          <a:p>
            <a:fld id="{D5022DD7-B5A4-466E-81AE-CC5BD18E5D72}" type="slidenum">
              <a:rPr lang="zh-TW" altLang="en-US" smtClean="0"/>
              <a:t>49</a:t>
            </a:fld>
            <a:endParaRPr lang="zh-TW" altLang="en-US"/>
          </a:p>
        </p:txBody>
      </p:sp>
    </p:spTree>
    <p:extLst>
      <p:ext uri="{BB962C8B-B14F-4D97-AF65-F5344CB8AC3E}">
        <p14:creationId xmlns:p14="http://schemas.microsoft.com/office/powerpoint/2010/main" val="12534094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最後本研究的</a:t>
            </a:r>
            <a:r>
              <a:rPr lang="zh-TW" altLang="en-US" b="1" dirty="0"/>
              <a:t>結論有以下幾點</a:t>
            </a:r>
            <a:r>
              <a:rPr lang="en-US" altLang="zh-TW" b="1" dirty="0"/>
              <a:t>:</a:t>
            </a:r>
          </a:p>
          <a:p>
            <a:r>
              <a:rPr lang="zh-TW" altLang="en-US" dirty="0"/>
              <a:t>第一，建構了以 </a:t>
            </a:r>
            <a:r>
              <a:rPr lang="en-US" altLang="zh-TW" b="1" dirty="0" err="1"/>
              <a:t>XGBoost</a:t>
            </a:r>
            <a:r>
              <a:rPr lang="en-US" altLang="zh-TW" b="1" dirty="0"/>
              <a:t> </a:t>
            </a:r>
            <a:r>
              <a:rPr lang="zh-TW" altLang="en-US" b="1" dirty="0"/>
              <a:t>為核心的延遲預測</a:t>
            </a:r>
            <a:r>
              <a:rPr lang="zh-TW" altLang="en-US" sz="1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a:t>
            </a:r>
            <a:r>
              <a:rPr lang="zh-TW" altLang="en-US" dirty="0"/>
              <a:t>，能有效反映微服務系統在不同情境下的效能行為。</a:t>
            </a:r>
            <a:endParaRPr lang="en-US" altLang="zh-TW" dirty="0"/>
          </a:p>
          <a:p>
            <a:r>
              <a:rPr lang="zh-TW" altLang="en-US" dirty="0"/>
              <a:t>第二，在特徵設計上，</a:t>
            </a:r>
            <a:r>
              <a:rPr lang="zh-TW" altLang="en-US" b="1" dirty="0"/>
              <a:t>濃縮特徵（</a:t>
            </a:r>
            <a:r>
              <a:rPr lang="en-US" altLang="zh-TW" b="1" dirty="0"/>
              <a:t>81 </a:t>
            </a:r>
            <a:r>
              <a:rPr lang="zh-TW" altLang="en-US" b="1" dirty="0"/>
              <a:t>維）</a:t>
            </a:r>
            <a:r>
              <a:rPr lang="zh-TW" altLang="en-US" dirty="0"/>
              <a:t> 的整體表現優於傳統文獻中常見的展開式設計（</a:t>
            </a:r>
            <a:r>
              <a:rPr lang="en-US" altLang="zh-TW" dirty="0"/>
              <a:t>308 </a:t>
            </a:r>
            <a:r>
              <a:rPr lang="zh-TW" altLang="en-US" dirty="0"/>
              <a:t>維），證明核心延遲特徵結合服務識別即可支撐預測任務，同時也能降低訓練成本並提升穩定性。</a:t>
            </a:r>
            <a:endParaRPr lang="en-US" altLang="zh-TW" dirty="0"/>
          </a:p>
          <a:p>
            <a:r>
              <a:rPr lang="zh-TW" altLang="en-US" dirty="0"/>
              <a:t>第三，在模型評估上，本研究提出新的指標</a:t>
            </a:r>
            <a:r>
              <a:rPr lang="en-US" altLang="zh-TW" dirty="0"/>
              <a:t>——</a:t>
            </a:r>
            <a:r>
              <a:rPr lang="en-US" altLang="zh-TW" b="1" dirty="0"/>
              <a:t>RPS</a:t>
            </a:r>
            <a:r>
              <a:rPr lang="zh-TW" altLang="en-US" b="1" dirty="0"/>
              <a:t>（強健百分位評分）</a:t>
            </a:r>
            <a:r>
              <a:rPr lang="zh-TW" altLang="en-US" dirty="0"/>
              <a:t>，能整合多個百分位數的延遲誤差，更全面地呈現模型在不同誤差區間的整體表現。</a:t>
            </a:r>
            <a:endParaRPr lang="en-US" altLang="zh-TW" dirty="0"/>
          </a:p>
          <a:p>
            <a:r>
              <a:rPr lang="zh-TW" altLang="en-US" dirty="0"/>
              <a:t>最後，在實務應用層面上，延遲預測結果可作為維運人員的決策依據，協助辨識潛在效能瓶頸並提供即時告警，對於提升系統的穩定性與可靠性都有實質助益。</a:t>
            </a:r>
            <a:endParaRPr lang="en-US" altLang="zh-TW" b="1" dirty="0"/>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50</a:t>
            </a:fld>
            <a:endParaRPr lang="zh-TW" altLang="en-US"/>
          </a:p>
        </p:txBody>
      </p:sp>
    </p:spTree>
    <p:extLst>
      <p:ext uri="{BB962C8B-B14F-4D97-AF65-F5344CB8AC3E}">
        <p14:creationId xmlns:p14="http://schemas.microsoft.com/office/powerpoint/2010/main" val="4980575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最後是本研究的 </a:t>
            </a:r>
            <a:r>
              <a:rPr lang="zh-TW" altLang="en-US" b="1" dirty="0"/>
              <a:t>未來研究方向</a:t>
            </a:r>
            <a:r>
              <a:rPr lang="zh-TW" altLang="en-US" dirty="0"/>
              <a:t>。</a:t>
            </a:r>
            <a:endParaRPr lang="en-US" altLang="zh-TW" dirty="0"/>
          </a:p>
          <a:p>
            <a:r>
              <a:rPr lang="zh-TW" altLang="en-US" dirty="0"/>
              <a:t>首先，未來可以</a:t>
            </a:r>
            <a:r>
              <a:rPr lang="zh-TW" altLang="en-US" b="1" dirty="0"/>
              <a:t>持續收集更長期的運行資料</a:t>
            </a:r>
            <a:r>
              <a:rPr lang="zh-TW" altLang="en-US" dirty="0"/>
              <a:t>，進一步驗證模型在長期部署下的穩定性與適應性。</a:t>
            </a:r>
          </a:p>
          <a:p>
            <a:r>
              <a:rPr lang="zh-TW" altLang="en-US" dirty="0"/>
              <a:t>第二，建立</a:t>
            </a:r>
            <a:r>
              <a:rPr lang="zh-TW" altLang="en-US" b="1" dirty="0"/>
              <a:t>自動化的模型更新機制</a:t>
            </a:r>
            <a:r>
              <a:rPr lang="zh-TW" altLang="en-US" dirty="0"/>
              <a:t>，讓系統在環境或負載變化時，能持續維持延遲預測的穩定性。</a:t>
            </a:r>
          </a:p>
          <a:p>
            <a:r>
              <a:rPr lang="zh-TW" altLang="en-US" dirty="0"/>
              <a:t>第三，可以</a:t>
            </a:r>
            <a:r>
              <a:rPr lang="zh-TW" altLang="en-US" b="1" dirty="0"/>
              <a:t>嘗試模擬不同系統或不同負載情境</a:t>
            </a:r>
            <a:r>
              <a:rPr lang="zh-TW" altLang="en-US" dirty="0"/>
              <a:t>，觀察模型在多樣化工作條件下的泛化能力與適用性。</a:t>
            </a:r>
          </a:p>
          <a:p>
            <a:r>
              <a:rPr lang="zh-TW" altLang="en-US" dirty="0"/>
              <a:t>第四，除了核心延遲相關特徵之外，未來也能</a:t>
            </a:r>
            <a:r>
              <a:rPr lang="zh-TW" altLang="en-US" b="1" dirty="0"/>
              <a:t>引入更多動態行為特徵</a:t>
            </a:r>
            <a:r>
              <a:rPr lang="zh-TW" altLang="en-US" dirty="0"/>
              <a:t>，例如請求分佈、服務間依賴關係等，進一步提升模型對延遲變化的敏感度與準確度。</a:t>
            </a:r>
          </a:p>
          <a:p>
            <a:r>
              <a:rPr lang="zh-TW" altLang="en-US" dirty="0"/>
              <a:t>最後，針對本研究提出的 </a:t>
            </a:r>
            <a:r>
              <a:rPr lang="en-US" altLang="zh-TW" b="1" dirty="0"/>
              <a:t>RPS </a:t>
            </a:r>
            <a:r>
              <a:rPr lang="zh-TW" altLang="en-US" b="1" dirty="0"/>
              <a:t>評估指標</a:t>
            </a:r>
            <a:r>
              <a:rPr lang="zh-TW" altLang="en-US" dirty="0"/>
              <a:t>，未來可依不同應用場景調整權重配置，並驗證這些設定對模型評估結果的影響。</a:t>
            </a:r>
          </a:p>
          <a:p>
            <a:endParaRPr lang="zh-TW" altLang="en-US" dirty="0"/>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51</a:t>
            </a:fld>
            <a:endParaRPr lang="zh-TW" altLang="en-US"/>
          </a:p>
        </p:txBody>
      </p:sp>
    </p:spTree>
    <p:extLst>
      <p:ext uri="{BB962C8B-B14F-4D97-AF65-F5344CB8AC3E}">
        <p14:creationId xmlns:p14="http://schemas.microsoft.com/office/powerpoint/2010/main" val="41194323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以上是我的報告，謝謝各位的聆聽。</a:t>
            </a:r>
          </a:p>
        </p:txBody>
      </p:sp>
      <p:sp>
        <p:nvSpPr>
          <p:cNvPr id="4" name="投影片編號版面配置區 3"/>
          <p:cNvSpPr>
            <a:spLocks noGrp="1"/>
          </p:cNvSpPr>
          <p:nvPr>
            <p:ph type="sldNum" sz="quarter" idx="5"/>
          </p:nvPr>
        </p:nvSpPr>
        <p:spPr/>
        <p:txBody>
          <a:bodyPr/>
          <a:lstStyle/>
          <a:p>
            <a:fld id="{D5022DD7-B5A4-466E-81AE-CC5BD18E5D72}" type="slidenum">
              <a:rPr lang="zh-TW" altLang="en-US" smtClean="0"/>
              <a:t>52</a:t>
            </a:fld>
            <a:endParaRPr lang="zh-TW" altLang="en-US"/>
          </a:p>
        </p:txBody>
      </p:sp>
    </p:spTree>
    <p:extLst>
      <p:ext uri="{BB962C8B-B14F-4D97-AF65-F5344CB8AC3E}">
        <p14:creationId xmlns:p14="http://schemas.microsoft.com/office/powerpoint/2010/main" val="2240706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2A2EDA-367F-44B8-9CCE-6FD055C09F6E}" type="datetime1">
              <a:rPr lang="en-US" altLang="zh-TW"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2EBFF-0949-481B-BD7B-4045F4946728}" type="datetime1">
              <a:rPr lang="en-US" altLang="zh-TW"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10505B-4AEB-4311-A276-4EFE1D950804}" type="datetime1">
              <a:rPr lang="en-US" altLang="zh-TW"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10C2EE-4BA0-469D-A049-485B2BF8CC0C}" type="datetime1">
              <a:rPr lang="en-US" altLang="zh-TW"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5F522DA-83D2-4719-990F-7BC1049071B8}" type="datetime1">
              <a:rPr lang="en-US" altLang="zh-TW" smtClean="0"/>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91126DA-7CEA-4C77-A941-1D2056D7880B}" type="datetime1">
              <a:rPr lang="en-US" altLang="zh-TW" smtClean="0"/>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圖片 4" descr="一張含有 正方形, 螢幕擷取畫面, 樣式, 對稱 的圖片">
            <a:extLst>
              <a:ext uri="{FF2B5EF4-FFF2-40B4-BE49-F238E27FC236}">
                <a16:creationId xmlns:a16="http://schemas.microsoft.com/office/drawing/2014/main" id="{05B6D5DA-7ED4-EAC9-6EF0-AF57CAFE6B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104"/>
            <a:ext cx="18288000" cy="9944792"/>
          </a:xfrm>
          <a:prstGeom prst="rect">
            <a:avLst/>
          </a:prstGeom>
        </p:spPr>
      </p:pic>
      <p:sp>
        <p:nvSpPr>
          <p:cNvPr id="2" name="Date Placeholder 1"/>
          <p:cNvSpPr>
            <a:spLocks noGrp="1"/>
          </p:cNvSpPr>
          <p:nvPr>
            <p:ph type="dt" sz="half" idx="10"/>
          </p:nvPr>
        </p:nvSpPr>
        <p:spPr/>
        <p:txBody>
          <a:bodyPr/>
          <a:lstStyle/>
          <a:p>
            <a:fld id="{9552E4CE-425D-44FF-B396-9B159D9EBEF1}" type="datetime1">
              <a:rPr lang="en-US" altLang="zh-TW" smtClean="0"/>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6154400" y="9622094"/>
            <a:ext cx="2133600" cy="365125"/>
          </a:xfrm>
        </p:spPr>
        <p:txBody>
          <a:bodyPr/>
          <a:lstStyle>
            <a:lvl1pPr>
              <a:defRPr sz="3600">
                <a:solidFill>
                  <a:schemeClr val="tx2"/>
                </a:solidFill>
                <a:latin typeface="Times New Roman" panose="02020603050405020304" pitchFamily="18" charset="0"/>
                <a:cs typeface="Times New Roman" panose="02020603050405020304"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2B2C43-A61C-4B4A-AB1A-28D3E97B89F6}" type="datetime1">
              <a:rPr lang="en-US" altLang="zh-TW"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04FA01-6EDD-47DD-9B2F-F9FDA541B994}" type="datetime1">
              <a:rPr lang="en-US" altLang="zh-TW"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BE1A2F-E00E-42B8-BAC0-3FCCC245E343}" type="datetime1">
              <a:rPr lang="en-US" altLang="zh-TW"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DD17FD-D7A2-49D4-8604-8FB8DCD85EC1}" type="datetime1">
              <a:rPr lang="en-US" altLang="zh-TW"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C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3BAF7D-12D6-4A2C-87BB-9BC2DCE9A238}" type="datetime1">
              <a:rPr lang="en-US" altLang="zh-TW" smtClean="0"/>
              <a:t>10/16/2025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2.png"/><Relationship Id="rId7" Type="http://schemas.openxmlformats.org/officeDocument/2006/relationships/diagramData" Target="../diagrams/data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svg"/><Relationship Id="rId11" Type="http://schemas.microsoft.com/office/2007/relationships/diagramDrawing" Target="../diagrams/drawing1.xml"/><Relationship Id="rId5" Type="http://schemas.openxmlformats.org/officeDocument/2006/relationships/image" Target="../media/image8.png"/><Relationship Id="rId10" Type="http://schemas.openxmlformats.org/officeDocument/2006/relationships/diagramColors" Target="../diagrams/colors1.xml"/><Relationship Id="rId4" Type="http://schemas.openxmlformats.org/officeDocument/2006/relationships/image" Target="../media/image3.svg"/><Relationship Id="rId9"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sv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pn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sv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2.png"/><Relationship Id="rId7" Type="http://schemas.openxmlformats.org/officeDocument/2006/relationships/diagramQuickStyle" Target="../diagrams/quickStyle4.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3.svg"/><Relationship Id="rId9" Type="http://schemas.microsoft.com/office/2007/relationships/diagramDrawing" Target="../diagrams/drawing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2.png"/><Relationship Id="rId7" Type="http://schemas.openxmlformats.org/officeDocument/2006/relationships/diagramLayout" Target="../diagrams/layout5.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Data" Target="../diagrams/data5.xml"/><Relationship Id="rId5" Type="http://schemas.openxmlformats.org/officeDocument/2006/relationships/image" Target="../media/image10.png"/><Relationship Id="rId10" Type="http://schemas.microsoft.com/office/2007/relationships/diagramDrawing" Target="../diagrams/drawing5.xml"/><Relationship Id="rId4" Type="http://schemas.openxmlformats.org/officeDocument/2006/relationships/image" Target="../media/image3.svg"/><Relationship Id="rId9" Type="http://schemas.openxmlformats.org/officeDocument/2006/relationships/diagramColors" Target="../diagrams/colors5.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2.png"/><Relationship Id="rId7" Type="http://schemas.openxmlformats.org/officeDocument/2006/relationships/diagramLayout" Target="../diagrams/layout6.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Data" Target="../diagrams/data6.xml"/><Relationship Id="rId5" Type="http://schemas.openxmlformats.org/officeDocument/2006/relationships/image" Target="../media/image11.png"/><Relationship Id="rId10" Type="http://schemas.microsoft.com/office/2007/relationships/diagramDrawing" Target="../diagrams/drawing6.xml"/><Relationship Id="rId4" Type="http://schemas.openxmlformats.org/officeDocument/2006/relationships/image" Target="../media/image3.svg"/><Relationship Id="rId9" Type="http://schemas.openxmlformats.org/officeDocument/2006/relationships/diagramColors" Target="../diagrams/colors6.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image" Target="../media/image2.png"/><Relationship Id="rId7" Type="http://schemas.openxmlformats.org/officeDocument/2006/relationships/diagramData" Target="../diagrams/data7.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emf"/><Relationship Id="rId11" Type="http://schemas.microsoft.com/office/2007/relationships/diagramDrawing" Target="../diagrams/drawing7.xml"/><Relationship Id="rId5" Type="http://schemas.openxmlformats.org/officeDocument/2006/relationships/package" Target="../embeddings/Microsoft_Word_Document.docx"/><Relationship Id="rId10" Type="http://schemas.openxmlformats.org/officeDocument/2006/relationships/diagramColors" Target="../diagrams/colors7.xml"/><Relationship Id="rId4" Type="http://schemas.openxmlformats.org/officeDocument/2006/relationships/image" Target="../media/image3.svg"/><Relationship Id="rId9"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8" Type="http://schemas.openxmlformats.org/officeDocument/2006/relationships/diagramQuickStyle" Target="../diagrams/quickStyle8.xml"/><Relationship Id="rId3" Type="http://schemas.openxmlformats.org/officeDocument/2006/relationships/image" Target="../media/image2.png"/><Relationship Id="rId7" Type="http://schemas.openxmlformats.org/officeDocument/2006/relationships/diagramLayout" Target="../diagrams/layout8.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Data" Target="../diagrams/data8.xml"/><Relationship Id="rId5" Type="http://schemas.openxmlformats.org/officeDocument/2006/relationships/image" Target="../media/image13.png"/><Relationship Id="rId10" Type="http://schemas.microsoft.com/office/2007/relationships/diagramDrawing" Target="../diagrams/drawing8.xml"/><Relationship Id="rId4" Type="http://schemas.openxmlformats.org/officeDocument/2006/relationships/image" Target="../media/image3.svg"/><Relationship Id="rId9" Type="http://schemas.openxmlformats.org/officeDocument/2006/relationships/diagramColors" Target="../diagrams/colors8.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2.png"/><Relationship Id="rId7" Type="http://schemas.openxmlformats.org/officeDocument/2006/relationships/diagramQuickStyle" Target="../diagrams/quickStyle9.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3.svg"/><Relationship Id="rId9" Type="http://schemas.microsoft.com/office/2007/relationships/diagramDrawing" Target="../diagrams/drawing9.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2.png"/><Relationship Id="rId7" Type="http://schemas.openxmlformats.org/officeDocument/2006/relationships/diagramQuickStyle" Target="../diagrams/quickStyle10.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3.svg"/><Relationship Id="rId9" Type="http://schemas.microsoft.com/office/2007/relationships/diagramDrawing" Target="../diagrams/drawing10.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2.png"/><Relationship Id="rId7" Type="http://schemas.openxmlformats.org/officeDocument/2006/relationships/diagramQuickStyle" Target="../diagrams/quickStyle11.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3.svg"/><Relationship Id="rId9" Type="http://schemas.microsoft.com/office/2007/relationships/diagramDrawing" Target="../diagrams/drawing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2.png"/><Relationship Id="rId7" Type="http://schemas.openxmlformats.org/officeDocument/2006/relationships/diagramQuickStyle" Target="../diagrams/quickStyle12.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3.svg"/><Relationship Id="rId9" Type="http://schemas.microsoft.com/office/2007/relationships/diagramDrawing" Target="../diagrams/drawing12.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2.png"/><Relationship Id="rId7" Type="http://schemas.openxmlformats.org/officeDocument/2006/relationships/diagramQuickStyle" Target="../diagrams/quickStyle13.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3.svg"/><Relationship Id="rId9" Type="http://schemas.microsoft.com/office/2007/relationships/diagramDrawing" Target="../diagrams/drawing13.xml"/></Relationships>
</file>

<file path=ppt/slides/_rels/slide20.xml.rels><?xml version="1.0" encoding="UTF-8" standalone="yes"?>
<Relationships xmlns="http://schemas.openxmlformats.org/package/2006/relationships"><Relationship Id="rId8" Type="http://schemas.openxmlformats.org/officeDocument/2006/relationships/diagramQuickStyle" Target="../diagrams/quickStyle14.xml"/><Relationship Id="rId3" Type="http://schemas.openxmlformats.org/officeDocument/2006/relationships/image" Target="../media/image2.png"/><Relationship Id="rId7" Type="http://schemas.openxmlformats.org/officeDocument/2006/relationships/diagramLayout" Target="../diagrams/layout14.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diagramData" Target="../diagrams/data14.xml"/><Relationship Id="rId5" Type="http://schemas.openxmlformats.org/officeDocument/2006/relationships/image" Target="../media/image15.emf"/><Relationship Id="rId10" Type="http://schemas.microsoft.com/office/2007/relationships/diagramDrawing" Target="../diagrams/drawing14.xml"/><Relationship Id="rId4" Type="http://schemas.openxmlformats.org/officeDocument/2006/relationships/image" Target="../media/image3.svg"/><Relationship Id="rId9" Type="http://schemas.openxmlformats.org/officeDocument/2006/relationships/diagramColors" Target="../diagrams/colors14.xml"/></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2.png"/><Relationship Id="rId7" Type="http://schemas.openxmlformats.org/officeDocument/2006/relationships/diagramQuickStyle" Target="../diagrams/quickStyle15.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3.svg"/><Relationship Id="rId9" Type="http://schemas.microsoft.com/office/2007/relationships/diagramDrawing" Target="../diagrams/drawing15.xml"/></Relationships>
</file>

<file path=ppt/slides/_rels/slide22.xml.rels><?xml version="1.0" encoding="UTF-8" standalone="yes"?>
<Relationships xmlns="http://schemas.openxmlformats.org/package/2006/relationships"><Relationship Id="rId8" Type="http://schemas.openxmlformats.org/officeDocument/2006/relationships/diagramQuickStyle" Target="../diagrams/quickStyle16.xml"/><Relationship Id="rId3" Type="http://schemas.openxmlformats.org/officeDocument/2006/relationships/image" Target="../media/image2.png"/><Relationship Id="rId7" Type="http://schemas.openxmlformats.org/officeDocument/2006/relationships/diagramLayout" Target="../diagrams/layout16.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Data" Target="../diagrams/data16.xml"/><Relationship Id="rId5" Type="http://schemas.openxmlformats.org/officeDocument/2006/relationships/image" Target="../media/image16.png"/><Relationship Id="rId10" Type="http://schemas.microsoft.com/office/2007/relationships/diagramDrawing" Target="../diagrams/drawing16.xml"/><Relationship Id="rId4" Type="http://schemas.openxmlformats.org/officeDocument/2006/relationships/image" Target="../media/image3.svg"/><Relationship Id="rId9" Type="http://schemas.openxmlformats.org/officeDocument/2006/relationships/diagramColors" Target="../diagrams/colors1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17.xml"/><Relationship Id="rId3" Type="http://schemas.openxmlformats.org/officeDocument/2006/relationships/image" Target="../media/image2.png"/><Relationship Id="rId7" Type="http://schemas.openxmlformats.org/officeDocument/2006/relationships/diagramQuickStyle" Target="../diagrams/quickStyle17.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Layout" Target="../diagrams/layout17.xml"/><Relationship Id="rId5" Type="http://schemas.openxmlformats.org/officeDocument/2006/relationships/diagramData" Target="../diagrams/data17.xml"/><Relationship Id="rId4" Type="http://schemas.openxmlformats.org/officeDocument/2006/relationships/image" Target="../media/image3.svg"/><Relationship Id="rId9" Type="http://schemas.microsoft.com/office/2007/relationships/diagramDrawing" Target="../diagrams/drawing17.xm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18.xml"/><Relationship Id="rId3" Type="http://schemas.openxmlformats.org/officeDocument/2006/relationships/image" Target="../media/image2.png"/><Relationship Id="rId7" Type="http://schemas.openxmlformats.org/officeDocument/2006/relationships/diagramQuickStyle" Target="../diagrams/quickStyle18.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diagramLayout" Target="../diagrams/layout18.xml"/><Relationship Id="rId5" Type="http://schemas.openxmlformats.org/officeDocument/2006/relationships/diagramData" Target="../diagrams/data18.xml"/><Relationship Id="rId4" Type="http://schemas.openxmlformats.org/officeDocument/2006/relationships/image" Target="../media/image3.svg"/><Relationship Id="rId9" Type="http://schemas.microsoft.com/office/2007/relationships/diagramDrawing" Target="../diagrams/drawing18.xml"/></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19.xml"/><Relationship Id="rId3" Type="http://schemas.openxmlformats.org/officeDocument/2006/relationships/image" Target="../media/image2.png"/><Relationship Id="rId7" Type="http://schemas.openxmlformats.org/officeDocument/2006/relationships/diagramQuickStyle" Target="../diagrams/quickStyle19.xm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diagramLayout" Target="../diagrams/layout19.xml"/><Relationship Id="rId5" Type="http://schemas.openxmlformats.org/officeDocument/2006/relationships/diagramData" Target="../diagrams/data19.xml"/><Relationship Id="rId4" Type="http://schemas.openxmlformats.org/officeDocument/2006/relationships/image" Target="../media/image3.svg"/><Relationship Id="rId9" Type="http://schemas.microsoft.com/office/2007/relationships/diagramDrawing" Target="../diagrams/drawing19.xml"/></Relationships>
</file>

<file path=ppt/slides/_rels/slide27.xml.rels><?xml version="1.0" encoding="UTF-8" standalone="yes"?>
<Relationships xmlns="http://schemas.openxmlformats.org/package/2006/relationships"><Relationship Id="rId8" Type="http://schemas.openxmlformats.org/officeDocument/2006/relationships/diagramColors" Target="../diagrams/colors20.xml"/><Relationship Id="rId3" Type="http://schemas.openxmlformats.org/officeDocument/2006/relationships/image" Target="../media/image2.png"/><Relationship Id="rId7" Type="http://schemas.openxmlformats.org/officeDocument/2006/relationships/diagramQuickStyle" Target="../diagrams/quickStyle20.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diagramLayout" Target="../diagrams/layout20.xml"/><Relationship Id="rId5" Type="http://schemas.openxmlformats.org/officeDocument/2006/relationships/diagramData" Target="../diagrams/data20.xml"/><Relationship Id="rId4" Type="http://schemas.openxmlformats.org/officeDocument/2006/relationships/image" Target="../media/image3.svg"/><Relationship Id="rId9" Type="http://schemas.microsoft.com/office/2007/relationships/diagramDrawing" Target="../diagrams/drawing20.xml"/></Relationships>
</file>

<file path=ppt/slides/_rels/slide28.xml.rels><?xml version="1.0" encoding="UTF-8" standalone="yes"?>
<Relationships xmlns="http://schemas.openxmlformats.org/package/2006/relationships"><Relationship Id="rId8" Type="http://schemas.openxmlformats.org/officeDocument/2006/relationships/image" Target="../media/image20.emf"/><Relationship Id="rId13" Type="http://schemas.microsoft.com/office/2007/relationships/diagramDrawing" Target="../diagrams/drawing21.xml"/><Relationship Id="rId3" Type="http://schemas.openxmlformats.org/officeDocument/2006/relationships/image" Target="../media/image2.png"/><Relationship Id="rId7" Type="http://schemas.openxmlformats.org/officeDocument/2006/relationships/image" Target="../media/image19.emf"/><Relationship Id="rId12" Type="http://schemas.openxmlformats.org/officeDocument/2006/relationships/diagramColors" Target="../diagrams/colors21.xm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8.emf"/><Relationship Id="rId11" Type="http://schemas.openxmlformats.org/officeDocument/2006/relationships/diagramQuickStyle" Target="../diagrams/quickStyle21.xml"/><Relationship Id="rId5" Type="http://schemas.openxmlformats.org/officeDocument/2006/relationships/image" Target="../media/image17.emf"/><Relationship Id="rId10" Type="http://schemas.openxmlformats.org/officeDocument/2006/relationships/diagramLayout" Target="../diagrams/layout21.xml"/><Relationship Id="rId4" Type="http://schemas.openxmlformats.org/officeDocument/2006/relationships/image" Target="../media/image3.svg"/><Relationship Id="rId9" Type="http://schemas.openxmlformats.org/officeDocument/2006/relationships/diagramData" Target="../diagrams/data21.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image" Target="../media/image2.png"/><Relationship Id="rId7" Type="http://schemas.openxmlformats.org/officeDocument/2006/relationships/diagramData" Target="../diagrams/data22.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2.emf"/><Relationship Id="rId11" Type="http://schemas.microsoft.com/office/2007/relationships/diagramDrawing" Target="../diagrams/drawing22.xml"/><Relationship Id="rId5" Type="http://schemas.openxmlformats.org/officeDocument/2006/relationships/image" Target="../media/image21.emf"/><Relationship Id="rId10" Type="http://schemas.openxmlformats.org/officeDocument/2006/relationships/diagramColors" Target="../diagrams/colors22.xml"/><Relationship Id="rId4" Type="http://schemas.openxmlformats.org/officeDocument/2006/relationships/image" Target="../media/image3.svg"/><Relationship Id="rId9" Type="http://schemas.openxmlformats.org/officeDocument/2006/relationships/diagramQuickStyle" Target="../diagrams/quickStyle22.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23.xml"/><Relationship Id="rId3" Type="http://schemas.openxmlformats.org/officeDocument/2006/relationships/image" Target="../media/image2.png"/><Relationship Id="rId7" Type="http://schemas.openxmlformats.org/officeDocument/2006/relationships/diagramData" Target="../diagrams/data23.xm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24.emf"/><Relationship Id="rId11" Type="http://schemas.microsoft.com/office/2007/relationships/diagramDrawing" Target="../diagrams/drawing23.xml"/><Relationship Id="rId5" Type="http://schemas.openxmlformats.org/officeDocument/2006/relationships/image" Target="../media/image23.emf"/><Relationship Id="rId10" Type="http://schemas.openxmlformats.org/officeDocument/2006/relationships/diagramColors" Target="../diagrams/colors23.xml"/><Relationship Id="rId4" Type="http://schemas.openxmlformats.org/officeDocument/2006/relationships/image" Target="../media/image3.svg"/><Relationship Id="rId9" Type="http://schemas.openxmlformats.org/officeDocument/2006/relationships/diagramQuickStyle" Target="../diagrams/quickStyle23.xml"/></Relationships>
</file>

<file path=ppt/slides/_rels/slide31.xml.rels><?xml version="1.0" encoding="UTF-8" standalone="yes"?>
<Relationships xmlns="http://schemas.openxmlformats.org/package/2006/relationships"><Relationship Id="rId8" Type="http://schemas.openxmlformats.org/officeDocument/2006/relationships/diagramQuickStyle" Target="../diagrams/quickStyle24.xml"/><Relationship Id="rId3" Type="http://schemas.openxmlformats.org/officeDocument/2006/relationships/image" Target="../media/image2.png"/><Relationship Id="rId7" Type="http://schemas.openxmlformats.org/officeDocument/2006/relationships/diagramLayout" Target="../diagrams/layout24.xm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diagramData" Target="../diagrams/data24.xml"/><Relationship Id="rId5" Type="http://schemas.openxmlformats.org/officeDocument/2006/relationships/image" Target="../media/image25.png"/><Relationship Id="rId10" Type="http://schemas.microsoft.com/office/2007/relationships/diagramDrawing" Target="../diagrams/drawing24.xml"/><Relationship Id="rId4" Type="http://schemas.openxmlformats.org/officeDocument/2006/relationships/image" Target="../media/image3.svg"/><Relationship Id="rId9" Type="http://schemas.openxmlformats.org/officeDocument/2006/relationships/diagramColors" Target="../diagrams/colors24.xml"/></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25.xml"/><Relationship Id="rId3" Type="http://schemas.openxmlformats.org/officeDocument/2006/relationships/image" Target="../media/image2.png"/><Relationship Id="rId7" Type="http://schemas.openxmlformats.org/officeDocument/2006/relationships/diagramLayout" Target="../diagrams/layout25.xm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diagramData" Target="../diagrams/data25.xml"/><Relationship Id="rId5" Type="http://schemas.openxmlformats.org/officeDocument/2006/relationships/image" Target="../media/image26.png"/><Relationship Id="rId10" Type="http://schemas.microsoft.com/office/2007/relationships/diagramDrawing" Target="../diagrams/drawing25.xml"/><Relationship Id="rId4" Type="http://schemas.openxmlformats.org/officeDocument/2006/relationships/image" Target="../media/image3.svg"/><Relationship Id="rId9" Type="http://schemas.openxmlformats.org/officeDocument/2006/relationships/diagramColors" Target="../diagrams/colors25.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image" Target="../media/image2.png"/><Relationship Id="rId7" Type="http://schemas.openxmlformats.org/officeDocument/2006/relationships/diagramData" Target="../diagrams/data26.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27.emf"/><Relationship Id="rId11" Type="http://schemas.microsoft.com/office/2007/relationships/diagramDrawing" Target="../diagrams/drawing26.xml"/><Relationship Id="rId5" Type="http://schemas.openxmlformats.org/officeDocument/2006/relationships/package" Target="../embeddings/Microsoft_Word_Document1.docx"/><Relationship Id="rId10" Type="http://schemas.openxmlformats.org/officeDocument/2006/relationships/diagramColors" Target="../diagrams/colors26.xml"/><Relationship Id="rId4" Type="http://schemas.openxmlformats.org/officeDocument/2006/relationships/image" Target="../media/image3.svg"/><Relationship Id="rId9" Type="http://schemas.openxmlformats.org/officeDocument/2006/relationships/diagramQuickStyle" Target="../diagrams/quickStyle26.xml"/></Relationships>
</file>

<file path=ppt/slides/_rels/slide34.xml.rels><?xml version="1.0" encoding="UTF-8" standalone="yes"?>
<Relationships xmlns="http://schemas.openxmlformats.org/package/2006/relationships"><Relationship Id="rId8" Type="http://schemas.openxmlformats.org/officeDocument/2006/relationships/diagramColors" Target="../diagrams/colors27.xml"/><Relationship Id="rId3" Type="http://schemas.openxmlformats.org/officeDocument/2006/relationships/image" Target="../media/image2.png"/><Relationship Id="rId7" Type="http://schemas.openxmlformats.org/officeDocument/2006/relationships/diagramQuickStyle" Target="../diagrams/quickStyle27.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diagramLayout" Target="../diagrams/layout27.xml"/><Relationship Id="rId5" Type="http://schemas.openxmlformats.org/officeDocument/2006/relationships/diagramData" Target="../diagrams/data27.xml"/><Relationship Id="rId4" Type="http://schemas.openxmlformats.org/officeDocument/2006/relationships/image" Target="../media/image3.svg"/><Relationship Id="rId9" Type="http://schemas.microsoft.com/office/2007/relationships/diagramDrawing" Target="../diagrams/drawing27.xml"/></Relationships>
</file>

<file path=ppt/slides/_rels/slide35.xml.rels><?xml version="1.0" encoding="UTF-8" standalone="yes"?>
<Relationships xmlns="http://schemas.openxmlformats.org/package/2006/relationships"><Relationship Id="rId8" Type="http://schemas.openxmlformats.org/officeDocument/2006/relationships/diagramQuickStyle" Target="../diagrams/quickStyle28.xml"/><Relationship Id="rId3" Type="http://schemas.openxmlformats.org/officeDocument/2006/relationships/image" Target="../media/image2.png"/><Relationship Id="rId7" Type="http://schemas.openxmlformats.org/officeDocument/2006/relationships/diagramLayout" Target="../diagrams/layout28.xm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diagramData" Target="../diagrams/data28.xml"/><Relationship Id="rId5" Type="http://schemas.openxmlformats.org/officeDocument/2006/relationships/image" Target="../media/image28.emf"/><Relationship Id="rId10" Type="http://schemas.microsoft.com/office/2007/relationships/diagramDrawing" Target="../diagrams/drawing28.xml"/><Relationship Id="rId4" Type="http://schemas.openxmlformats.org/officeDocument/2006/relationships/image" Target="../media/image3.svg"/><Relationship Id="rId9" Type="http://schemas.openxmlformats.org/officeDocument/2006/relationships/diagramColors" Target="../diagrams/colors28.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29.xml"/><Relationship Id="rId3" Type="http://schemas.openxmlformats.org/officeDocument/2006/relationships/image" Target="../media/image2.png"/><Relationship Id="rId7" Type="http://schemas.microsoft.com/office/2007/relationships/hdphoto" Target="../media/hdphoto1.wdp"/><Relationship Id="rId12" Type="http://schemas.microsoft.com/office/2007/relationships/diagramDrawing" Target="../diagrams/drawing29.xm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diagramColors" Target="../diagrams/colors29.xml"/><Relationship Id="rId5" Type="http://schemas.openxmlformats.org/officeDocument/2006/relationships/image" Target="../media/image29.png"/><Relationship Id="rId10" Type="http://schemas.openxmlformats.org/officeDocument/2006/relationships/diagramQuickStyle" Target="../diagrams/quickStyle29.xml"/><Relationship Id="rId4" Type="http://schemas.openxmlformats.org/officeDocument/2006/relationships/image" Target="../media/image3.svg"/><Relationship Id="rId9" Type="http://schemas.openxmlformats.org/officeDocument/2006/relationships/diagramLayout" Target="../diagrams/layout29.xml"/></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30.xml"/><Relationship Id="rId3" Type="http://schemas.openxmlformats.org/officeDocument/2006/relationships/image" Target="../media/image2.png"/><Relationship Id="rId7" Type="http://schemas.openxmlformats.org/officeDocument/2006/relationships/diagramData" Target="../diagrams/data30.xm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32.svg"/><Relationship Id="rId11" Type="http://schemas.microsoft.com/office/2007/relationships/diagramDrawing" Target="../diagrams/drawing30.xml"/><Relationship Id="rId5" Type="http://schemas.openxmlformats.org/officeDocument/2006/relationships/image" Target="../media/image31.png"/><Relationship Id="rId10" Type="http://schemas.openxmlformats.org/officeDocument/2006/relationships/diagramColors" Target="../diagrams/colors30.xml"/><Relationship Id="rId4" Type="http://schemas.openxmlformats.org/officeDocument/2006/relationships/image" Target="../media/image3.svg"/><Relationship Id="rId9" Type="http://schemas.openxmlformats.org/officeDocument/2006/relationships/diagramQuickStyle" Target="../diagrams/quickStyle30.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9.xml.rels><?xml version="1.0" encoding="UTF-8" standalone="yes"?>
<Relationships xmlns="http://schemas.openxmlformats.org/package/2006/relationships"><Relationship Id="rId8" Type="http://schemas.openxmlformats.org/officeDocument/2006/relationships/diagramColors" Target="../diagrams/colors31.xml"/><Relationship Id="rId3" Type="http://schemas.openxmlformats.org/officeDocument/2006/relationships/image" Target="../media/image2.png"/><Relationship Id="rId7" Type="http://schemas.openxmlformats.org/officeDocument/2006/relationships/diagramQuickStyle" Target="../diagrams/quickStyle31.xml"/><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diagramLayout" Target="../diagrams/layout31.xml"/><Relationship Id="rId5" Type="http://schemas.openxmlformats.org/officeDocument/2006/relationships/diagramData" Target="../diagrams/data31.xml"/><Relationship Id="rId4" Type="http://schemas.openxmlformats.org/officeDocument/2006/relationships/image" Target="../media/image3.svg"/><Relationship Id="rId9" Type="http://schemas.microsoft.com/office/2007/relationships/diagramDrawing" Target="../diagrams/drawing31.xml"/></Relationships>
</file>

<file path=ppt/slides/_rels/slide40.xml.rels><?xml version="1.0" encoding="UTF-8" standalone="yes"?>
<Relationships xmlns="http://schemas.openxmlformats.org/package/2006/relationships"><Relationship Id="rId8" Type="http://schemas.openxmlformats.org/officeDocument/2006/relationships/diagramColors" Target="../diagrams/colors32.xml"/><Relationship Id="rId3" Type="http://schemas.openxmlformats.org/officeDocument/2006/relationships/image" Target="../media/image2.png"/><Relationship Id="rId7" Type="http://schemas.openxmlformats.org/officeDocument/2006/relationships/diagramQuickStyle" Target="../diagrams/quickStyle32.xml"/><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diagramLayout" Target="../diagrams/layout32.xml"/><Relationship Id="rId5" Type="http://schemas.openxmlformats.org/officeDocument/2006/relationships/diagramData" Target="../diagrams/data32.xml"/><Relationship Id="rId4" Type="http://schemas.openxmlformats.org/officeDocument/2006/relationships/image" Target="../media/image3.svg"/><Relationship Id="rId9" Type="http://schemas.microsoft.com/office/2007/relationships/diagramDrawing" Target="../diagrams/drawing32.xml"/></Relationships>
</file>

<file path=ppt/slides/_rels/slide41.xml.rels><?xml version="1.0" encoding="UTF-8" standalone="yes"?>
<Relationships xmlns="http://schemas.openxmlformats.org/package/2006/relationships"><Relationship Id="rId8" Type="http://schemas.openxmlformats.org/officeDocument/2006/relationships/diagramQuickStyle" Target="../diagrams/quickStyle33.xml"/><Relationship Id="rId3" Type="http://schemas.openxmlformats.org/officeDocument/2006/relationships/image" Target="../media/image2.png"/><Relationship Id="rId7" Type="http://schemas.openxmlformats.org/officeDocument/2006/relationships/diagramLayout" Target="../diagrams/layout33.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diagramData" Target="../diagrams/data33.xml"/><Relationship Id="rId5" Type="http://schemas.openxmlformats.org/officeDocument/2006/relationships/image" Target="../media/image33.png"/><Relationship Id="rId10" Type="http://schemas.microsoft.com/office/2007/relationships/diagramDrawing" Target="../diagrams/drawing33.xml"/><Relationship Id="rId4" Type="http://schemas.openxmlformats.org/officeDocument/2006/relationships/image" Target="../media/image3.svg"/><Relationship Id="rId9" Type="http://schemas.openxmlformats.org/officeDocument/2006/relationships/diagramColors" Target="../diagrams/colors33.xml"/></Relationships>
</file>

<file path=ppt/slides/_rels/slide42.xml.rels><?xml version="1.0" encoding="UTF-8" standalone="yes"?>
<Relationships xmlns="http://schemas.openxmlformats.org/package/2006/relationships"><Relationship Id="rId8" Type="http://schemas.openxmlformats.org/officeDocument/2006/relationships/diagramColors" Target="../diagrams/colors34.xml"/><Relationship Id="rId3" Type="http://schemas.openxmlformats.org/officeDocument/2006/relationships/image" Target="../media/image2.png"/><Relationship Id="rId7" Type="http://schemas.openxmlformats.org/officeDocument/2006/relationships/diagramQuickStyle" Target="../diagrams/quickStyle34.xml"/><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diagramLayout" Target="../diagrams/layout34.xml"/><Relationship Id="rId5" Type="http://schemas.openxmlformats.org/officeDocument/2006/relationships/diagramData" Target="../diagrams/data34.xml"/><Relationship Id="rId10" Type="http://schemas.openxmlformats.org/officeDocument/2006/relationships/image" Target="../media/image34.png"/><Relationship Id="rId4" Type="http://schemas.openxmlformats.org/officeDocument/2006/relationships/image" Target="../media/image3.svg"/><Relationship Id="rId9" Type="http://schemas.microsoft.com/office/2007/relationships/diagramDrawing" Target="../diagrams/drawing34.xml"/></Relationships>
</file>

<file path=ppt/slides/_rels/slide43.xml.rels><?xml version="1.0" encoding="UTF-8" standalone="yes"?>
<Relationships xmlns="http://schemas.openxmlformats.org/package/2006/relationships"><Relationship Id="rId8" Type="http://schemas.openxmlformats.org/officeDocument/2006/relationships/diagramLayout" Target="../diagrams/layout35.xml"/><Relationship Id="rId3" Type="http://schemas.openxmlformats.org/officeDocument/2006/relationships/image" Target="../media/image2.png"/><Relationship Id="rId7" Type="http://schemas.openxmlformats.org/officeDocument/2006/relationships/diagramData" Target="../diagrams/data35.xml"/><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36.png"/><Relationship Id="rId11" Type="http://schemas.microsoft.com/office/2007/relationships/diagramDrawing" Target="../diagrams/drawing35.xml"/><Relationship Id="rId5" Type="http://schemas.openxmlformats.org/officeDocument/2006/relationships/image" Target="../media/image35.png"/><Relationship Id="rId10" Type="http://schemas.openxmlformats.org/officeDocument/2006/relationships/diagramColors" Target="../diagrams/colors35.xml"/><Relationship Id="rId4" Type="http://schemas.openxmlformats.org/officeDocument/2006/relationships/image" Target="../media/image3.svg"/><Relationship Id="rId9" Type="http://schemas.openxmlformats.org/officeDocument/2006/relationships/diagramQuickStyle" Target="../diagrams/quickStyle35.xml"/></Relationships>
</file>

<file path=ppt/slides/_rels/slide44.xml.rels><?xml version="1.0" encoding="UTF-8" standalone="yes"?>
<Relationships xmlns="http://schemas.openxmlformats.org/package/2006/relationships"><Relationship Id="rId8" Type="http://schemas.openxmlformats.org/officeDocument/2006/relationships/diagramQuickStyle" Target="../diagrams/quickStyle36.xml"/><Relationship Id="rId3" Type="http://schemas.openxmlformats.org/officeDocument/2006/relationships/image" Target="../media/image2.png"/><Relationship Id="rId7" Type="http://schemas.openxmlformats.org/officeDocument/2006/relationships/diagramLayout" Target="../diagrams/layout36.xml"/><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diagramData" Target="../diagrams/data36.xml"/><Relationship Id="rId5" Type="http://schemas.openxmlformats.org/officeDocument/2006/relationships/image" Target="../media/image37.png"/><Relationship Id="rId10" Type="http://schemas.microsoft.com/office/2007/relationships/diagramDrawing" Target="../diagrams/drawing36.xml"/><Relationship Id="rId4" Type="http://schemas.openxmlformats.org/officeDocument/2006/relationships/image" Target="../media/image3.svg"/><Relationship Id="rId9" Type="http://schemas.openxmlformats.org/officeDocument/2006/relationships/diagramColors" Target="../diagrams/colors36.xml"/></Relationships>
</file>

<file path=ppt/slides/_rels/slide45.xml.rels><?xml version="1.0" encoding="UTF-8" standalone="yes"?>
<Relationships xmlns="http://schemas.openxmlformats.org/package/2006/relationships"><Relationship Id="rId8" Type="http://schemas.openxmlformats.org/officeDocument/2006/relationships/diagramLayout" Target="../diagrams/layout37.xml"/><Relationship Id="rId3" Type="http://schemas.openxmlformats.org/officeDocument/2006/relationships/image" Target="../media/image2.png"/><Relationship Id="rId7" Type="http://schemas.openxmlformats.org/officeDocument/2006/relationships/diagramData" Target="../diagrams/data37.xml"/><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39.svg"/><Relationship Id="rId11" Type="http://schemas.microsoft.com/office/2007/relationships/diagramDrawing" Target="../diagrams/drawing37.xml"/><Relationship Id="rId5" Type="http://schemas.openxmlformats.org/officeDocument/2006/relationships/image" Target="../media/image38.png"/><Relationship Id="rId10" Type="http://schemas.openxmlformats.org/officeDocument/2006/relationships/diagramColors" Target="../diagrams/colors37.xml"/><Relationship Id="rId4" Type="http://schemas.openxmlformats.org/officeDocument/2006/relationships/image" Target="../media/image3.svg"/><Relationship Id="rId9" Type="http://schemas.openxmlformats.org/officeDocument/2006/relationships/diagramQuickStyle" Target="../diagrams/quickStyle37.xml"/></Relationships>
</file>

<file path=ppt/slides/_rels/slide46.xml.rels><?xml version="1.0" encoding="UTF-8" standalone="yes"?>
<Relationships xmlns="http://schemas.openxmlformats.org/package/2006/relationships"><Relationship Id="rId8" Type="http://schemas.openxmlformats.org/officeDocument/2006/relationships/diagramColors" Target="../diagrams/colors38.xml"/><Relationship Id="rId3" Type="http://schemas.openxmlformats.org/officeDocument/2006/relationships/image" Target="../media/image2.png"/><Relationship Id="rId7" Type="http://schemas.openxmlformats.org/officeDocument/2006/relationships/diagramQuickStyle" Target="../diagrams/quickStyle38.xml"/><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diagramLayout" Target="../diagrams/layout38.xml"/><Relationship Id="rId5" Type="http://schemas.openxmlformats.org/officeDocument/2006/relationships/diagramData" Target="../diagrams/data38.xml"/><Relationship Id="rId4" Type="http://schemas.openxmlformats.org/officeDocument/2006/relationships/image" Target="../media/image3.svg"/><Relationship Id="rId9" Type="http://schemas.microsoft.com/office/2007/relationships/diagramDrawing" Target="../diagrams/drawing38.xml"/></Relationships>
</file>

<file path=ppt/slides/_rels/slide47.xml.rels><?xml version="1.0" encoding="UTF-8" standalone="yes"?>
<Relationships xmlns="http://schemas.openxmlformats.org/package/2006/relationships"><Relationship Id="rId8" Type="http://schemas.openxmlformats.org/officeDocument/2006/relationships/diagramLayout" Target="../diagrams/layout39.xml"/><Relationship Id="rId3" Type="http://schemas.openxmlformats.org/officeDocument/2006/relationships/image" Target="../media/image2.png"/><Relationship Id="rId7" Type="http://schemas.openxmlformats.org/officeDocument/2006/relationships/diagramData" Target="../diagrams/data39.xml"/><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41.png"/><Relationship Id="rId11" Type="http://schemas.microsoft.com/office/2007/relationships/diagramDrawing" Target="../diagrams/drawing39.xml"/><Relationship Id="rId5" Type="http://schemas.openxmlformats.org/officeDocument/2006/relationships/image" Target="../media/image40.png"/><Relationship Id="rId10" Type="http://schemas.openxmlformats.org/officeDocument/2006/relationships/diagramColors" Target="../diagrams/colors39.xml"/><Relationship Id="rId4" Type="http://schemas.openxmlformats.org/officeDocument/2006/relationships/image" Target="../media/image3.svg"/><Relationship Id="rId9" Type="http://schemas.openxmlformats.org/officeDocument/2006/relationships/diagramQuickStyle" Target="../diagrams/quickStyle39.xml"/></Relationships>
</file>

<file path=ppt/slides/_rels/slide48.xml.rels><?xml version="1.0" encoding="UTF-8" standalone="yes"?>
<Relationships xmlns="http://schemas.openxmlformats.org/package/2006/relationships"><Relationship Id="rId8" Type="http://schemas.openxmlformats.org/officeDocument/2006/relationships/diagramLayout" Target="../diagrams/layout40.xml"/><Relationship Id="rId3" Type="http://schemas.openxmlformats.org/officeDocument/2006/relationships/image" Target="../media/image2.png"/><Relationship Id="rId7" Type="http://schemas.openxmlformats.org/officeDocument/2006/relationships/diagramData" Target="../diagrams/data40.xml"/><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43.png"/><Relationship Id="rId11" Type="http://schemas.microsoft.com/office/2007/relationships/diagramDrawing" Target="../diagrams/drawing40.xml"/><Relationship Id="rId5" Type="http://schemas.openxmlformats.org/officeDocument/2006/relationships/image" Target="../media/image42.png"/><Relationship Id="rId10" Type="http://schemas.openxmlformats.org/officeDocument/2006/relationships/diagramColors" Target="../diagrams/colors40.xml"/><Relationship Id="rId4" Type="http://schemas.openxmlformats.org/officeDocument/2006/relationships/image" Target="../media/image3.svg"/><Relationship Id="rId9" Type="http://schemas.openxmlformats.org/officeDocument/2006/relationships/diagramQuickStyle" Target="../diagrams/quickStyle40.xml"/></Relationships>
</file>

<file path=ppt/slides/_rels/slide49.xml.rels><?xml version="1.0" encoding="UTF-8" standalone="yes"?>
<Relationships xmlns="http://schemas.openxmlformats.org/package/2006/relationships"><Relationship Id="rId8" Type="http://schemas.openxmlformats.org/officeDocument/2006/relationships/diagramLayout" Target="../diagrams/layout41.xml"/><Relationship Id="rId3" Type="http://schemas.openxmlformats.org/officeDocument/2006/relationships/image" Target="../media/image2.png"/><Relationship Id="rId7" Type="http://schemas.openxmlformats.org/officeDocument/2006/relationships/diagramData" Target="../diagrams/data41.xml"/><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45.png"/><Relationship Id="rId11" Type="http://schemas.microsoft.com/office/2007/relationships/diagramDrawing" Target="../diagrams/drawing41.xml"/><Relationship Id="rId5" Type="http://schemas.openxmlformats.org/officeDocument/2006/relationships/image" Target="../media/image44.emf"/><Relationship Id="rId10" Type="http://schemas.openxmlformats.org/officeDocument/2006/relationships/diagramColors" Target="../diagrams/colors41.xml"/><Relationship Id="rId4" Type="http://schemas.openxmlformats.org/officeDocument/2006/relationships/image" Target="../media/image3.svg"/><Relationship Id="rId9" Type="http://schemas.openxmlformats.org/officeDocument/2006/relationships/diagramQuickStyle" Target="../diagrams/quickStyle41.xml"/></Relationships>
</file>

<file path=ppt/slides/_rels/slide50.xml.rels><?xml version="1.0" encoding="UTF-8" standalone="yes"?>
<Relationships xmlns="http://schemas.openxmlformats.org/package/2006/relationships"><Relationship Id="rId8" Type="http://schemas.openxmlformats.org/officeDocument/2006/relationships/diagramColors" Target="../diagrams/colors42.xml"/><Relationship Id="rId3" Type="http://schemas.openxmlformats.org/officeDocument/2006/relationships/image" Target="../media/image2.png"/><Relationship Id="rId7" Type="http://schemas.openxmlformats.org/officeDocument/2006/relationships/diagramQuickStyle" Target="../diagrams/quickStyle42.xml"/><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diagramLayout" Target="../diagrams/layout42.xml"/><Relationship Id="rId5" Type="http://schemas.openxmlformats.org/officeDocument/2006/relationships/diagramData" Target="../diagrams/data42.xml"/><Relationship Id="rId4" Type="http://schemas.openxmlformats.org/officeDocument/2006/relationships/image" Target="../media/image3.svg"/><Relationship Id="rId9" Type="http://schemas.microsoft.com/office/2007/relationships/diagramDrawing" Target="../diagrams/drawing42.xml"/></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43.xml"/><Relationship Id="rId3" Type="http://schemas.openxmlformats.org/officeDocument/2006/relationships/image" Target="../media/image2.png"/><Relationship Id="rId7" Type="http://schemas.openxmlformats.org/officeDocument/2006/relationships/diagramData" Target="../diagrams/data43.xml"/><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7.svg"/><Relationship Id="rId11" Type="http://schemas.microsoft.com/office/2007/relationships/diagramDrawing" Target="../diagrams/drawing43.xml"/><Relationship Id="rId5" Type="http://schemas.openxmlformats.org/officeDocument/2006/relationships/image" Target="../media/image6.png"/><Relationship Id="rId10" Type="http://schemas.openxmlformats.org/officeDocument/2006/relationships/diagramColors" Target="../diagrams/colors43.xml"/><Relationship Id="rId4" Type="http://schemas.openxmlformats.org/officeDocument/2006/relationships/image" Target="../media/image3.svg"/><Relationship Id="rId9" Type="http://schemas.openxmlformats.org/officeDocument/2006/relationships/diagramQuickStyle" Target="../diagrams/quickStyle43.xml"/></Relationships>
</file>

<file path=ppt/slides/_rels/slide5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1276868" y="936485"/>
            <a:ext cx="15734265" cy="8414030"/>
            <a:chOff x="0" y="0"/>
            <a:chExt cx="6762470" cy="3616288"/>
          </a:xfrm>
        </p:grpSpPr>
        <p:sp>
          <p:nvSpPr>
            <p:cNvPr id="12" name="Freeform 12"/>
            <p:cNvSpPr/>
            <p:nvPr/>
          </p:nvSpPr>
          <p:spPr>
            <a:xfrm>
              <a:off x="48260" y="48260"/>
              <a:ext cx="6714210" cy="3568028"/>
            </a:xfrm>
            <a:custGeom>
              <a:avLst/>
              <a:gdLst/>
              <a:ahLst/>
              <a:cxnLst/>
              <a:rect l="l" t="t" r="r" b="b"/>
              <a:pathLst>
                <a:path w="6714210" h="3568028">
                  <a:moveTo>
                    <a:pt x="0" y="0"/>
                  </a:moveTo>
                  <a:lnTo>
                    <a:pt x="6714210" y="0"/>
                  </a:lnTo>
                  <a:lnTo>
                    <a:pt x="6714210" y="3568028"/>
                  </a:lnTo>
                  <a:lnTo>
                    <a:pt x="0" y="3568028"/>
                  </a:lnTo>
                  <a:close/>
                </a:path>
              </a:pathLst>
            </a:custGeom>
            <a:solidFill>
              <a:srgbClr val="244DB6"/>
            </a:solidFill>
          </p:spPr>
          <p:txBody>
            <a:bodyPr/>
            <a:lstStyle/>
            <a:p>
              <a:endParaRPr lang="zh-TW" altLang="en-US"/>
            </a:p>
          </p:txBody>
        </p:sp>
        <p:sp>
          <p:nvSpPr>
            <p:cNvPr id="13" name="Freeform 13"/>
            <p:cNvSpPr/>
            <p:nvPr/>
          </p:nvSpPr>
          <p:spPr>
            <a:xfrm>
              <a:off x="6350" y="6350"/>
              <a:ext cx="6714210" cy="3568028"/>
            </a:xfrm>
            <a:custGeom>
              <a:avLst/>
              <a:gdLst/>
              <a:ahLst/>
              <a:cxnLst/>
              <a:rect l="l" t="t" r="r" b="b"/>
              <a:pathLst>
                <a:path w="6714210" h="3568028">
                  <a:moveTo>
                    <a:pt x="0" y="0"/>
                  </a:moveTo>
                  <a:lnTo>
                    <a:pt x="6714210" y="0"/>
                  </a:lnTo>
                  <a:lnTo>
                    <a:pt x="6714210" y="3568028"/>
                  </a:lnTo>
                  <a:lnTo>
                    <a:pt x="0" y="3568028"/>
                  </a:lnTo>
                  <a:close/>
                </a:path>
              </a:pathLst>
            </a:custGeom>
            <a:solidFill>
              <a:srgbClr val="FFFCF4"/>
            </a:solidFill>
          </p:spPr>
          <p:txBody>
            <a:bodyPr/>
            <a:lstStyle/>
            <a:p>
              <a:endParaRPr lang="zh-TW" altLang="en-US"/>
            </a:p>
          </p:txBody>
        </p:sp>
        <p:sp>
          <p:nvSpPr>
            <p:cNvPr id="14" name="Freeform 14"/>
            <p:cNvSpPr/>
            <p:nvPr/>
          </p:nvSpPr>
          <p:spPr>
            <a:xfrm>
              <a:off x="0" y="0"/>
              <a:ext cx="6726910" cy="3580728"/>
            </a:xfrm>
            <a:custGeom>
              <a:avLst/>
              <a:gdLst/>
              <a:ahLst/>
              <a:cxnLst/>
              <a:rect l="l" t="t" r="r" b="b"/>
              <a:pathLst>
                <a:path w="6726910" h="3580728">
                  <a:moveTo>
                    <a:pt x="6726910" y="3580728"/>
                  </a:moveTo>
                  <a:lnTo>
                    <a:pt x="0" y="3580728"/>
                  </a:lnTo>
                  <a:lnTo>
                    <a:pt x="0" y="0"/>
                  </a:lnTo>
                  <a:lnTo>
                    <a:pt x="6726910" y="0"/>
                  </a:lnTo>
                  <a:lnTo>
                    <a:pt x="6726910" y="3580728"/>
                  </a:lnTo>
                  <a:close/>
                  <a:moveTo>
                    <a:pt x="12700" y="3568028"/>
                  </a:moveTo>
                  <a:lnTo>
                    <a:pt x="6714210" y="3568028"/>
                  </a:lnTo>
                  <a:lnTo>
                    <a:pt x="6714210" y="12700"/>
                  </a:lnTo>
                  <a:lnTo>
                    <a:pt x="12700" y="12700"/>
                  </a:lnTo>
                  <a:lnTo>
                    <a:pt x="12700" y="3568028"/>
                  </a:lnTo>
                  <a:close/>
                </a:path>
              </a:pathLst>
            </a:custGeom>
            <a:solidFill>
              <a:srgbClr val="244DB6"/>
            </a:solidFill>
          </p:spPr>
          <p:txBody>
            <a:bodyPr/>
            <a:lstStyle/>
            <a:p>
              <a:endParaRPr lang="zh-TW" altLang="en-US"/>
            </a:p>
          </p:txBody>
        </p:sp>
      </p:grpSp>
      <p:sp>
        <p:nvSpPr>
          <p:cNvPr id="15" name="AutoShape 15"/>
          <p:cNvSpPr/>
          <p:nvPr/>
        </p:nvSpPr>
        <p:spPr>
          <a:xfrm>
            <a:off x="1276868" y="2416190"/>
            <a:ext cx="15667031" cy="0"/>
          </a:xfrm>
          <a:prstGeom prst="line">
            <a:avLst/>
          </a:prstGeom>
          <a:ln w="19050" cap="flat">
            <a:solidFill>
              <a:srgbClr val="244DB6"/>
            </a:solidFill>
            <a:prstDash val="solid"/>
            <a:headEnd type="none" w="sm" len="sm"/>
            <a:tailEnd type="none" w="sm" len="sm"/>
          </a:ln>
        </p:spPr>
        <p:txBody>
          <a:bodyPr/>
          <a:lstStyle/>
          <a:p>
            <a:endParaRPr lang="zh-TW" altLang="en-US"/>
          </a:p>
        </p:txBody>
      </p:sp>
      <p:sp>
        <p:nvSpPr>
          <p:cNvPr id="16" name="AutoShape 16"/>
          <p:cNvSpPr/>
          <p:nvPr/>
        </p:nvSpPr>
        <p:spPr>
          <a:xfrm>
            <a:off x="1276868" y="7813733"/>
            <a:ext cx="15667031" cy="0"/>
          </a:xfrm>
          <a:prstGeom prst="line">
            <a:avLst/>
          </a:prstGeom>
          <a:ln w="19050" cap="flat">
            <a:solidFill>
              <a:srgbClr val="244DB6"/>
            </a:solidFill>
            <a:prstDash val="solid"/>
            <a:headEnd type="none" w="sm" len="sm"/>
            <a:tailEnd type="none" w="sm" len="sm"/>
          </a:ln>
        </p:spPr>
        <p:txBody>
          <a:bodyPr/>
          <a:lstStyle/>
          <a:p>
            <a:endParaRPr lang="zh-TW" altLang="en-US"/>
          </a:p>
        </p:txBody>
      </p:sp>
      <p:sp>
        <p:nvSpPr>
          <p:cNvPr id="17" name="Freeform 17"/>
          <p:cNvSpPr/>
          <p:nvPr/>
        </p:nvSpPr>
        <p:spPr>
          <a:xfrm>
            <a:off x="15939861" y="166038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9" name="Freeform 19"/>
          <p:cNvSpPr/>
          <p:nvPr/>
        </p:nvSpPr>
        <p:spPr>
          <a:xfrm>
            <a:off x="2152150" y="166038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0" name="Freeform 20"/>
          <p:cNvSpPr/>
          <p:nvPr/>
        </p:nvSpPr>
        <p:spPr>
          <a:xfrm>
            <a:off x="2152150" y="8390975"/>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3" name="TextBox 23"/>
          <p:cNvSpPr txBox="1"/>
          <p:nvPr/>
        </p:nvSpPr>
        <p:spPr>
          <a:xfrm>
            <a:off x="2546618" y="3742766"/>
            <a:ext cx="12927133" cy="2051844"/>
          </a:xfrm>
          <a:prstGeom prst="rect">
            <a:avLst/>
          </a:prstGeom>
        </p:spPr>
        <p:txBody>
          <a:bodyPr wrap="square" lIns="0" tIns="0" rIns="0" bIns="0" rtlCol="0" anchor="t">
            <a:spAutoFit/>
          </a:bodyPr>
          <a:lstStyle/>
          <a:p>
            <a:pPr algn="ctr">
              <a:lnSpc>
                <a:spcPts val="8047"/>
              </a:lnSpc>
            </a:pPr>
            <a:r>
              <a:rPr lang="zh-TW" altLang="zh-TW" sz="7000" spc="312"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基於機器學習的</a:t>
            </a:r>
            <a:r>
              <a:rPr lang="en-US" altLang="zh-TW" sz="7000" spc="312"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Kubernetes</a:t>
            </a:r>
            <a:r>
              <a:rPr lang="zh-TW" altLang="zh-TW" sz="7000" spc="312"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微服務系統延遲預測</a:t>
            </a:r>
            <a:r>
              <a:rPr lang="zh-TW" altLang="en-US" sz="7000" spc="312"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之</a:t>
            </a:r>
            <a:r>
              <a:rPr lang="zh-TW" altLang="zh-TW" sz="7000" spc="312"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研究</a:t>
            </a:r>
            <a:endParaRPr lang="en-US" sz="7000" spc="312"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4" name="TextBox 24"/>
          <p:cNvSpPr txBox="1"/>
          <p:nvPr/>
        </p:nvSpPr>
        <p:spPr>
          <a:xfrm>
            <a:off x="6114585" y="6827919"/>
            <a:ext cx="5791200" cy="984885"/>
          </a:xfrm>
          <a:prstGeom prst="rect">
            <a:avLst/>
          </a:prstGeom>
        </p:spPr>
        <p:txBody>
          <a:bodyPr wrap="square" lIns="0" tIns="0" rIns="0" bIns="0" rtlCol="0" anchor="t">
            <a:spAutoFit/>
          </a:bodyPr>
          <a:lstStyle/>
          <a:p>
            <a:pPr algn="ctr"/>
            <a:r>
              <a:rPr lang="en-US" sz="3200" b="1" spc="103"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研究生</a:t>
            </a:r>
            <a:r>
              <a:rPr 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a:t>
            </a:r>
            <a:r>
              <a:rPr lang="zh-TW" alt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沈君豪</a:t>
            </a:r>
            <a:endParaRPr 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a:p>
            <a:pPr algn="ctr"/>
            <a:r>
              <a:rPr lang="en-US" sz="3200" b="1" spc="103"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指導教授</a:t>
            </a:r>
            <a:r>
              <a:rPr 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a:t>
            </a:r>
            <a:r>
              <a:rPr lang="zh-TW" alt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馬尚彬 教授</a:t>
            </a:r>
            <a:endParaRPr 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 name="TextBox 24">
            <a:extLst>
              <a:ext uri="{FF2B5EF4-FFF2-40B4-BE49-F238E27FC236}">
                <a16:creationId xmlns:a16="http://schemas.microsoft.com/office/drawing/2014/main" id="{22C20F0B-7182-6BEE-9A63-BD838EFE3DD5}"/>
              </a:ext>
            </a:extLst>
          </p:cNvPr>
          <p:cNvSpPr txBox="1"/>
          <p:nvPr/>
        </p:nvSpPr>
        <p:spPr>
          <a:xfrm>
            <a:off x="6135029" y="8728740"/>
            <a:ext cx="5791200" cy="492443"/>
          </a:xfrm>
          <a:prstGeom prst="rect">
            <a:avLst/>
          </a:prstGeom>
        </p:spPr>
        <p:txBody>
          <a:bodyPr wrap="square" lIns="0" tIns="0" rIns="0" bIns="0" rtlCol="0" anchor="t">
            <a:spAutoFit/>
          </a:bodyPr>
          <a:lstStyle/>
          <a:p>
            <a:pPr algn="ctr"/>
            <a:r>
              <a:rPr 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口試日期：</a:t>
            </a:r>
            <a:r>
              <a:rPr lang="en-US" altLang="zh-TW"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2025.10.17</a:t>
            </a:r>
            <a:endParaRPr lang="en-US" sz="3200" b="1" spc="103"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4" name="Freeform 20">
            <a:extLst>
              <a:ext uri="{FF2B5EF4-FFF2-40B4-BE49-F238E27FC236}">
                <a16:creationId xmlns:a16="http://schemas.microsoft.com/office/drawing/2014/main" id="{59CF1E72-BEA6-791E-C923-A9DC4511C675}"/>
              </a:ext>
            </a:extLst>
          </p:cNvPr>
          <p:cNvSpPr/>
          <p:nvPr/>
        </p:nvSpPr>
        <p:spPr>
          <a:xfrm>
            <a:off x="13492976" y="6735337"/>
            <a:ext cx="3458310" cy="2464791"/>
          </a:xfrm>
          <a:custGeom>
            <a:avLst/>
            <a:gdLst/>
            <a:ahLst/>
            <a:cxnLst/>
            <a:rect l="l" t="t" r="r" b="b"/>
            <a:pathLst>
              <a:path w="9192256" h="6601711">
                <a:moveTo>
                  <a:pt x="0" y="0"/>
                </a:moveTo>
                <a:lnTo>
                  <a:pt x="9192256" y="0"/>
                </a:lnTo>
                <a:lnTo>
                  <a:pt x="9192256" y="6601711"/>
                </a:lnTo>
                <a:lnTo>
                  <a:pt x="0" y="66017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1614483" y="1891994"/>
            <a:ext cx="8850486" cy="7795817"/>
            <a:chOff x="0" y="0"/>
            <a:chExt cx="3310776" cy="2980322"/>
          </a:xfrm>
        </p:grpSpPr>
        <p:sp>
          <p:nvSpPr>
            <p:cNvPr id="12" name="Freeform 12"/>
            <p:cNvSpPr/>
            <p:nvPr/>
          </p:nvSpPr>
          <p:spPr>
            <a:xfrm>
              <a:off x="48260" y="48260"/>
              <a:ext cx="3262516" cy="2932062"/>
            </a:xfrm>
            <a:custGeom>
              <a:avLst/>
              <a:gdLst/>
              <a:ahLst/>
              <a:cxnLst/>
              <a:rect l="l" t="t" r="r" b="b"/>
              <a:pathLst>
                <a:path w="3262516" h="2932062">
                  <a:moveTo>
                    <a:pt x="0" y="0"/>
                  </a:moveTo>
                  <a:lnTo>
                    <a:pt x="3262516" y="0"/>
                  </a:lnTo>
                  <a:lnTo>
                    <a:pt x="3262516" y="2932062"/>
                  </a:lnTo>
                  <a:lnTo>
                    <a:pt x="0" y="2932062"/>
                  </a:lnTo>
                  <a:close/>
                </a:path>
              </a:pathLst>
            </a:custGeom>
            <a:solidFill>
              <a:srgbClr val="244DB6"/>
            </a:solidFill>
          </p:spPr>
          <p:txBody>
            <a:bodyPr/>
            <a:lstStyle/>
            <a:p>
              <a:endParaRPr lang="zh-TW" altLang="en-US"/>
            </a:p>
          </p:txBody>
        </p:sp>
        <p:sp>
          <p:nvSpPr>
            <p:cNvPr id="13" name="Freeform 13"/>
            <p:cNvSpPr/>
            <p:nvPr/>
          </p:nvSpPr>
          <p:spPr>
            <a:xfrm>
              <a:off x="6350" y="6350"/>
              <a:ext cx="3262516" cy="2932062"/>
            </a:xfrm>
            <a:custGeom>
              <a:avLst/>
              <a:gdLst/>
              <a:ahLst/>
              <a:cxnLst/>
              <a:rect l="l" t="t" r="r" b="b"/>
              <a:pathLst>
                <a:path w="3262516" h="2932062">
                  <a:moveTo>
                    <a:pt x="0" y="0"/>
                  </a:moveTo>
                  <a:lnTo>
                    <a:pt x="3262516" y="0"/>
                  </a:lnTo>
                  <a:lnTo>
                    <a:pt x="3262516" y="2932062"/>
                  </a:lnTo>
                  <a:lnTo>
                    <a:pt x="0" y="2932062"/>
                  </a:lnTo>
                  <a:close/>
                </a:path>
              </a:pathLst>
            </a:custGeom>
            <a:solidFill>
              <a:srgbClr val="FFFCF4"/>
            </a:solidFill>
          </p:spPr>
          <p:txBody>
            <a:bodyPr/>
            <a:lstStyle/>
            <a:p>
              <a:endParaRPr lang="zh-TW" altLang="en-US"/>
            </a:p>
          </p:txBody>
        </p:sp>
        <p:sp>
          <p:nvSpPr>
            <p:cNvPr id="14" name="Freeform 14"/>
            <p:cNvSpPr/>
            <p:nvPr/>
          </p:nvSpPr>
          <p:spPr>
            <a:xfrm>
              <a:off x="0" y="0"/>
              <a:ext cx="3275216" cy="2944762"/>
            </a:xfrm>
            <a:custGeom>
              <a:avLst/>
              <a:gdLst/>
              <a:ahLst/>
              <a:cxnLst/>
              <a:rect l="l" t="t" r="r" b="b"/>
              <a:pathLst>
                <a:path w="3275216" h="2944762">
                  <a:moveTo>
                    <a:pt x="3275216" y="2944762"/>
                  </a:moveTo>
                  <a:lnTo>
                    <a:pt x="0" y="2944762"/>
                  </a:lnTo>
                  <a:lnTo>
                    <a:pt x="0" y="0"/>
                  </a:lnTo>
                  <a:lnTo>
                    <a:pt x="3275216" y="0"/>
                  </a:lnTo>
                  <a:lnTo>
                    <a:pt x="3275216" y="2944762"/>
                  </a:lnTo>
                  <a:close/>
                  <a:moveTo>
                    <a:pt x="12700" y="2932062"/>
                  </a:moveTo>
                  <a:lnTo>
                    <a:pt x="3262516" y="2932062"/>
                  </a:lnTo>
                  <a:lnTo>
                    <a:pt x="3262516" y="12700"/>
                  </a:lnTo>
                  <a:lnTo>
                    <a:pt x="12700" y="12700"/>
                  </a:lnTo>
                  <a:lnTo>
                    <a:pt x="12700" y="2932062"/>
                  </a:lnTo>
                  <a:close/>
                </a:path>
              </a:pathLst>
            </a:custGeom>
            <a:solidFill>
              <a:srgbClr val="244DB6"/>
            </a:solidFill>
          </p:spPr>
          <p:txBody>
            <a:bodyPr/>
            <a:lstStyle/>
            <a:p>
              <a:endParaRPr lang="zh-TW" altLang="en-US"/>
            </a:p>
          </p:txBody>
        </p:sp>
      </p:grpSp>
      <p:sp>
        <p:nvSpPr>
          <p:cNvPr id="15" name="Freeform 15"/>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6" name="Freeform 16"/>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8" name="Freeform 18"/>
          <p:cNvSpPr/>
          <p:nvPr/>
        </p:nvSpPr>
        <p:spPr>
          <a:xfrm>
            <a:off x="17645677" y="599189"/>
            <a:ext cx="195011" cy="195011"/>
          </a:xfrm>
          <a:custGeom>
            <a:avLst/>
            <a:gdLst/>
            <a:ahLst/>
            <a:cxnLst/>
            <a:rect l="l" t="t" r="r" b="b"/>
            <a:pathLst>
              <a:path w="260014" h="260014">
                <a:moveTo>
                  <a:pt x="0" y="0"/>
                </a:moveTo>
                <a:lnTo>
                  <a:pt x="260014" y="0"/>
                </a:lnTo>
                <a:lnTo>
                  <a:pt x="260014" y="260014"/>
                </a:lnTo>
                <a:lnTo>
                  <a:pt x="0" y="2600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21" name="Group 21"/>
          <p:cNvGrpSpPr/>
          <p:nvPr/>
        </p:nvGrpSpPr>
        <p:grpSpPr>
          <a:xfrm>
            <a:off x="2634115" y="1389988"/>
            <a:ext cx="5597269" cy="1004011"/>
            <a:chOff x="0" y="0"/>
            <a:chExt cx="2877130" cy="516086"/>
          </a:xfrm>
        </p:grpSpPr>
        <p:sp>
          <p:nvSpPr>
            <p:cNvPr id="22" name="Freeform 22"/>
            <p:cNvSpPr/>
            <p:nvPr/>
          </p:nvSpPr>
          <p:spPr>
            <a:xfrm>
              <a:off x="48260" y="48260"/>
              <a:ext cx="2828870" cy="467826"/>
            </a:xfrm>
            <a:custGeom>
              <a:avLst/>
              <a:gdLst/>
              <a:ahLst/>
              <a:cxnLst/>
              <a:rect l="l" t="t" r="r" b="b"/>
              <a:pathLst>
                <a:path w="2828870" h="467826">
                  <a:moveTo>
                    <a:pt x="0" y="0"/>
                  </a:moveTo>
                  <a:lnTo>
                    <a:pt x="2828870" y="0"/>
                  </a:lnTo>
                  <a:lnTo>
                    <a:pt x="2828870" y="467826"/>
                  </a:lnTo>
                  <a:lnTo>
                    <a:pt x="0" y="467826"/>
                  </a:lnTo>
                  <a:close/>
                </a:path>
              </a:pathLst>
            </a:custGeom>
            <a:solidFill>
              <a:srgbClr val="244DB6"/>
            </a:solidFill>
          </p:spPr>
          <p:txBody>
            <a:bodyPr/>
            <a:lstStyle/>
            <a:p>
              <a:endParaRPr lang="zh-TW" altLang="en-US"/>
            </a:p>
          </p:txBody>
        </p:sp>
        <p:sp>
          <p:nvSpPr>
            <p:cNvPr id="23" name="Freeform 23"/>
            <p:cNvSpPr/>
            <p:nvPr/>
          </p:nvSpPr>
          <p:spPr>
            <a:xfrm>
              <a:off x="6350" y="6350"/>
              <a:ext cx="2828870" cy="467826"/>
            </a:xfrm>
            <a:custGeom>
              <a:avLst/>
              <a:gdLst/>
              <a:ahLst/>
              <a:cxnLst/>
              <a:rect l="l" t="t" r="r" b="b"/>
              <a:pathLst>
                <a:path w="2828870" h="467826">
                  <a:moveTo>
                    <a:pt x="0" y="0"/>
                  </a:moveTo>
                  <a:lnTo>
                    <a:pt x="2828870" y="0"/>
                  </a:lnTo>
                  <a:lnTo>
                    <a:pt x="2828870" y="467826"/>
                  </a:lnTo>
                  <a:lnTo>
                    <a:pt x="0" y="467826"/>
                  </a:lnTo>
                  <a:close/>
                </a:path>
              </a:pathLst>
            </a:custGeom>
            <a:solidFill>
              <a:srgbClr val="FFFCF4"/>
            </a:solidFill>
          </p:spPr>
          <p:txBody>
            <a:bodyPr/>
            <a:lstStyle/>
            <a:p>
              <a:endParaRPr lang="zh-TW" altLang="en-US"/>
            </a:p>
          </p:txBody>
        </p:sp>
        <p:sp>
          <p:nvSpPr>
            <p:cNvPr id="24" name="Freeform 24"/>
            <p:cNvSpPr/>
            <p:nvPr/>
          </p:nvSpPr>
          <p:spPr>
            <a:xfrm>
              <a:off x="0" y="0"/>
              <a:ext cx="2841570" cy="480526"/>
            </a:xfrm>
            <a:custGeom>
              <a:avLst/>
              <a:gdLst/>
              <a:ahLst/>
              <a:cxnLst/>
              <a:rect l="l" t="t" r="r" b="b"/>
              <a:pathLst>
                <a:path w="2841570" h="480526">
                  <a:moveTo>
                    <a:pt x="2841570" y="480526"/>
                  </a:moveTo>
                  <a:lnTo>
                    <a:pt x="0" y="480526"/>
                  </a:lnTo>
                  <a:lnTo>
                    <a:pt x="0" y="0"/>
                  </a:lnTo>
                  <a:lnTo>
                    <a:pt x="2841570" y="0"/>
                  </a:lnTo>
                  <a:lnTo>
                    <a:pt x="2841570" y="480526"/>
                  </a:lnTo>
                  <a:close/>
                  <a:moveTo>
                    <a:pt x="12700" y="467826"/>
                  </a:moveTo>
                  <a:lnTo>
                    <a:pt x="2828870" y="467826"/>
                  </a:lnTo>
                  <a:lnTo>
                    <a:pt x="2828870" y="12700"/>
                  </a:lnTo>
                  <a:lnTo>
                    <a:pt x="12700" y="12700"/>
                  </a:lnTo>
                  <a:lnTo>
                    <a:pt x="12700" y="467826"/>
                  </a:lnTo>
                  <a:close/>
                </a:path>
              </a:pathLst>
            </a:custGeom>
            <a:solidFill>
              <a:srgbClr val="244DB6"/>
            </a:solidFill>
          </p:spPr>
          <p:txBody>
            <a:bodyPr/>
            <a:lstStyle/>
            <a:p>
              <a:endParaRPr lang="zh-TW" altLang="en-US"/>
            </a:p>
          </p:txBody>
        </p:sp>
      </p:grpSp>
      <p:sp>
        <p:nvSpPr>
          <p:cNvPr id="25" name="TextBox 25"/>
          <p:cNvSpPr txBox="1"/>
          <p:nvPr/>
        </p:nvSpPr>
        <p:spPr>
          <a:xfrm>
            <a:off x="2182440" y="2720585"/>
            <a:ext cx="680272" cy="6413231"/>
          </a:xfrm>
          <a:prstGeom prst="rect">
            <a:avLst/>
          </a:prstGeom>
        </p:spPr>
        <p:txBody>
          <a:bodyPr lIns="0" tIns="0" rIns="0" bIns="0" rtlCol="0" anchor="t">
            <a:spAutoFit/>
          </a:bodyPr>
          <a:lstStyle/>
          <a:p>
            <a:pPr algn="l">
              <a:lnSpc>
                <a:spcPts val="7263"/>
              </a:lnSpc>
            </a:pPr>
            <a:r>
              <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rPr>
              <a:t>01</a:t>
            </a:r>
          </a:p>
          <a:p>
            <a:pPr algn="l">
              <a:lnSpc>
                <a:spcPts val="7263"/>
              </a:lnSpc>
            </a:pPr>
            <a:r>
              <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rPr>
              <a:t>02</a:t>
            </a:r>
          </a:p>
          <a:p>
            <a:pPr algn="l">
              <a:lnSpc>
                <a:spcPts val="7263"/>
              </a:lnSpc>
            </a:pPr>
            <a:r>
              <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rPr>
              <a:t>03</a:t>
            </a:r>
          </a:p>
          <a:p>
            <a:pPr algn="l">
              <a:lnSpc>
                <a:spcPts val="7263"/>
              </a:lnSpc>
            </a:pPr>
            <a:r>
              <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rPr>
              <a:t>04</a:t>
            </a:r>
          </a:p>
          <a:p>
            <a:pPr algn="l">
              <a:lnSpc>
                <a:spcPts val="7263"/>
              </a:lnSpc>
            </a:pPr>
            <a:r>
              <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rPr>
              <a:t>05</a:t>
            </a:r>
          </a:p>
          <a:p>
            <a:pPr algn="l">
              <a:lnSpc>
                <a:spcPts val="7263"/>
              </a:lnSpc>
            </a:pPr>
            <a:r>
              <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rPr>
              <a:t>06</a:t>
            </a:r>
          </a:p>
          <a:p>
            <a:pPr algn="l">
              <a:lnSpc>
                <a:spcPts val="7263"/>
              </a:lnSpc>
            </a:pPr>
            <a:endParaRPr lang="en-US" sz="4000" b="1" spc="287"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sym typeface="Roboto Mono Medium"/>
            </a:endParaRPr>
          </a:p>
        </p:txBody>
      </p:sp>
      <p:sp>
        <p:nvSpPr>
          <p:cNvPr id="26" name="TextBox 26"/>
          <p:cNvSpPr txBox="1"/>
          <p:nvPr/>
        </p:nvSpPr>
        <p:spPr>
          <a:xfrm>
            <a:off x="3112148" y="2720585"/>
            <a:ext cx="7241282" cy="5500608"/>
          </a:xfrm>
          <a:prstGeom prst="rect">
            <a:avLst/>
          </a:prstGeom>
        </p:spPr>
        <p:txBody>
          <a:bodyPr wrap="square" lIns="0" tIns="0" rIns="0" bIns="0" rtlCol="0" anchor="t">
            <a:spAutoFit/>
          </a:bodyPr>
          <a:lstStyle/>
          <a:p>
            <a:pPr algn="l">
              <a:lnSpc>
                <a:spcPts val="7263"/>
              </a:lnSpc>
            </a:pPr>
            <a:r>
              <a:rPr lang="en-US" sz="4000" b="1" spc="287"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緒論</a:t>
            </a:r>
            <a:endPar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l">
              <a:lnSpc>
                <a:spcPts val="7263"/>
              </a:lnSpc>
            </a:pPr>
            <a:r>
              <a:rPr lang="zh-TW" alt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實驗環境架設與負載模擬</a:t>
            </a:r>
            <a:endPar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l">
              <a:lnSpc>
                <a:spcPts val="7263"/>
              </a:lnSpc>
            </a:pPr>
            <a:r>
              <a:rPr lang="en-US" sz="4000" b="1" spc="287"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模型</a:t>
            </a:r>
            <a:r>
              <a:rPr lang="zh-TW" alt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資料處理及特徵建構</a:t>
            </a:r>
            <a:endPar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l">
              <a:lnSpc>
                <a:spcPts val="7263"/>
              </a:lnSpc>
            </a:pPr>
            <a:r>
              <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模</a:t>
            </a:r>
            <a:r>
              <a:rPr lang="zh-TW" alt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型訓練與訓練結果分析比較</a:t>
            </a:r>
            <a:endPar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l">
              <a:lnSpc>
                <a:spcPts val="7263"/>
              </a:lnSpc>
            </a:pPr>
            <a:r>
              <a:rPr lang="zh-TW" alt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模型應用與實驗分析</a:t>
            </a:r>
            <a:endPar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l">
              <a:lnSpc>
                <a:spcPts val="7263"/>
              </a:lnSpc>
            </a:pPr>
            <a:r>
              <a:rPr lang="en-US" sz="4000" b="1" spc="287"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結論與未來研究方向</a:t>
            </a:r>
            <a:endParaRPr lang="en-US" sz="4000" b="1" spc="287"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27" name="TextBox 27"/>
          <p:cNvSpPr txBox="1"/>
          <p:nvPr/>
        </p:nvSpPr>
        <p:spPr>
          <a:xfrm>
            <a:off x="2634115" y="1589734"/>
            <a:ext cx="5596767" cy="545214"/>
          </a:xfrm>
          <a:prstGeom prst="rect">
            <a:avLst/>
          </a:prstGeom>
        </p:spPr>
        <p:txBody>
          <a:bodyPr lIns="0" tIns="0" rIns="0" bIns="0" rtlCol="0" anchor="t">
            <a:spAutoFit/>
          </a:bodyPr>
          <a:lstStyle/>
          <a:p>
            <a:pPr algn="ctr">
              <a:lnSpc>
                <a:spcPts val="4239"/>
              </a:lnSpc>
            </a:pP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大綱</a:t>
            </a:r>
            <a:endParaRPr lang="en-US" sz="3999"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37" name="投影片編號版面配置區 36">
            <a:extLst>
              <a:ext uri="{FF2B5EF4-FFF2-40B4-BE49-F238E27FC236}">
                <a16:creationId xmlns:a16="http://schemas.microsoft.com/office/drawing/2014/main" id="{BFA0A348-75E1-9F79-B77B-99987F227CF1}"/>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2" name="Freeform 30">
            <a:extLst>
              <a:ext uri="{FF2B5EF4-FFF2-40B4-BE49-F238E27FC236}">
                <a16:creationId xmlns:a16="http://schemas.microsoft.com/office/drawing/2014/main" id="{267709FE-76C6-3D8E-2B28-FAA80FF5EC0C}"/>
              </a:ext>
            </a:extLst>
          </p:cNvPr>
          <p:cNvSpPr/>
          <p:nvPr/>
        </p:nvSpPr>
        <p:spPr>
          <a:xfrm>
            <a:off x="11510406" y="3317035"/>
            <a:ext cx="5831763" cy="5243861"/>
          </a:xfrm>
          <a:custGeom>
            <a:avLst/>
            <a:gdLst/>
            <a:ahLst/>
            <a:cxnLst/>
            <a:rect l="l" t="t" r="r" b="b"/>
            <a:pathLst>
              <a:path w="9087919" h="7683423">
                <a:moveTo>
                  <a:pt x="0" y="0"/>
                </a:moveTo>
                <a:lnTo>
                  <a:pt x="9087919" y="0"/>
                </a:lnTo>
                <a:lnTo>
                  <a:pt x="9087919" y="7683423"/>
                </a:lnTo>
                <a:lnTo>
                  <a:pt x="0" y="76834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2144796" y="936485"/>
            <a:ext cx="14866336" cy="8414030"/>
            <a:chOff x="0" y="0"/>
            <a:chExt cx="6389441" cy="3616288"/>
          </a:xfrm>
        </p:grpSpPr>
        <p:sp>
          <p:nvSpPr>
            <p:cNvPr id="12" name="Freeform 12"/>
            <p:cNvSpPr/>
            <p:nvPr/>
          </p:nvSpPr>
          <p:spPr>
            <a:xfrm>
              <a:off x="48260" y="48260"/>
              <a:ext cx="6341181" cy="3568028"/>
            </a:xfrm>
            <a:custGeom>
              <a:avLst/>
              <a:gdLst/>
              <a:ahLst/>
              <a:cxnLst/>
              <a:rect l="l" t="t" r="r" b="b"/>
              <a:pathLst>
                <a:path w="6341181" h="3568028">
                  <a:moveTo>
                    <a:pt x="0" y="0"/>
                  </a:moveTo>
                  <a:lnTo>
                    <a:pt x="6341181" y="0"/>
                  </a:lnTo>
                  <a:lnTo>
                    <a:pt x="6341181" y="3568028"/>
                  </a:lnTo>
                  <a:lnTo>
                    <a:pt x="0" y="3568028"/>
                  </a:lnTo>
                  <a:close/>
                </a:path>
              </a:pathLst>
            </a:custGeom>
            <a:solidFill>
              <a:srgbClr val="244DB6"/>
            </a:solidFill>
          </p:spPr>
          <p:txBody>
            <a:bodyPr/>
            <a:lstStyle/>
            <a:p>
              <a:endParaRPr lang="zh-TW" altLang="en-US"/>
            </a:p>
          </p:txBody>
        </p:sp>
        <p:sp>
          <p:nvSpPr>
            <p:cNvPr id="13" name="Freeform 13"/>
            <p:cNvSpPr/>
            <p:nvPr/>
          </p:nvSpPr>
          <p:spPr>
            <a:xfrm>
              <a:off x="6350" y="6350"/>
              <a:ext cx="6341181" cy="3568028"/>
            </a:xfrm>
            <a:custGeom>
              <a:avLst/>
              <a:gdLst/>
              <a:ahLst/>
              <a:cxnLst/>
              <a:rect l="l" t="t" r="r" b="b"/>
              <a:pathLst>
                <a:path w="6341181" h="3568028">
                  <a:moveTo>
                    <a:pt x="0" y="0"/>
                  </a:moveTo>
                  <a:lnTo>
                    <a:pt x="6341181" y="0"/>
                  </a:lnTo>
                  <a:lnTo>
                    <a:pt x="6341181" y="3568028"/>
                  </a:lnTo>
                  <a:lnTo>
                    <a:pt x="0" y="3568028"/>
                  </a:lnTo>
                  <a:close/>
                </a:path>
              </a:pathLst>
            </a:custGeom>
            <a:solidFill>
              <a:srgbClr val="FFFCF4"/>
            </a:solidFill>
          </p:spPr>
          <p:txBody>
            <a:bodyPr/>
            <a:lstStyle/>
            <a:p>
              <a:endParaRPr lang="zh-TW" altLang="en-US" dirty="0"/>
            </a:p>
          </p:txBody>
        </p:sp>
        <p:sp>
          <p:nvSpPr>
            <p:cNvPr id="14" name="Freeform 14"/>
            <p:cNvSpPr/>
            <p:nvPr/>
          </p:nvSpPr>
          <p:spPr>
            <a:xfrm>
              <a:off x="0" y="0"/>
              <a:ext cx="6353881" cy="3580728"/>
            </a:xfrm>
            <a:custGeom>
              <a:avLst/>
              <a:gdLst/>
              <a:ahLst/>
              <a:cxnLst/>
              <a:rect l="l" t="t" r="r" b="b"/>
              <a:pathLst>
                <a:path w="6353881" h="3580728">
                  <a:moveTo>
                    <a:pt x="6353881" y="3580728"/>
                  </a:moveTo>
                  <a:lnTo>
                    <a:pt x="0" y="3580728"/>
                  </a:lnTo>
                  <a:lnTo>
                    <a:pt x="0" y="0"/>
                  </a:lnTo>
                  <a:lnTo>
                    <a:pt x="6353881" y="0"/>
                  </a:lnTo>
                  <a:lnTo>
                    <a:pt x="6353881" y="3580728"/>
                  </a:lnTo>
                  <a:close/>
                  <a:moveTo>
                    <a:pt x="12700" y="3568028"/>
                  </a:moveTo>
                  <a:lnTo>
                    <a:pt x="6341181" y="3568028"/>
                  </a:lnTo>
                  <a:lnTo>
                    <a:pt x="6341181" y="12700"/>
                  </a:lnTo>
                  <a:lnTo>
                    <a:pt x="12700" y="12700"/>
                  </a:lnTo>
                  <a:lnTo>
                    <a:pt x="12700" y="3568028"/>
                  </a:lnTo>
                  <a:close/>
                </a:path>
              </a:pathLst>
            </a:custGeom>
            <a:solidFill>
              <a:srgbClr val="244DB6"/>
            </a:solidFill>
          </p:spPr>
          <p:txBody>
            <a:bodyPr/>
            <a:lstStyle/>
            <a:p>
              <a:endParaRPr lang="zh-TW" altLang="en-US"/>
            </a:p>
          </p:txBody>
        </p:sp>
      </p:grpSp>
      <p:sp>
        <p:nvSpPr>
          <p:cNvPr id="15" name="AutoShape 15"/>
          <p:cNvSpPr/>
          <p:nvPr/>
        </p:nvSpPr>
        <p:spPr>
          <a:xfrm>
            <a:off x="3756871" y="2425715"/>
            <a:ext cx="13254262" cy="0"/>
          </a:xfrm>
          <a:prstGeom prst="line">
            <a:avLst/>
          </a:prstGeom>
          <a:ln w="19050" cap="flat">
            <a:solidFill>
              <a:srgbClr val="244DB6"/>
            </a:solidFill>
            <a:prstDash val="solid"/>
            <a:headEnd type="none" w="sm" len="sm"/>
            <a:tailEnd type="none" w="sm" len="sm"/>
          </a:ln>
        </p:spPr>
        <p:txBody>
          <a:bodyPr/>
          <a:lstStyle/>
          <a:p>
            <a:endParaRPr lang="zh-TW" altLang="en-US"/>
          </a:p>
        </p:txBody>
      </p:sp>
      <p:sp>
        <p:nvSpPr>
          <p:cNvPr id="16" name="Freeform 16"/>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7" name="Freeform 17"/>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8" name="Freeform 18"/>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9" name="Freeform 19"/>
          <p:cNvSpPr/>
          <p:nvPr/>
        </p:nvSpPr>
        <p:spPr>
          <a:xfrm>
            <a:off x="17645677" y="949280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0" name="Freeform 20"/>
          <p:cNvSpPr/>
          <p:nvPr/>
        </p:nvSpPr>
        <p:spPr>
          <a:xfrm>
            <a:off x="13784814" y="3032919"/>
            <a:ext cx="2864640" cy="2698491"/>
          </a:xfrm>
          <a:custGeom>
            <a:avLst/>
            <a:gdLst/>
            <a:ahLst/>
            <a:cxnLst/>
            <a:rect l="l" t="t" r="r" b="b"/>
            <a:pathLst>
              <a:path w="2864640" h="2698491">
                <a:moveTo>
                  <a:pt x="0" y="0"/>
                </a:moveTo>
                <a:lnTo>
                  <a:pt x="2864640" y="0"/>
                </a:lnTo>
                <a:lnTo>
                  <a:pt x="2864640" y="2698491"/>
                </a:lnTo>
                <a:lnTo>
                  <a:pt x="0" y="26984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21" name="TextBox 21"/>
          <p:cNvSpPr txBox="1"/>
          <p:nvPr/>
        </p:nvSpPr>
        <p:spPr>
          <a:xfrm>
            <a:off x="2940086" y="3075731"/>
            <a:ext cx="10576444" cy="4087850"/>
          </a:xfrm>
          <a:prstGeom prst="rect">
            <a:avLst/>
          </a:prstGeom>
        </p:spPr>
        <p:txBody>
          <a:bodyPr wrap="square" lIns="0" tIns="0" rIns="0" bIns="0" rtlCol="0" anchor="t">
            <a:spAutoFit/>
          </a:bodyPr>
          <a:lstStyle/>
          <a:p>
            <a:pPr>
              <a:lnSpc>
                <a:spcPts val="4607"/>
              </a:lnSpc>
            </a:pP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Kubernetes </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為主流微服務編排平台，能支援大規模部署，然而在高併發與突發流量下，延遲波動劇烈，效能變化將變得難以即時掌握。</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a:lnSpc>
                <a:spcPts val="4607"/>
              </a:lnSpc>
            </a:pP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just">
              <a:lnSpc>
                <a:spcPts val="4607"/>
              </a:lnSpc>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動機：</a:t>
            </a:r>
            <a:endParaRPr 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914400" lvl="1" indent="-457200">
              <a:lnSpc>
                <a:spcPts val="4607"/>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為提升即時性與穩定性，導入機器學習方法預測延遲變化，降低風險</a:t>
            </a:r>
            <a:endParaRPr 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22" name="TextBox 22"/>
          <p:cNvSpPr txBox="1"/>
          <p:nvPr/>
        </p:nvSpPr>
        <p:spPr>
          <a:xfrm>
            <a:off x="5868861" y="1564565"/>
            <a:ext cx="6550278" cy="545214"/>
          </a:xfrm>
          <a:prstGeom prst="rect">
            <a:avLst/>
          </a:prstGeom>
        </p:spPr>
        <p:txBody>
          <a:bodyPr lIns="0" tIns="0" rIns="0" bIns="0" rtlCol="0" anchor="t">
            <a:spAutoFit/>
          </a:bodyPr>
          <a:lstStyle/>
          <a:p>
            <a:pPr algn="ctr">
              <a:lnSpc>
                <a:spcPts val="4239"/>
              </a:lnSpc>
            </a:pP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研究動機</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graphicFrame>
        <p:nvGraphicFramePr>
          <p:cNvPr id="23" name="資料庫圖表 22">
            <a:extLst>
              <a:ext uri="{FF2B5EF4-FFF2-40B4-BE49-F238E27FC236}">
                <a16:creationId xmlns:a16="http://schemas.microsoft.com/office/drawing/2014/main" id="{21F266FD-C772-25A8-95AE-73427ACE879F}"/>
              </a:ext>
            </a:extLst>
          </p:cNvPr>
          <p:cNvGraphicFramePr/>
          <p:nvPr>
            <p:extLst>
              <p:ext uri="{D42A27DB-BD31-4B8C-83A1-F6EECF244321}">
                <p14:modId xmlns:p14="http://schemas.microsoft.com/office/powerpoint/2010/main" val="2558481025"/>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4" name="投影片編號版面配置區 23">
            <a:extLst>
              <a:ext uri="{FF2B5EF4-FFF2-40B4-BE49-F238E27FC236}">
                <a16:creationId xmlns:a16="http://schemas.microsoft.com/office/drawing/2014/main" id="{9595E08D-D8E6-659D-61EF-BD4ED575A753}"/>
              </a:ext>
            </a:extLst>
          </p:cNvPr>
          <p:cNvSpPr>
            <a:spLocks noGrp="1"/>
          </p:cNvSpPr>
          <p:nvPr>
            <p:ph type="sldNum" sz="quarter" idx="12"/>
          </p:nvPr>
        </p:nvSpPr>
        <p:spPr/>
        <p:txBody>
          <a:bodyPr/>
          <a:lstStyle/>
          <a:p>
            <a:fld id="{B6F15528-21DE-4FAA-801E-634DDDAF4B2B}" type="slidenum">
              <a:rPr lang="en-US" smtClean="0">
                <a:latin typeface="微軟正黑體" panose="020B0604030504040204" pitchFamily="34" charset="-120"/>
                <a:ea typeface="微軟正黑體" panose="020B0604030504040204" pitchFamily="34" charset="-120"/>
              </a:rPr>
              <a:pPr/>
              <a:t>3</a:t>
            </a:fld>
            <a:endParaRPr lang="en-US" dirty="0">
              <a:latin typeface="微軟正黑體" panose="020B0604030504040204" pitchFamily="34" charset="-120"/>
              <a:ea typeface="微軟正黑體" panose="020B0604030504040204" pitchFamily="34" charset="-120"/>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6868" y="936485"/>
            <a:ext cx="15734265" cy="8414030"/>
            <a:chOff x="0" y="0"/>
            <a:chExt cx="6762470" cy="3616288"/>
          </a:xfrm>
        </p:grpSpPr>
        <p:sp>
          <p:nvSpPr>
            <p:cNvPr id="3" name="Freeform 3"/>
            <p:cNvSpPr/>
            <p:nvPr/>
          </p:nvSpPr>
          <p:spPr>
            <a:xfrm>
              <a:off x="48260" y="48260"/>
              <a:ext cx="6714210" cy="3568028"/>
            </a:xfrm>
            <a:custGeom>
              <a:avLst/>
              <a:gdLst/>
              <a:ahLst/>
              <a:cxnLst/>
              <a:rect l="l" t="t" r="r" b="b"/>
              <a:pathLst>
                <a:path w="6714210" h="3568028">
                  <a:moveTo>
                    <a:pt x="0" y="0"/>
                  </a:moveTo>
                  <a:lnTo>
                    <a:pt x="6714210" y="0"/>
                  </a:lnTo>
                  <a:lnTo>
                    <a:pt x="6714210" y="3568028"/>
                  </a:lnTo>
                  <a:lnTo>
                    <a:pt x="0" y="3568028"/>
                  </a:lnTo>
                  <a:close/>
                </a:path>
              </a:pathLst>
            </a:custGeom>
            <a:solidFill>
              <a:srgbClr val="244DB6"/>
            </a:solidFill>
          </p:spPr>
          <p:txBody>
            <a:bodyPr/>
            <a:lstStyle/>
            <a:p>
              <a:endParaRPr lang="zh-TW" altLang="en-US"/>
            </a:p>
          </p:txBody>
        </p:sp>
        <p:sp>
          <p:nvSpPr>
            <p:cNvPr id="4" name="Freeform 4"/>
            <p:cNvSpPr/>
            <p:nvPr/>
          </p:nvSpPr>
          <p:spPr>
            <a:xfrm>
              <a:off x="6350" y="6350"/>
              <a:ext cx="6714210" cy="3568028"/>
            </a:xfrm>
            <a:custGeom>
              <a:avLst/>
              <a:gdLst/>
              <a:ahLst/>
              <a:cxnLst/>
              <a:rect l="l" t="t" r="r" b="b"/>
              <a:pathLst>
                <a:path w="6714210" h="3568028">
                  <a:moveTo>
                    <a:pt x="0" y="0"/>
                  </a:moveTo>
                  <a:lnTo>
                    <a:pt x="6714210" y="0"/>
                  </a:lnTo>
                  <a:lnTo>
                    <a:pt x="6714210" y="3568028"/>
                  </a:lnTo>
                  <a:lnTo>
                    <a:pt x="0" y="3568028"/>
                  </a:lnTo>
                  <a:close/>
                </a:path>
              </a:pathLst>
            </a:custGeom>
            <a:solidFill>
              <a:srgbClr val="FFFCF4"/>
            </a:solidFill>
          </p:spPr>
          <p:txBody>
            <a:bodyPr/>
            <a:lstStyle/>
            <a:p>
              <a:endParaRPr lang="zh-TW" altLang="en-US"/>
            </a:p>
          </p:txBody>
        </p:sp>
        <p:sp>
          <p:nvSpPr>
            <p:cNvPr id="5" name="Freeform 5"/>
            <p:cNvSpPr/>
            <p:nvPr/>
          </p:nvSpPr>
          <p:spPr>
            <a:xfrm>
              <a:off x="0" y="0"/>
              <a:ext cx="6726910" cy="3580728"/>
            </a:xfrm>
            <a:custGeom>
              <a:avLst/>
              <a:gdLst/>
              <a:ahLst/>
              <a:cxnLst/>
              <a:rect l="l" t="t" r="r" b="b"/>
              <a:pathLst>
                <a:path w="6726910" h="3580728">
                  <a:moveTo>
                    <a:pt x="6726910" y="3580728"/>
                  </a:moveTo>
                  <a:lnTo>
                    <a:pt x="0" y="3580728"/>
                  </a:lnTo>
                  <a:lnTo>
                    <a:pt x="0" y="0"/>
                  </a:lnTo>
                  <a:lnTo>
                    <a:pt x="6726910" y="0"/>
                  </a:lnTo>
                  <a:lnTo>
                    <a:pt x="6726910" y="3580728"/>
                  </a:lnTo>
                  <a:close/>
                  <a:moveTo>
                    <a:pt x="12700" y="3568028"/>
                  </a:moveTo>
                  <a:lnTo>
                    <a:pt x="6714210" y="3568028"/>
                  </a:lnTo>
                  <a:lnTo>
                    <a:pt x="6714210" y="12700"/>
                  </a:lnTo>
                  <a:lnTo>
                    <a:pt x="12700" y="12700"/>
                  </a:lnTo>
                  <a:lnTo>
                    <a:pt x="12700" y="3568028"/>
                  </a:lnTo>
                  <a:close/>
                </a:path>
              </a:pathLst>
            </a:custGeom>
            <a:solidFill>
              <a:srgbClr val="244DB6"/>
            </a:solidFill>
          </p:spPr>
          <p:txBody>
            <a:bodyPr/>
            <a:lstStyle/>
            <a:p>
              <a:endParaRPr lang="zh-TW" altLang="en-US"/>
            </a:p>
          </p:txBody>
        </p:sp>
      </p:grpSp>
      <p:sp>
        <p:nvSpPr>
          <p:cNvPr id="16" name="Freeform 16"/>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7" name="Freeform 17"/>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8" name="Freeform 18"/>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9" name="AutoShape 19"/>
          <p:cNvSpPr/>
          <p:nvPr/>
        </p:nvSpPr>
        <p:spPr>
          <a:xfrm>
            <a:off x="1276868" y="2416190"/>
            <a:ext cx="15734265" cy="0"/>
          </a:xfrm>
          <a:prstGeom prst="line">
            <a:avLst/>
          </a:prstGeom>
          <a:ln w="19050" cap="flat">
            <a:solidFill>
              <a:srgbClr val="244DB6"/>
            </a:solidFill>
            <a:prstDash val="solid"/>
            <a:headEnd type="none" w="sm" len="sm"/>
            <a:tailEnd type="none" w="sm" len="sm"/>
          </a:ln>
        </p:spPr>
        <p:txBody>
          <a:bodyPr/>
          <a:lstStyle/>
          <a:p>
            <a:endParaRPr lang="zh-TW" altLang="en-US"/>
          </a:p>
        </p:txBody>
      </p:sp>
      <p:sp>
        <p:nvSpPr>
          <p:cNvPr id="21" name="TextBox 21"/>
          <p:cNvSpPr txBox="1"/>
          <p:nvPr/>
        </p:nvSpPr>
        <p:spPr>
          <a:xfrm>
            <a:off x="5868861" y="1595571"/>
            <a:ext cx="6550278" cy="545214"/>
          </a:xfrm>
          <a:prstGeom prst="rect">
            <a:avLst/>
          </a:prstGeom>
        </p:spPr>
        <p:txBody>
          <a:bodyPr lIns="0" tIns="0" rIns="0" bIns="0" rtlCol="0" anchor="t">
            <a:spAutoFit/>
          </a:bodyPr>
          <a:lstStyle/>
          <a:p>
            <a:pPr algn="ctr">
              <a:lnSpc>
                <a:spcPts val="4239"/>
              </a:lnSpc>
            </a:pP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研究目的</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2" name="TextBox 22"/>
          <p:cNvSpPr txBox="1"/>
          <p:nvPr/>
        </p:nvSpPr>
        <p:spPr>
          <a:xfrm>
            <a:off x="2057400" y="2628900"/>
            <a:ext cx="14131004" cy="5813707"/>
          </a:xfrm>
          <a:prstGeom prst="rect">
            <a:avLst/>
          </a:prstGeom>
        </p:spPr>
        <p:txBody>
          <a:bodyPr wrap="square" lIns="0" tIns="0" rIns="0" bIns="0" rtlCol="0" anchor="t">
            <a:spAutoFit/>
          </a:bodyPr>
          <a:lstStyle/>
          <a:p>
            <a:pPr algn="just">
              <a:lnSpc>
                <a:spcPts val="4607"/>
              </a:lnSpc>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為解決傳統方法在高併發情境下預測不穩的問題，本研究提出以機器學習為核心的延遲預測方法，應用於</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Kubernetes</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微服務環境，以支援效能管理與延遲控制。</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just">
              <a:lnSpc>
                <a:spcPts val="4607"/>
              </a:lnSpc>
            </a:pP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just">
              <a:lnSpc>
                <a:spcPts val="4607"/>
              </a:lnSpc>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具體目標：</a:t>
            </a:r>
          </a:p>
          <a:p>
            <a:pPr marL="971550" lvl="1" indent="-514350" algn="just">
              <a:lnSpc>
                <a:spcPct val="150000"/>
              </a:lnSpc>
              <a:buFont typeface="+mj-lt"/>
              <a:buAutoNum type="arabicPeriod"/>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建立以機器學習為核心的延遲預測架構，</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能反映不同情境下的效能行為</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p>
          <a:p>
            <a:pPr marL="971550" lvl="1" indent="-514350" algn="just">
              <a:lnSpc>
                <a:spcPct val="150000"/>
              </a:lnSpc>
              <a:buFont typeface="+mj-lt"/>
              <a:buAutoNum type="arabicPeriod"/>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評估多種模型的準確性與穩定性，並比較其差異。</a:t>
            </a:r>
          </a:p>
          <a:p>
            <a:pPr marL="971550" lvl="1" indent="-514350" algn="just">
              <a:lnSpc>
                <a:spcPct val="150000"/>
              </a:lnSpc>
              <a:buFont typeface="+mj-lt"/>
              <a:buAutoNum type="arabicPeriod"/>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提供維運依據，及早識別效能瓶頸，支援效能</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管理</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971550" lvl="1" indent="-514350" algn="just">
              <a:lnSpc>
                <a:spcPct val="150000"/>
              </a:lnSpc>
              <a:buFont typeface="+mj-lt"/>
              <a:buAutoNum type="arabicPeriod"/>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比較傳統與機器學習方法在表現，評估其參考價值。</a:t>
            </a:r>
            <a:endParaRPr 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32" name="投影片編號版面配置區 31">
            <a:extLst>
              <a:ext uri="{FF2B5EF4-FFF2-40B4-BE49-F238E27FC236}">
                <a16:creationId xmlns:a16="http://schemas.microsoft.com/office/drawing/2014/main" id="{77F91107-0C3D-2EAF-EC2A-56BC60728091}"/>
              </a:ext>
            </a:extLst>
          </p:cNvPr>
          <p:cNvSpPr>
            <a:spLocks noGrp="1"/>
          </p:cNvSpPr>
          <p:nvPr>
            <p:ph type="sldNum" sz="quarter" idx="12"/>
          </p:nvPr>
        </p:nvSpPr>
        <p:spPr/>
        <p:txBody>
          <a:bodyPr/>
          <a:lstStyle/>
          <a:p>
            <a:fld id="{B6F15528-21DE-4FAA-801E-634DDDAF4B2B}" type="slidenum">
              <a:rPr lang="en-US" smtClean="0"/>
              <a:pPr/>
              <a:t>4</a:t>
            </a:fld>
            <a:endParaRPr lang="en-US"/>
          </a:p>
        </p:txBody>
      </p:sp>
      <p:graphicFrame>
        <p:nvGraphicFramePr>
          <p:cNvPr id="6" name="資料庫圖表 5">
            <a:extLst>
              <a:ext uri="{FF2B5EF4-FFF2-40B4-BE49-F238E27FC236}">
                <a16:creationId xmlns:a16="http://schemas.microsoft.com/office/drawing/2014/main" id="{8A336C9D-36D5-2DD9-4FD1-9823E9D0E621}"/>
              </a:ext>
            </a:extLst>
          </p:cNvPr>
          <p:cNvGraphicFramePr/>
          <p:nvPr>
            <p:extLst>
              <p:ext uri="{D42A27DB-BD31-4B8C-83A1-F6EECF244321}">
                <p14:modId xmlns:p14="http://schemas.microsoft.com/office/powerpoint/2010/main" val="2976719262"/>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3" name="Group 13"/>
          <p:cNvGrpSpPr/>
          <p:nvPr/>
        </p:nvGrpSpPr>
        <p:grpSpPr>
          <a:xfrm>
            <a:off x="1905000" y="1599210"/>
            <a:ext cx="14249400" cy="7344164"/>
            <a:chOff x="0" y="0"/>
            <a:chExt cx="5662802" cy="3156468"/>
          </a:xfrm>
        </p:grpSpPr>
        <p:sp>
          <p:nvSpPr>
            <p:cNvPr id="14" name="Freeform 14"/>
            <p:cNvSpPr/>
            <p:nvPr/>
          </p:nvSpPr>
          <p:spPr>
            <a:xfrm>
              <a:off x="48260" y="4826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244DB6"/>
            </a:solidFill>
          </p:spPr>
          <p:txBody>
            <a:bodyPr/>
            <a:lstStyle/>
            <a:p>
              <a:endParaRPr lang="zh-TW" altLang="en-US"/>
            </a:p>
          </p:txBody>
        </p:sp>
        <p:sp>
          <p:nvSpPr>
            <p:cNvPr id="15" name="Freeform 15"/>
            <p:cNvSpPr/>
            <p:nvPr/>
          </p:nvSpPr>
          <p:spPr>
            <a:xfrm>
              <a:off x="6350" y="635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6" name="Freeform 16"/>
            <p:cNvSpPr/>
            <p:nvPr/>
          </p:nvSpPr>
          <p:spPr>
            <a:xfrm>
              <a:off x="0" y="0"/>
              <a:ext cx="5627242" cy="3120908"/>
            </a:xfrm>
            <a:custGeom>
              <a:avLst/>
              <a:gdLst/>
              <a:ahLst/>
              <a:cxnLst/>
              <a:rect l="l" t="t" r="r" b="b"/>
              <a:pathLst>
                <a:path w="5627242" h="3120908">
                  <a:moveTo>
                    <a:pt x="5627242" y="3120908"/>
                  </a:moveTo>
                  <a:lnTo>
                    <a:pt x="0" y="3120908"/>
                  </a:lnTo>
                  <a:lnTo>
                    <a:pt x="0" y="0"/>
                  </a:lnTo>
                  <a:lnTo>
                    <a:pt x="5627242" y="0"/>
                  </a:lnTo>
                  <a:lnTo>
                    <a:pt x="5627242" y="3120908"/>
                  </a:lnTo>
                  <a:close/>
                  <a:moveTo>
                    <a:pt x="12700" y="3108208"/>
                  </a:moveTo>
                  <a:lnTo>
                    <a:pt x="5614542" y="3108208"/>
                  </a:lnTo>
                  <a:lnTo>
                    <a:pt x="5614542" y="12700"/>
                  </a:lnTo>
                  <a:lnTo>
                    <a:pt x="12700" y="12700"/>
                  </a:lnTo>
                  <a:lnTo>
                    <a:pt x="12700" y="3108208"/>
                  </a:lnTo>
                  <a:close/>
                </a:path>
              </a:pathLst>
            </a:custGeom>
            <a:solidFill>
              <a:srgbClr val="244DB6"/>
            </a:solidFill>
          </p:spPr>
          <p:txBody>
            <a:bodyPr/>
            <a:lstStyle/>
            <a:p>
              <a:endParaRPr lang="zh-TW" altLang="en-US"/>
            </a:p>
          </p:txBody>
        </p:sp>
      </p:grpSp>
      <p:sp>
        <p:nvSpPr>
          <p:cNvPr id="24" name="TextBox 24"/>
          <p:cNvSpPr txBox="1"/>
          <p:nvPr/>
        </p:nvSpPr>
        <p:spPr>
          <a:xfrm>
            <a:off x="2133601" y="1701632"/>
            <a:ext cx="13716000" cy="4127668"/>
          </a:xfrm>
          <a:prstGeom prst="rect">
            <a:avLst/>
          </a:prstGeom>
        </p:spPr>
        <p:txBody>
          <a:bodyPr wrap="square" lIns="0" tIns="0" rIns="0" bIns="0" rtlCol="0" anchor="t">
            <a:spAutoFit/>
          </a:bodyPr>
          <a:lstStyle/>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多數研究以分類器</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(Classifier)</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辨識服務異常為主，較少針對延遲變化進行連續預測的回歸器</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(Regressor)</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a:t>
            </a:r>
            <a:endParaRPr 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部分研究以工作流程層級為單位，</a:t>
            </a:r>
            <a:r>
              <a:rPr lang="en-US" sz="26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缺乏</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針對單一微服務的延遲預測分析</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評估指標偏重平均誤差，難以反映高風險情境</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多以</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CPU</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、記憶體使用率等系統層級特徵為主，難以呈現微服務層級延遲的實際變化趨勢</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深度學習模型結構複雜，在</a:t>
            </a:r>
            <a:r>
              <a:rPr lang="zh-TW"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資料</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集規模有限</a:t>
            </a:r>
            <a:r>
              <a:rPr lang="zh-TW"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時容易過擬合</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且訓練成本較高、資源需求大</a:t>
            </a:r>
            <a:r>
              <a:rPr lang="en-US" altLang="zh-TW" sz="1400" b="1" dirty="0">
                <a:latin typeface="微軟正黑體" panose="020B0604030504040204" pitchFamily="34" charset="-120"/>
                <a:ea typeface="微軟正黑體" panose="020B0604030504040204" pitchFamily="34" charset="-120"/>
                <a:cs typeface="Times New Roman" panose="02020603050405020304" pitchFamily="18" charset="0"/>
              </a:rPr>
              <a:t>[1,2]</a:t>
            </a: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文獻</a:t>
            </a:r>
            <a:r>
              <a:rPr lang="en-US" altLang="zh-TW" sz="1400" b="1" dirty="0">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指出在效能與資源預測任務中，傳統 </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ML(</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如 </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RF</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6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XGBoost</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表現比深度學習更佳</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27" name="TextBox 27"/>
          <p:cNvSpPr txBox="1"/>
          <p:nvPr/>
        </p:nvSpPr>
        <p:spPr>
          <a:xfrm>
            <a:off x="4579171" y="1053996"/>
            <a:ext cx="822813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現有</a:t>
            </a: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研究</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之限制與研究定位</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9" name="Freeform 29"/>
          <p:cNvSpPr/>
          <p:nvPr/>
        </p:nvSpPr>
        <p:spPr>
          <a:xfrm>
            <a:off x="17645677" y="949280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9" name="投影片編號版面配置區 38">
            <a:extLst>
              <a:ext uri="{FF2B5EF4-FFF2-40B4-BE49-F238E27FC236}">
                <a16:creationId xmlns:a16="http://schemas.microsoft.com/office/drawing/2014/main" id="{651FE832-8B4D-6314-9126-26CF65327B92}"/>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文字方塊 3">
            <a:extLst>
              <a:ext uri="{FF2B5EF4-FFF2-40B4-BE49-F238E27FC236}">
                <a16:creationId xmlns:a16="http://schemas.microsoft.com/office/drawing/2014/main" id="{9FAA0253-2F5A-70DB-5E7B-9EC9B4CC5C73}"/>
              </a:ext>
            </a:extLst>
          </p:cNvPr>
          <p:cNvSpPr txBox="1"/>
          <p:nvPr/>
        </p:nvSpPr>
        <p:spPr>
          <a:xfrm>
            <a:off x="3065088" y="6132360"/>
            <a:ext cx="11811000" cy="1015663"/>
          </a:xfrm>
          <a:prstGeom prst="rect">
            <a:avLst/>
          </a:prstGeom>
          <a:noFill/>
          <a:ln>
            <a:solidFill>
              <a:schemeClr val="accent2"/>
            </a:solidFill>
          </a:ln>
        </p:spPr>
        <p:txBody>
          <a:bodyPr wrap="square" rtlCol="0">
            <a:spAutoFit/>
          </a:bodyPr>
          <a:lstStyle/>
          <a:p>
            <a:r>
              <a:rPr lang="zh-TW" altLang="en-US" sz="30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本研究以「微服務延遲預測」為核心，採用回歸模型，針對既有研究多以分類模型為主、僅著重平均誤差的情境，提出不同的設計方向。</a:t>
            </a:r>
          </a:p>
        </p:txBody>
      </p:sp>
      <p:graphicFrame>
        <p:nvGraphicFramePr>
          <p:cNvPr id="2" name="資料庫圖表 1">
            <a:extLst>
              <a:ext uri="{FF2B5EF4-FFF2-40B4-BE49-F238E27FC236}">
                <a16:creationId xmlns:a16="http://schemas.microsoft.com/office/drawing/2014/main" id="{E55B92B6-E6D4-5764-AD7D-1437303AC4D5}"/>
              </a:ext>
            </a:extLst>
          </p:cNvPr>
          <p:cNvGraphicFramePr/>
          <p:nvPr>
            <p:extLst>
              <p:ext uri="{D42A27DB-BD31-4B8C-83A1-F6EECF244321}">
                <p14:modId xmlns:p14="http://schemas.microsoft.com/office/powerpoint/2010/main" val="2976719262"/>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文字方塊 2">
            <a:extLst>
              <a:ext uri="{FF2B5EF4-FFF2-40B4-BE49-F238E27FC236}">
                <a16:creationId xmlns:a16="http://schemas.microsoft.com/office/drawing/2014/main" id="{CBC900EF-803F-B378-00C9-FB710234E59B}"/>
              </a:ext>
            </a:extLst>
          </p:cNvPr>
          <p:cNvSpPr txBox="1"/>
          <p:nvPr/>
        </p:nvSpPr>
        <p:spPr>
          <a:xfrm>
            <a:off x="2357081" y="7759240"/>
            <a:ext cx="12672317" cy="1015663"/>
          </a:xfrm>
          <a:prstGeom prst="rect">
            <a:avLst/>
          </a:prstGeom>
          <a:noFill/>
        </p:spPr>
        <p:txBody>
          <a:bodyPr wrap="square">
            <a:spAutoFit/>
          </a:bodyPr>
          <a:lstStyle/>
          <a:p>
            <a:pPr algn="just"/>
            <a:r>
              <a:rPr lang="en-US" altLang="zh-TW" sz="1200" dirty="0"/>
              <a:t>[1]</a:t>
            </a:r>
            <a:r>
              <a:rPr lang="zh-TW" altLang="en-US" sz="1200" dirty="0"/>
              <a:t> </a:t>
            </a:r>
            <a:r>
              <a:rPr lang="en-US" altLang="zh-TW" sz="1200" dirty="0"/>
              <a:t>M. Fernández-Delgado, E. </a:t>
            </a:r>
            <a:r>
              <a:rPr lang="en-US" altLang="zh-TW" sz="1200" dirty="0" err="1"/>
              <a:t>Cernadas</a:t>
            </a:r>
            <a:r>
              <a:rPr lang="en-US" altLang="zh-TW" sz="1200" dirty="0"/>
              <a:t>, S. Barro, and D. Amorim, "Do we need hundreds of classifiers to solve real world classification problems?," </a:t>
            </a:r>
            <a:r>
              <a:rPr lang="en-US" altLang="zh-TW" sz="1200" i="1" dirty="0"/>
              <a:t>The journal of machine learning research, </a:t>
            </a:r>
            <a:r>
              <a:rPr lang="en-US" altLang="zh-TW" sz="1200" dirty="0"/>
              <a:t>vol. 15, no. 1, pp. 3133–3181, 2014</a:t>
            </a:r>
          </a:p>
          <a:p>
            <a:pPr algn="just"/>
            <a:r>
              <a:rPr lang="en-US" altLang="zh-TW" sz="1200" dirty="0"/>
              <a:t>[2]</a:t>
            </a:r>
            <a:r>
              <a:rPr lang="zh-TW" altLang="en-US" sz="1200" dirty="0"/>
              <a:t> </a:t>
            </a:r>
            <a:r>
              <a:rPr lang="en-US" altLang="zh-TW" sz="1200" dirty="0"/>
              <a:t>J. Grohmann, P. K. Nicholson, J. O. Iglesias, S. Kounev, and D. Lugones, "</a:t>
            </a:r>
            <a:r>
              <a:rPr lang="en-US" altLang="zh-TW" sz="1200" dirty="0" err="1"/>
              <a:t>Monitorless</a:t>
            </a:r>
            <a:r>
              <a:rPr lang="zh-TW" altLang="zh-TW" sz="1200" dirty="0"/>
              <a:t>：</a:t>
            </a:r>
            <a:r>
              <a:rPr lang="en-US" altLang="zh-TW" sz="1200" dirty="0"/>
              <a:t> Predicting performance degradation in cloud applications with machine learning," in Proceedings of the 20th international middleware conference, 2019, pp. 149–162. </a:t>
            </a:r>
          </a:p>
          <a:p>
            <a:pPr algn="just"/>
            <a:r>
              <a:rPr lang="en-US" altLang="zh-TW" sz="1200" dirty="0"/>
              <a:t>[3]</a:t>
            </a:r>
            <a:r>
              <a:rPr lang="zh-TW" altLang="en-US" sz="1200" dirty="0"/>
              <a:t> </a:t>
            </a:r>
            <a:r>
              <a:rPr lang="en-US" altLang="zh-TW" sz="1200" dirty="0"/>
              <a:t>L. M. Al Qassem, T. </a:t>
            </a:r>
            <a:r>
              <a:rPr lang="en-US" altLang="zh-TW" sz="1200" dirty="0" err="1"/>
              <a:t>Stouraitis</a:t>
            </a:r>
            <a:r>
              <a:rPr lang="en-US" altLang="zh-TW" sz="1200" dirty="0"/>
              <a:t>, E. Damiani, and I. A. M. </a:t>
            </a:r>
            <a:r>
              <a:rPr lang="en-US" altLang="zh-TW" sz="1200" dirty="0" err="1"/>
              <a:t>Elfadel</a:t>
            </a:r>
            <a:r>
              <a:rPr lang="en-US" altLang="zh-TW" sz="1200" dirty="0"/>
              <a:t>, "Proactive random-forest </a:t>
            </a:r>
            <a:r>
              <a:rPr lang="en-US" altLang="zh-TW" sz="1200" dirty="0" err="1"/>
              <a:t>autoscaler</a:t>
            </a:r>
            <a:r>
              <a:rPr lang="en-US" altLang="zh-TW" sz="1200" dirty="0"/>
              <a:t> for microservice resource allocation," IEEE Access, vol. 11, pp. 2570–2585, 2023.</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3" name="Group 13"/>
          <p:cNvGrpSpPr/>
          <p:nvPr/>
        </p:nvGrpSpPr>
        <p:grpSpPr>
          <a:xfrm>
            <a:off x="2556169" y="2032339"/>
            <a:ext cx="13175662" cy="7344164"/>
            <a:chOff x="0" y="0"/>
            <a:chExt cx="5662802" cy="3156468"/>
          </a:xfrm>
        </p:grpSpPr>
        <p:sp>
          <p:nvSpPr>
            <p:cNvPr id="14" name="Freeform 14"/>
            <p:cNvSpPr/>
            <p:nvPr/>
          </p:nvSpPr>
          <p:spPr>
            <a:xfrm>
              <a:off x="48260" y="4826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244DB6"/>
            </a:solidFill>
          </p:spPr>
          <p:txBody>
            <a:bodyPr/>
            <a:lstStyle/>
            <a:p>
              <a:endParaRPr lang="zh-TW" altLang="en-US"/>
            </a:p>
          </p:txBody>
        </p:sp>
        <p:sp>
          <p:nvSpPr>
            <p:cNvPr id="15" name="Freeform 15"/>
            <p:cNvSpPr/>
            <p:nvPr/>
          </p:nvSpPr>
          <p:spPr>
            <a:xfrm>
              <a:off x="6350" y="635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a:p>
          </p:txBody>
        </p:sp>
        <p:sp>
          <p:nvSpPr>
            <p:cNvPr id="16" name="Freeform 16"/>
            <p:cNvSpPr/>
            <p:nvPr/>
          </p:nvSpPr>
          <p:spPr>
            <a:xfrm>
              <a:off x="0" y="0"/>
              <a:ext cx="5627242" cy="3120908"/>
            </a:xfrm>
            <a:custGeom>
              <a:avLst/>
              <a:gdLst/>
              <a:ahLst/>
              <a:cxnLst/>
              <a:rect l="l" t="t" r="r" b="b"/>
              <a:pathLst>
                <a:path w="5627242" h="3120908">
                  <a:moveTo>
                    <a:pt x="5627242" y="3120908"/>
                  </a:moveTo>
                  <a:lnTo>
                    <a:pt x="0" y="3120908"/>
                  </a:lnTo>
                  <a:lnTo>
                    <a:pt x="0" y="0"/>
                  </a:lnTo>
                  <a:lnTo>
                    <a:pt x="5627242" y="0"/>
                  </a:lnTo>
                  <a:lnTo>
                    <a:pt x="5627242" y="3120908"/>
                  </a:lnTo>
                  <a:close/>
                  <a:moveTo>
                    <a:pt x="12700" y="3108208"/>
                  </a:moveTo>
                  <a:lnTo>
                    <a:pt x="5614542" y="3108208"/>
                  </a:lnTo>
                  <a:lnTo>
                    <a:pt x="5614542" y="12700"/>
                  </a:lnTo>
                  <a:lnTo>
                    <a:pt x="12700" y="12700"/>
                  </a:lnTo>
                  <a:lnTo>
                    <a:pt x="12700" y="3108208"/>
                  </a:lnTo>
                  <a:close/>
                </a:path>
              </a:pathLst>
            </a:custGeom>
            <a:solidFill>
              <a:srgbClr val="244DB6"/>
            </a:solidFill>
          </p:spPr>
          <p:txBody>
            <a:bodyPr/>
            <a:lstStyle/>
            <a:p>
              <a:endParaRPr lang="zh-TW" altLang="en-US"/>
            </a:p>
          </p:txBody>
        </p:sp>
      </p:grpSp>
      <p:sp>
        <p:nvSpPr>
          <p:cNvPr id="24" name="TextBox 24"/>
          <p:cNvSpPr txBox="1"/>
          <p:nvPr/>
        </p:nvSpPr>
        <p:spPr>
          <a:xfrm>
            <a:off x="3276600" y="2150576"/>
            <a:ext cx="11353800" cy="6178679"/>
          </a:xfrm>
          <a:prstGeom prst="rect">
            <a:avLst/>
          </a:prstGeom>
        </p:spPr>
        <p:txBody>
          <a:bodyPr wrap="square" lIns="0" tIns="0" rIns="0" bIns="0" rtlCol="0" anchor="t">
            <a:spAutoFit/>
          </a:bodyPr>
          <a:lstStyle/>
          <a:p>
            <a:pPr marL="457200" indent="-457200">
              <a:lnSpc>
                <a:spcPct val="20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以「下一分鐘平均延遲」</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作為主要預測目標，</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用於即時掌握系統效能變化</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l">
              <a:lnSpc>
                <a:spcPct val="20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預測粒度設定為「每分鐘」，兼顧即時反應與觀測穩定</a:t>
            </a:r>
            <a:endPar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20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預測結果可應用於： </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971550" lvl="1" indent="-514350">
              <a:lnSpc>
                <a:spcPct val="200000"/>
              </a:lnSpc>
              <a:buFont typeface="+mj-lt"/>
              <a:buAutoNum type="arabicPeriod"/>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提前識別潛在效能瓶頸</a:t>
            </a:r>
          </a:p>
          <a:p>
            <a:pPr marL="971550" lvl="1" indent="-514350">
              <a:lnSpc>
                <a:spcPct val="200000"/>
              </a:lnSpc>
              <a:buFont typeface="+mj-lt"/>
              <a:buAutoNum type="arabicPeriod"/>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協助資源調度與異常告警決策</a:t>
            </a:r>
            <a:endParaRPr 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27" name="TextBox 27"/>
          <p:cNvSpPr txBox="1"/>
          <p:nvPr/>
        </p:nvSpPr>
        <p:spPr>
          <a:xfrm>
            <a:off x="4839430" y="1040972"/>
            <a:ext cx="822813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本</a:t>
            </a: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研究</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預測目標</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9" name="Freeform 29"/>
          <p:cNvSpPr/>
          <p:nvPr/>
        </p:nvSpPr>
        <p:spPr>
          <a:xfrm>
            <a:off x="17645677" y="949280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9" name="投影片編號版面配置區 38">
            <a:extLst>
              <a:ext uri="{FF2B5EF4-FFF2-40B4-BE49-F238E27FC236}">
                <a16:creationId xmlns:a16="http://schemas.microsoft.com/office/drawing/2014/main" id="{651FE832-8B4D-6314-9126-26CF65327B92}"/>
              </a:ext>
            </a:extLst>
          </p:cNvPr>
          <p:cNvSpPr>
            <a:spLocks noGrp="1"/>
          </p:cNvSpPr>
          <p:nvPr>
            <p:ph type="sldNum" sz="quarter" idx="12"/>
          </p:nvPr>
        </p:nvSpPr>
        <p:spPr/>
        <p:txBody>
          <a:bodyPr/>
          <a:lstStyle/>
          <a:p>
            <a:fld id="{B6F15528-21DE-4FAA-801E-634DDDAF4B2B}" type="slidenum">
              <a:rPr lang="en-US" smtClean="0"/>
              <a:pPr/>
              <a:t>6</a:t>
            </a:fld>
            <a:endParaRPr lang="en-US"/>
          </a:p>
        </p:txBody>
      </p:sp>
      <p:graphicFrame>
        <p:nvGraphicFramePr>
          <p:cNvPr id="2" name="資料庫圖表 1">
            <a:extLst>
              <a:ext uri="{FF2B5EF4-FFF2-40B4-BE49-F238E27FC236}">
                <a16:creationId xmlns:a16="http://schemas.microsoft.com/office/drawing/2014/main" id="{FFB2F70D-C9D8-9D30-16CC-F6022541046F}"/>
              </a:ext>
            </a:extLst>
          </p:cNvPr>
          <p:cNvGraphicFramePr/>
          <p:nvPr>
            <p:extLst>
              <p:ext uri="{D42A27DB-BD31-4B8C-83A1-F6EECF244321}">
                <p14:modId xmlns:p14="http://schemas.microsoft.com/office/powerpoint/2010/main" val="2976719262"/>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43160931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1DD8B-2C40-1EE5-B828-2103B4A11DFB}"/>
            </a:ext>
          </a:extLst>
        </p:cNvPr>
        <p:cNvGrpSpPr/>
        <p:nvPr/>
      </p:nvGrpSpPr>
      <p:grpSpPr>
        <a:xfrm>
          <a:off x="0" y="0"/>
          <a:ext cx="0" cy="0"/>
          <a:chOff x="0" y="0"/>
          <a:chExt cx="0" cy="0"/>
        </a:xfrm>
      </p:grpSpPr>
      <p:sp>
        <p:nvSpPr>
          <p:cNvPr id="92" name="Freeform 19">
            <a:extLst>
              <a:ext uri="{FF2B5EF4-FFF2-40B4-BE49-F238E27FC236}">
                <a16:creationId xmlns:a16="http://schemas.microsoft.com/office/drawing/2014/main" id="{EB5A7654-A77C-33A0-E808-8974F52EF1E4}"/>
              </a:ext>
            </a:extLst>
          </p:cNvPr>
          <p:cNvSpPr/>
          <p:nvPr/>
        </p:nvSpPr>
        <p:spPr>
          <a:xfrm>
            <a:off x="10451573" y="5699780"/>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93" name="Freeform 19">
            <a:extLst>
              <a:ext uri="{FF2B5EF4-FFF2-40B4-BE49-F238E27FC236}">
                <a16:creationId xmlns:a16="http://schemas.microsoft.com/office/drawing/2014/main" id="{5EE7AAAF-9FCF-ABB3-7E4D-FBECD3AA990B}"/>
              </a:ext>
            </a:extLst>
          </p:cNvPr>
          <p:cNvSpPr/>
          <p:nvPr/>
        </p:nvSpPr>
        <p:spPr>
          <a:xfrm>
            <a:off x="10455516" y="4726448"/>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76" name="Freeform 19">
            <a:extLst>
              <a:ext uri="{FF2B5EF4-FFF2-40B4-BE49-F238E27FC236}">
                <a16:creationId xmlns:a16="http://schemas.microsoft.com/office/drawing/2014/main" id="{C9ACBB19-0E97-6189-BA48-2A9839E9D241}"/>
              </a:ext>
            </a:extLst>
          </p:cNvPr>
          <p:cNvSpPr/>
          <p:nvPr/>
        </p:nvSpPr>
        <p:spPr>
          <a:xfrm>
            <a:off x="10451573" y="2882075"/>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11" name="Freeform 11">
            <a:extLst>
              <a:ext uri="{FF2B5EF4-FFF2-40B4-BE49-F238E27FC236}">
                <a16:creationId xmlns:a16="http://schemas.microsoft.com/office/drawing/2014/main" id="{13473BA7-A798-A957-4134-2D05A27143D7}"/>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3931DE3F-7C44-AA7F-0C74-158FA87D6FA4}"/>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TextBox 27">
            <a:extLst>
              <a:ext uri="{FF2B5EF4-FFF2-40B4-BE49-F238E27FC236}">
                <a16:creationId xmlns:a16="http://schemas.microsoft.com/office/drawing/2014/main" id="{7DF83540-3A54-517F-CEB4-6CD23E7CFC80}"/>
              </a:ext>
            </a:extLst>
          </p:cNvPr>
          <p:cNvSpPr txBox="1"/>
          <p:nvPr/>
        </p:nvSpPr>
        <p:spPr>
          <a:xfrm>
            <a:off x="4579171" y="647700"/>
            <a:ext cx="822813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本</a:t>
            </a: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研究</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整體架構與執行流程</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39" name="投影片編號版面配置區 38">
            <a:extLst>
              <a:ext uri="{FF2B5EF4-FFF2-40B4-BE49-F238E27FC236}">
                <a16:creationId xmlns:a16="http://schemas.microsoft.com/office/drawing/2014/main" id="{B29BB008-9266-1FC5-D985-B41FF093E177}"/>
              </a:ext>
            </a:extLst>
          </p:cNvPr>
          <p:cNvSpPr>
            <a:spLocks noGrp="1"/>
          </p:cNvSpPr>
          <p:nvPr>
            <p:ph type="sldNum" sz="quarter" idx="12"/>
          </p:nvPr>
        </p:nvSpPr>
        <p:spPr/>
        <p:txBody>
          <a:bodyPr/>
          <a:lstStyle/>
          <a:p>
            <a:fld id="{B6F15528-21DE-4FAA-801E-634DDDAF4B2B}" type="slidenum">
              <a:rPr lang="en-US" smtClean="0"/>
              <a:pPr/>
              <a:t>7</a:t>
            </a:fld>
            <a:endParaRPr lang="en-US"/>
          </a:p>
        </p:txBody>
      </p:sp>
      <p:grpSp>
        <p:nvGrpSpPr>
          <p:cNvPr id="2" name="Group 17">
            <a:extLst>
              <a:ext uri="{FF2B5EF4-FFF2-40B4-BE49-F238E27FC236}">
                <a16:creationId xmlns:a16="http://schemas.microsoft.com/office/drawing/2014/main" id="{338DA662-72D9-9C52-FD38-2D69D9945FB2}"/>
              </a:ext>
            </a:extLst>
          </p:cNvPr>
          <p:cNvGrpSpPr/>
          <p:nvPr/>
        </p:nvGrpSpPr>
        <p:grpSpPr>
          <a:xfrm>
            <a:off x="152400" y="1562100"/>
            <a:ext cx="3842461" cy="934831"/>
            <a:chOff x="-5293" y="0"/>
            <a:chExt cx="1975117" cy="480526"/>
          </a:xfrm>
          <a:solidFill>
            <a:schemeClr val="accent5">
              <a:lumMod val="20000"/>
              <a:lumOff val="80000"/>
            </a:schemeClr>
          </a:solidFill>
        </p:grpSpPr>
        <p:sp>
          <p:nvSpPr>
            <p:cNvPr id="5" name="Freeform 19">
              <a:extLst>
                <a:ext uri="{FF2B5EF4-FFF2-40B4-BE49-F238E27FC236}">
                  <a16:creationId xmlns:a16="http://schemas.microsoft.com/office/drawing/2014/main" id="{1874A074-9AA8-70A3-974C-FFBCBC07B206}"/>
                </a:ext>
              </a:extLst>
            </p:cNvPr>
            <p:cNvSpPr/>
            <p:nvPr/>
          </p:nvSpPr>
          <p:spPr>
            <a:xfrm>
              <a:off x="-5293" y="0"/>
              <a:ext cx="1957124" cy="467826"/>
            </a:xfrm>
            <a:custGeom>
              <a:avLst/>
              <a:gdLst/>
              <a:ahLst/>
              <a:cxnLst/>
              <a:rect l="l" t="t" r="r" b="b"/>
              <a:pathLst>
                <a:path w="1957124" h="467826">
                  <a:moveTo>
                    <a:pt x="0" y="0"/>
                  </a:moveTo>
                  <a:lnTo>
                    <a:pt x="1957124" y="0"/>
                  </a:lnTo>
                  <a:lnTo>
                    <a:pt x="1957124" y="467826"/>
                  </a:lnTo>
                  <a:lnTo>
                    <a:pt x="0" y="467826"/>
                  </a:lnTo>
                  <a:close/>
                </a:path>
              </a:pathLst>
            </a:custGeom>
            <a:grpFill/>
            <a:ln>
              <a:solidFill>
                <a:srgbClr val="244DB6"/>
              </a:solidFill>
            </a:ln>
          </p:spPr>
          <p:txBody>
            <a:bodyPr/>
            <a:lstStyle/>
            <a:p>
              <a:endParaRPr lang="zh-TW" altLang="en-US" dirty="0"/>
            </a:p>
          </p:txBody>
        </p:sp>
        <p:sp>
          <p:nvSpPr>
            <p:cNvPr id="6" name="Freeform 20">
              <a:extLst>
                <a:ext uri="{FF2B5EF4-FFF2-40B4-BE49-F238E27FC236}">
                  <a16:creationId xmlns:a16="http://schemas.microsoft.com/office/drawing/2014/main" id="{70E3D6E9-93A1-20CE-99BA-D23E85AE30FE}"/>
                </a:ext>
              </a:extLst>
            </p:cNvPr>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grpFill/>
            <a:ln>
              <a:solidFill>
                <a:srgbClr val="244DB6"/>
              </a:solidFill>
            </a:ln>
          </p:spPr>
          <p:txBody>
            <a:bodyPr/>
            <a:lstStyle/>
            <a:p>
              <a:endParaRPr lang="zh-TW" altLang="en-US"/>
            </a:p>
          </p:txBody>
        </p:sp>
      </p:grpSp>
      <p:sp>
        <p:nvSpPr>
          <p:cNvPr id="9" name="箭號: 向下 8">
            <a:extLst>
              <a:ext uri="{FF2B5EF4-FFF2-40B4-BE49-F238E27FC236}">
                <a16:creationId xmlns:a16="http://schemas.microsoft.com/office/drawing/2014/main" id="{281CDC64-4D66-8CD9-35D3-0F66C62845A7}"/>
              </a:ext>
            </a:extLst>
          </p:cNvPr>
          <p:cNvSpPr/>
          <p:nvPr/>
        </p:nvSpPr>
        <p:spPr>
          <a:xfrm rot="16200000">
            <a:off x="4304684" y="1702804"/>
            <a:ext cx="309857" cy="689624"/>
          </a:xfrm>
          <a:prstGeom prst="downArrow">
            <a:avLst>
              <a:gd name="adj1" fmla="val 50000"/>
              <a:gd name="adj2" fmla="val 10583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667E5EF4-0502-FAAA-2DB0-D4FE112D3944}"/>
              </a:ext>
            </a:extLst>
          </p:cNvPr>
          <p:cNvSpPr txBox="1"/>
          <p:nvPr/>
        </p:nvSpPr>
        <p:spPr>
          <a:xfrm>
            <a:off x="0" y="1770618"/>
            <a:ext cx="4160697" cy="492443"/>
          </a:xfrm>
          <a:prstGeom prst="rect">
            <a:avLst/>
          </a:prstGeom>
          <a:noFill/>
        </p:spPr>
        <p:txBody>
          <a:bodyPr wrap="square">
            <a:spAutoFit/>
          </a:bodyPr>
          <a:lstStyle/>
          <a:p>
            <a:pPr algn="ct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實驗環境架設與負載模擬</a:t>
            </a:r>
            <a:endParaRPr lang="zh-TW" altLang="en-US" sz="2600" dirty="0"/>
          </a:p>
        </p:txBody>
      </p:sp>
      <p:sp>
        <p:nvSpPr>
          <p:cNvPr id="31" name="Freeform 19">
            <a:extLst>
              <a:ext uri="{FF2B5EF4-FFF2-40B4-BE49-F238E27FC236}">
                <a16:creationId xmlns:a16="http://schemas.microsoft.com/office/drawing/2014/main" id="{DFE0F864-68A4-9DE7-1FAB-BB808FA678B1}"/>
              </a:ext>
            </a:extLst>
          </p:cNvPr>
          <p:cNvSpPr/>
          <p:nvPr/>
        </p:nvSpPr>
        <p:spPr>
          <a:xfrm>
            <a:off x="1023545" y="2876756"/>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33" name="文字方塊 32">
            <a:extLst>
              <a:ext uri="{FF2B5EF4-FFF2-40B4-BE49-F238E27FC236}">
                <a16:creationId xmlns:a16="http://schemas.microsoft.com/office/drawing/2014/main" id="{6B0093D5-9550-3DCA-F651-EAE103313C2B}"/>
              </a:ext>
            </a:extLst>
          </p:cNvPr>
          <p:cNvSpPr txBox="1"/>
          <p:nvPr/>
        </p:nvSpPr>
        <p:spPr>
          <a:xfrm>
            <a:off x="956575" y="3107371"/>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環境建置與微服務部署</a:t>
            </a:r>
          </a:p>
        </p:txBody>
      </p:sp>
      <p:cxnSp>
        <p:nvCxnSpPr>
          <p:cNvPr id="35" name="接點: 肘形 34">
            <a:extLst>
              <a:ext uri="{FF2B5EF4-FFF2-40B4-BE49-F238E27FC236}">
                <a16:creationId xmlns:a16="http://schemas.microsoft.com/office/drawing/2014/main" id="{0335AEA5-F158-B717-98DD-4F033D3E7475}"/>
              </a:ext>
            </a:extLst>
          </p:cNvPr>
          <p:cNvCxnSpPr>
            <a:cxnSpLocks/>
            <a:endCxn id="33" idx="1"/>
          </p:cNvCxnSpPr>
          <p:nvPr/>
        </p:nvCxnSpPr>
        <p:spPr>
          <a:xfrm rot="16200000" flipH="1">
            <a:off x="405940" y="2756791"/>
            <a:ext cx="823524" cy="27774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Freeform 19">
            <a:extLst>
              <a:ext uri="{FF2B5EF4-FFF2-40B4-BE49-F238E27FC236}">
                <a16:creationId xmlns:a16="http://schemas.microsoft.com/office/drawing/2014/main" id="{DE5CA5DF-B9C3-F985-5A21-49EFE7609910}"/>
              </a:ext>
            </a:extLst>
          </p:cNvPr>
          <p:cNvSpPr/>
          <p:nvPr/>
        </p:nvSpPr>
        <p:spPr>
          <a:xfrm>
            <a:off x="1031783" y="4184534"/>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40" name="文字方塊 39">
            <a:extLst>
              <a:ext uri="{FF2B5EF4-FFF2-40B4-BE49-F238E27FC236}">
                <a16:creationId xmlns:a16="http://schemas.microsoft.com/office/drawing/2014/main" id="{7D509F42-063D-3B56-A08C-F427AB35ECB6}"/>
              </a:ext>
            </a:extLst>
          </p:cNvPr>
          <p:cNvSpPr txBox="1"/>
          <p:nvPr/>
        </p:nvSpPr>
        <p:spPr>
          <a:xfrm>
            <a:off x="964813" y="4415149"/>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監控架構建置與資料收集</a:t>
            </a:r>
          </a:p>
        </p:txBody>
      </p:sp>
      <p:sp>
        <p:nvSpPr>
          <p:cNvPr id="41" name="Freeform 19">
            <a:extLst>
              <a:ext uri="{FF2B5EF4-FFF2-40B4-BE49-F238E27FC236}">
                <a16:creationId xmlns:a16="http://schemas.microsoft.com/office/drawing/2014/main" id="{6B8DDE1D-3B3C-C462-C3CA-3A9FB130AFEA}"/>
              </a:ext>
            </a:extLst>
          </p:cNvPr>
          <p:cNvSpPr/>
          <p:nvPr/>
        </p:nvSpPr>
        <p:spPr>
          <a:xfrm>
            <a:off x="1031783" y="5469165"/>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42" name="文字方塊 41">
            <a:extLst>
              <a:ext uri="{FF2B5EF4-FFF2-40B4-BE49-F238E27FC236}">
                <a16:creationId xmlns:a16="http://schemas.microsoft.com/office/drawing/2014/main" id="{09B7CAE0-A492-0830-97B6-C1E95C91C0CA}"/>
              </a:ext>
            </a:extLst>
          </p:cNvPr>
          <p:cNvSpPr txBox="1"/>
          <p:nvPr/>
        </p:nvSpPr>
        <p:spPr>
          <a:xfrm>
            <a:off x="914400" y="5578614"/>
            <a:ext cx="3124200" cy="707886"/>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流量負載生成及</a:t>
            </a:r>
            <a:endParaRPr lang="en-US" altLang="zh-TW"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請求模擬設計</a:t>
            </a:r>
          </a:p>
        </p:txBody>
      </p:sp>
      <p:sp>
        <p:nvSpPr>
          <p:cNvPr id="44" name="Freeform 19">
            <a:extLst>
              <a:ext uri="{FF2B5EF4-FFF2-40B4-BE49-F238E27FC236}">
                <a16:creationId xmlns:a16="http://schemas.microsoft.com/office/drawing/2014/main" id="{A67DB208-70AD-6EA9-2EEC-82AFF71AEFFE}"/>
              </a:ext>
            </a:extLst>
          </p:cNvPr>
          <p:cNvSpPr/>
          <p:nvPr/>
        </p:nvSpPr>
        <p:spPr>
          <a:xfrm>
            <a:off x="1023545" y="6770731"/>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45" name="文字方塊 44">
            <a:extLst>
              <a:ext uri="{FF2B5EF4-FFF2-40B4-BE49-F238E27FC236}">
                <a16:creationId xmlns:a16="http://schemas.microsoft.com/office/drawing/2014/main" id="{1800490A-8C22-0010-8612-562412977378}"/>
              </a:ext>
            </a:extLst>
          </p:cNvPr>
          <p:cNvSpPr txBox="1"/>
          <p:nvPr/>
        </p:nvSpPr>
        <p:spPr>
          <a:xfrm>
            <a:off x="956575" y="7001346"/>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模擬觀察與結果</a:t>
            </a:r>
          </a:p>
        </p:txBody>
      </p:sp>
      <p:cxnSp>
        <p:nvCxnSpPr>
          <p:cNvPr id="47" name="直線單箭頭接點 46">
            <a:extLst>
              <a:ext uri="{FF2B5EF4-FFF2-40B4-BE49-F238E27FC236}">
                <a16:creationId xmlns:a16="http://schemas.microsoft.com/office/drawing/2014/main" id="{05712F3C-C8EB-8B32-6257-7C8A926F2C50}"/>
              </a:ext>
            </a:extLst>
          </p:cNvPr>
          <p:cNvCxnSpPr>
            <a:cxnSpLocks/>
          </p:cNvCxnSpPr>
          <p:nvPr/>
        </p:nvCxnSpPr>
        <p:spPr>
          <a:xfrm>
            <a:off x="2385431" y="3786880"/>
            <a:ext cx="0" cy="39765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0" name="直線單箭頭接點 49">
            <a:extLst>
              <a:ext uri="{FF2B5EF4-FFF2-40B4-BE49-F238E27FC236}">
                <a16:creationId xmlns:a16="http://schemas.microsoft.com/office/drawing/2014/main" id="{D1CB29D0-CA0C-A45F-01DB-700443A7794E}"/>
              </a:ext>
            </a:extLst>
          </p:cNvPr>
          <p:cNvCxnSpPr>
            <a:cxnSpLocks/>
          </p:cNvCxnSpPr>
          <p:nvPr/>
        </p:nvCxnSpPr>
        <p:spPr>
          <a:xfrm>
            <a:off x="2420442" y="5094658"/>
            <a:ext cx="0" cy="39765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1" name="直線單箭頭接點 50">
            <a:extLst>
              <a:ext uri="{FF2B5EF4-FFF2-40B4-BE49-F238E27FC236}">
                <a16:creationId xmlns:a16="http://schemas.microsoft.com/office/drawing/2014/main" id="{52A30442-D526-14BE-A8AF-66C2544DBF42}"/>
              </a:ext>
            </a:extLst>
          </p:cNvPr>
          <p:cNvCxnSpPr>
            <a:cxnSpLocks/>
          </p:cNvCxnSpPr>
          <p:nvPr/>
        </p:nvCxnSpPr>
        <p:spPr>
          <a:xfrm>
            <a:off x="2420442" y="6379289"/>
            <a:ext cx="0" cy="39765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nvGrpSpPr>
          <p:cNvPr id="53" name="Group 17">
            <a:extLst>
              <a:ext uri="{FF2B5EF4-FFF2-40B4-BE49-F238E27FC236}">
                <a16:creationId xmlns:a16="http://schemas.microsoft.com/office/drawing/2014/main" id="{F8C076C2-CFE4-EEA1-4B07-1D9D2ADB2B34}"/>
              </a:ext>
            </a:extLst>
          </p:cNvPr>
          <p:cNvGrpSpPr/>
          <p:nvPr/>
        </p:nvGrpSpPr>
        <p:grpSpPr>
          <a:xfrm>
            <a:off x="4876800" y="1562100"/>
            <a:ext cx="3842461" cy="934831"/>
            <a:chOff x="-5293" y="0"/>
            <a:chExt cx="1975117" cy="480526"/>
          </a:xfrm>
          <a:solidFill>
            <a:schemeClr val="accent5">
              <a:lumMod val="20000"/>
              <a:lumOff val="80000"/>
            </a:schemeClr>
          </a:solidFill>
        </p:grpSpPr>
        <p:sp>
          <p:nvSpPr>
            <p:cNvPr id="54" name="Freeform 19">
              <a:extLst>
                <a:ext uri="{FF2B5EF4-FFF2-40B4-BE49-F238E27FC236}">
                  <a16:creationId xmlns:a16="http://schemas.microsoft.com/office/drawing/2014/main" id="{CA88BA79-4B3F-126A-6F20-1A1D845A6AED}"/>
                </a:ext>
              </a:extLst>
            </p:cNvPr>
            <p:cNvSpPr/>
            <p:nvPr/>
          </p:nvSpPr>
          <p:spPr>
            <a:xfrm>
              <a:off x="-5293" y="0"/>
              <a:ext cx="1957124" cy="467826"/>
            </a:xfrm>
            <a:custGeom>
              <a:avLst/>
              <a:gdLst/>
              <a:ahLst/>
              <a:cxnLst/>
              <a:rect l="l" t="t" r="r" b="b"/>
              <a:pathLst>
                <a:path w="1957124" h="467826">
                  <a:moveTo>
                    <a:pt x="0" y="0"/>
                  </a:moveTo>
                  <a:lnTo>
                    <a:pt x="1957124" y="0"/>
                  </a:lnTo>
                  <a:lnTo>
                    <a:pt x="1957124" y="467826"/>
                  </a:lnTo>
                  <a:lnTo>
                    <a:pt x="0" y="467826"/>
                  </a:lnTo>
                  <a:close/>
                </a:path>
              </a:pathLst>
            </a:custGeom>
            <a:grpFill/>
            <a:ln>
              <a:solidFill>
                <a:srgbClr val="244DB6"/>
              </a:solidFill>
            </a:ln>
          </p:spPr>
          <p:txBody>
            <a:bodyPr/>
            <a:lstStyle/>
            <a:p>
              <a:endParaRPr lang="zh-TW" altLang="en-US" dirty="0"/>
            </a:p>
          </p:txBody>
        </p:sp>
        <p:sp>
          <p:nvSpPr>
            <p:cNvPr id="55" name="Freeform 20">
              <a:extLst>
                <a:ext uri="{FF2B5EF4-FFF2-40B4-BE49-F238E27FC236}">
                  <a16:creationId xmlns:a16="http://schemas.microsoft.com/office/drawing/2014/main" id="{AEECC878-54BB-63B3-060C-F8D90C783A68}"/>
                </a:ext>
              </a:extLst>
            </p:cNvPr>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grpFill/>
            <a:ln>
              <a:solidFill>
                <a:srgbClr val="244DB6"/>
              </a:solidFill>
            </a:ln>
          </p:spPr>
          <p:txBody>
            <a:bodyPr/>
            <a:lstStyle/>
            <a:p>
              <a:endParaRPr lang="zh-TW" altLang="en-US"/>
            </a:p>
          </p:txBody>
        </p:sp>
      </p:grpSp>
      <p:sp>
        <p:nvSpPr>
          <p:cNvPr id="56" name="文字方塊 55">
            <a:extLst>
              <a:ext uri="{FF2B5EF4-FFF2-40B4-BE49-F238E27FC236}">
                <a16:creationId xmlns:a16="http://schemas.microsoft.com/office/drawing/2014/main" id="{67F7EBCA-AAE2-5BD8-23CF-E04C44C483FE}"/>
              </a:ext>
            </a:extLst>
          </p:cNvPr>
          <p:cNvSpPr txBox="1"/>
          <p:nvPr/>
        </p:nvSpPr>
        <p:spPr>
          <a:xfrm>
            <a:off x="4724400" y="1781051"/>
            <a:ext cx="4240297" cy="492443"/>
          </a:xfrm>
          <a:prstGeom prst="rect">
            <a:avLst/>
          </a:prstGeom>
          <a:noFill/>
        </p:spPr>
        <p:txBody>
          <a:bodyPr wrap="square">
            <a:spAutoFit/>
          </a:bodyPr>
          <a:lstStyle/>
          <a:p>
            <a:pPr algn="ct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模擬資料處理與特徵建構</a:t>
            </a:r>
          </a:p>
        </p:txBody>
      </p:sp>
      <p:cxnSp>
        <p:nvCxnSpPr>
          <p:cNvPr id="57" name="接點: 肘形 56">
            <a:extLst>
              <a:ext uri="{FF2B5EF4-FFF2-40B4-BE49-F238E27FC236}">
                <a16:creationId xmlns:a16="http://schemas.microsoft.com/office/drawing/2014/main" id="{5B020CF8-8A55-2455-ADD2-8933C50A033C}"/>
              </a:ext>
            </a:extLst>
          </p:cNvPr>
          <p:cNvCxnSpPr>
            <a:cxnSpLocks/>
          </p:cNvCxnSpPr>
          <p:nvPr/>
        </p:nvCxnSpPr>
        <p:spPr>
          <a:xfrm rot="16200000" flipH="1">
            <a:off x="5153708" y="2739594"/>
            <a:ext cx="823524" cy="27774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Freeform 19">
            <a:extLst>
              <a:ext uri="{FF2B5EF4-FFF2-40B4-BE49-F238E27FC236}">
                <a16:creationId xmlns:a16="http://schemas.microsoft.com/office/drawing/2014/main" id="{DA518072-A228-835F-9965-EF92BC22A148}"/>
              </a:ext>
            </a:extLst>
          </p:cNvPr>
          <p:cNvSpPr/>
          <p:nvPr/>
        </p:nvSpPr>
        <p:spPr>
          <a:xfrm>
            <a:off x="5716672" y="2874514"/>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59" name="文字方塊 58">
            <a:extLst>
              <a:ext uri="{FF2B5EF4-FFF2-40B4-BE49-F238E27FC236}">
                <a16:creationId xmlns:a16="http://schemas.microsoft.com/office/drawing/2014/main" id="{CDBA0EFA-35A9-7E2E-4053-F43731254E5D}"/>
              </a:ext>
            </a:extLst>
          </p:cNvPr>
          <p:cNvSpPr txBox="1"/>
          <p:nvPr/>
        </p:nvSpPr>
        <p:spPr>
          <a:xfrm>
            <a:off x="5649702" y="3105129"/>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模擬資料整合與處理</a:t>
            </a:r>
          </a:p>
        </p:txBody>
      </p:sp>
      <p:sp>
        <p:nvSpPr>
          <p:cNvPr id="60" name="Freeform 19">
            <a:extLst>
              <a:ext uri="{FF2B5EF4-FFF2-40B4-BE49-F238E27FC236}">
                <a16:creationId xmlns:a16="http://schemas.microsoft.com/office/drawing/2014/main" id="{F509FEAF-77F9-0A0B-4EBE-A8BD656D760F}"/>
              </a:ext>
            </a:extLst>
          </p:cNvPr>
          <p:cNvSpPr/>
          <p:nvPr/>
        </p:nvSpPr>
        <p:spPr>
          <a:xfrm>
            <a:off x="5729029" y="4159758"/>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61" name="文字方塊 60">
            <a:extLst>
              <a:ext uri="{FF2B5EF4-FFF2-40B4-BE49-F238E27FC236}">
                <a16:creationId xmlns:a16="http://schemas.microsoft.com/office/drawing/2014/main" id="{8A27CAF8-B205-E853-E9EB-107B8C60B5B8}"/>
              </a:ext>
            </a:extLst>
          </p:cNvPr>
          <p:cNvSpPr txBox="1"/>
          <p:nvPr/>
        </p:nvSpPr>
        <p:spPr>
          <a:xfrm>
            <a:off x="5662059" y="4390373"/>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資料集規模</a:t>
            </a:r>
          </a:p>
        </p:txBody>
      </p:sp>
      <p:cxnSp>
        <p:nvCxnSpPr>
          <p:cNvPr id="62" name="直線單箭頭接點 61">
            <a:extLst>
              <a:ext uri="{FF2B5EF4-FFF2-40B4-BE49-F238E27FC236}">
                <a16:creationId xmlns:a16="http://schemas.microsoft.com/office/drawing/2014/main" id="{8521E533-2F34-4FF6-CEF3-A965828DF148}"/>
              </a:ext>
            </a:extLst>
          </p:cNvPr>
          <p:cNvCxnSpPr>
            <a:cxnSpLocks/>
          </p:cNvCxnSpPr>
          <p:nvPr/>
        </p:nvCxnSpPr>
        <p:spPr>
          <a:xfrm>
            <a:off x="7152143" y="3784638"/>
            <a:ext cx="0" cy="37512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4" name="Freeform 19">
            <a:extLst>
              <a:ext uri="{FF2B5EF4-FFF2-40B4-BE49-F238E27FC236}">
                <a16:creationId xmlns:a16="http://schemas.microsoft.com/office/drawing/2014/main" id="{4C9B331E-C1B5-F719-6411-33DB62CD54C2}"/>
              </a:ext>
            </a:extLst>
          </p:cNvPr>
          <p:cNvSpPr/>
          <p:nvPr/>
        </p:nvSpPr>
        <p:spPr>
          <a:xfrm>
            <a:off x="5716672" y="5438901"/>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65" name="文字方塊 64">
            <a:extLst>
              <a:ext uri="{FF2B5EF4-FFF2-40B4-BE49-F238E27FC236}">
                <a16:creationId xmlns:a16="http://schemas.microsoft.com/office/drawing/2014/main" id="{D40C730D-C31A-C802-E6B1-F0A78CD58898}"/>
              </a:ext>
            </a:extLst>
          </p:cNvPr>
          <p:cNvSpPr txBox="1"/>
          <p:nvPr/>
        </p:nvSpPr>
        <p:spPr>
          <a:xfrm>
            <a:off x="5649702" y="5669516"/>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特徵建構說明</a:t>
            </a:r>
          </a:p>
        </p:txBody>
      </p:sp>
      <p:cxnSp>
        <p:nvCxnSpPr>
          <p:cNvPr id="66" name="直線單箭頭接點 65">
            <a:extLst>
              <a:ext uri="{FF2B5EF4-FFF2-40B4-BE49-F238E27FC236}">
                <a16:creationId xmlns:a16="http://schemas.microsoft.com/office/drawing/2014/main" id="{FBEA84C8-141D-DC1C-A91E-4B40042F2DF6}"/>
              </a:ext>
            </a:extLst>
          </p:cNvPr>
          <p:cNvCxnSpPr>
            <a:cxnSpLocks/>
          </p:cNvCxnSpPr>
          <p:nvPr/>
        </p:nvCxnSpPr>
        <p:spPr>
          <a:xfrm>
            <a:off x="7139786" y="5063781"/>
            <a:ext cx="0" cy="37512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7" name="Freeform 19">
            <a:extLst>
              <a:ext uri="{FF2B5EF4-FFF2-40B4-BE49-F238E27FC236}">
                <a16:creationId xmlns:a16="http://schemas.microsoft.com/office/drawing/2014/main" id="{C105188B-5040-EE14-0973-0910257C2E9C}"/>
              </a:ext>
            </a:extLst>
          </p:cNvPr>
          <p:cNvSpPr/>
          <p:nvPr/>
        </p:nvSpPr>
        <p:spPr>
          <a:xfrm>
            <a:off x="5708434" y="6725934"/>
            <a:ext cx="2969257" cy="91012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68" name="文字方塊 67">
            <a:extLst>
              <a:ext uri="{FF2B5EF4-FFF2-40B4-BE49-F238E27FC236}">
                <a16:creationId xmlns:a16="http://schemas.microsoft.com/office/drawing/2014/main" id="{4B93A7C7-082D-DD19-35B1-25E82FA3C8F9}"/>
              </a:ext>
            </a:extLst>
          </p:cNvPr>
          <p:cNvSpPr txBox="1"/>
          <p:nvPr/>
        </p:nvSpPr>
        <p:spPr>
          <a:xfrm>
            <a:off x="5641464" y="6956549"/>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延伸特徵說明</a:t>
            </a:r>
          </a:p>
        </p:txBody>
      </p:sp>
      <p:cxnSp>
        <p:nvCxnSpPr>
          <p:cNvPr id="69" name="直線單箭頭接點 68">
            <a:extLst>
              <a:ext uri="{FF2B5EF4-FFF2-40B4-BE49-F238E27FC236}">
                <a16:creationId xmlns:a16="http://schemas.microsoft.com/office/drawing/2014/main" id="{A71BEDF8-E00E-B402-D4C5-E2FF3ABAEB52}"/>
              </a:ext>
            </a:extLst>
          </p:cNvPr>
          <p:cNvCxnSpPr>
            <a:cxnSpLocks/>
          </p:cNvCxnSpPr>
          <p:nvPr/>
        </p:nvCxnSpPr>
        <p:spPr>
          <a:xfrm>
            <a:off x="7131548" y="6350814"/>
            <a:ext cx="0" cy="37512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nvGrpSpPr>
          <p:cNvPr id="70" name="Group 17">
            <a:extLst>
              <a:ext uri="{FF2B5EF4-FFF2-40B4-BE49-F238E27FC236}">
                <a16:creationId xmlns:a16="http://schemas.microsoft.com/office/drawing/2014/main" id="{7F8A1808-AFDF-DE8C-F912-737FEDBB7841}"/>
              </a:ext>
            </a:extLst>
          </p:cNvPr>
          <p:cNvGrpSpPr/>
          <p:nvPr/>
        </p:nvGrpSpPr>
        <p:grpSpPr>
          <a:xfrm>
            <a:off x="9601200" y="1567420"/>
            <a:ext cx="3842461" cy="934831"/>
            <a:chOff x="-5293" y="0"/>
            <a:chExt cx="1975117" cy="480526"/>
          </a:xfrm>
          <a:solidFill>
            <a:schemeClr val="accent5">
              <a:lumMod val="20000"/>
              <a:lumOff val="80000"/>
            </a:schemeClr>
          </a:solidFill>
        </p:grpSpPr>
        <p:sp>
          <p:nvSpPr>
            <p:cNvPr id="71" name="Freeform 19">
              <a:extLst>
                <a:ext uri="{FF2B5EF4-FFF2-40B4-BE49-F238E27FC236}">
                  <a16:creationId xmlns:a16="http://schemas.microsoft.com/office/drawing/2014/main" id="{8248A7CB-4B1A-4CFC-DBF4-62521994EDC2}"/>
                </a:ext>
              </a:extLst>
            </p:cNvPr>
            <p:cNvSpPr/>
            <p:nvPr/>
          </p:nvSpPr>
          <p:spPr>
            <a:xfrm>
              <a:off x="-5293" y="0"/>
              <a:ext cx="1957124" cy="467826"/>
            </a:xfrm>
            <a:custGeom>
              <a:avLst/>
              <a:gdLst/>
              <a:ahLst/>
              <a:cxnLst/>
              <a:rect l="l" t="t" r="r" b="b"/>
              <a:pathLst>
                <a:path w="1957124" h="467826">
                  <a:moveTo>
                    <a:pt x="0" y="0"/>
                  </a:moveTo>
                  <a:lnTo>
                    <a:pt x="1957124" y="0"/>
                  </a:lnTo>
                  <a:lnTo>
                    <a:pt x="1957124" y="467826"/>
                  </a:lnTo>
                  <a:lnTo>
                    <a:pt x="0" y="467826"/>
                  </a:lnTo>
                  <a:close/>
                </a:path>
              </a:pathLst>
            </a:custGeom>
            <a:grpFill/>
            <a:ln>
              <a:solidFill>
                <a:srgbClr val="244DB6"/>
              </a:solidFill>
            </a:ln>
          </p:spPr>
          <p:txBody>
            <a:bodyPr/>
            <a:lstStyle/>
            <a:p>
              <a:endParaRPr lang="zh-TW" altLang="en-US" dirty="0"/>
            </a:p>
          </p:txBody>
        </p:sp>
        <p:sp>
          <p:nvSpPr>
            <p:cNvPr id="72" name="Freeform 20">
              <a:extLst>
                <a:ext uri="{FF2B5EF4-FFF2-40B4-BE49-F238E27FC236}">
                  <a16:creationId xmlns:a16="http://schemas.microsoft.com/office/drawing/2014/main" id="{03E60108-9273-B64B-8699-A9D417705531}"/>
                </a:ext>
              </a:extLst>
            </p:cNvPr>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grpFill/>
            <a:ln>
              <a:solidFill>
                <a:srgbClr val="244DB6"/>
              </a:solidFill>
            </a:ln>
          </p:spPr>
          <p:txBody>
            <a:bodyPr/>
            <a:lstStyle/>
            <a:p>
              <a:endParaRPr lang="zh-TW" altLang="en-US"/>
            </a:p>
          </p:txBody>
        </p:sp>
      </p:grpSp>
      <p:sp>
        <p:nvSpPr>
          <p:cNvPr id="73" name="文字方塊 72">
            <a:extLst>
              <a:ext uri="{FF2B5EF4-FFF2-40B4-BE49-F238E27FC236}">
                <a16:creationId xmlns:a16="http://schemas.microsoft.com/office/drawing/2014/main" id="{F0F90D53-E751-3C8A-8EDE-4F3A88F852E8}"/>
              </a:ext>
            </a:extLst>
          </p:cNvPr>
          <p:cNvSpPr txBox="1"/>
          <p:nvPr/>
        </p:nvSpPr>
        <p:spPr>
          <a:xfrm>
            <a:off x="9372600" y="1638300"/>
            <a:ext cx="4240297" cy="892552"/>
          </a:xfrm>
          <a:prstGeom prst="rect">
            <a:avLst/>
          </a:prstGeom>
          <a:noFill/>
        </p:spPr>
        <p:txBody>
          <a:bodyPr wrap="square">
            <a:spAutoFit/>
          </a:bodyPr>
          <a:lstStyle/>
          <a:p>
            <a:pPr algn="ct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模型訓練與訓練結果</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分析比較</a:t>
            </a:r>
          </a:p>
        </p:txBody>
      </p:sp>
      <p:cxnSp>
        <p:nvCxnSpPr>
          <p:cNvPr id="74" name="接點: 肘形 73">
            <a:extLst>
              <a:ext uri="{FF2B5EF4-FFF2-40B4-BE49-F238E27FC236}">
                <a16:creationId xmlns:a16="http://schemas.microsoft.com/office/drawing/2014/main" id="{D877A4C1-82BC-4ABD-8E96-9734CAE4B329}"/>
              </a:ext>
            </a:extLst>
          </p:cNvPr>
          <p:cNvCxnSpPr>
            <a:cxnSpLocks/>
          </p:cNvCxnSpPr>
          <p:nvPr/>
        </p:nvCxnSpPr>
        <p:spPr>
          <a:xfrm rot="16200000" flipH="1">
            <a:off x="9878108" y="2744914"/>
            <a:ext cx="823524" cy="27774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字方塊 74">
            <a:extLst>
              <a:ext uri="{FF2B5EF4-FFF2-40B4-BE49-F238E27FC236}">
                <a16:creationId xmlns:a16="http://schemas.microsoft.com/office/drawing/2014/main" id="{19553B45-C409-1DB4-5D58-E7B0741B6BF5}"/>
              </a:ext>
            </a:extLst>
          </p:cNvPr>
          <p:cNvSpPr txBox="1"/>
          <p:nvPr/>
        </p:nvSpPr>
        <p:spPr>
          <a:xfrm>
            <a:off x="10374102" y="2996110"/>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機器學習方法介紹</a:t>
            </a:r>
          </a:p>
        </p:txBody>
      </p:sp>
      <p:cxnSp>
        <p:nvCxnSpPr>
          <p:cNvPr id="79" name="直線單箭頭接點 78">
            <a:extLst>
              <a:ext uri="{FF2B5EF4-FFF2-40B4-BE49-F238E27FC236}">
                <a16:creationId xmlns:a16="http://schemas.microsoft.com/office/drawing/2014/main" id="{B8E1063F-86A0-5714-8CCD-ACD44815EE8E}"/>
              </a:ext>
            </a:extLst>
          </p:cNvPr>
          <p:cNvCxnSpPr>
            <a:cxnSpLocks/>
          </p:cNvCxnSpPr>
          <p:nvPr/>
        </p:nvCxnSpPr>
        <p:spPr>
          <a:xfrm>
            <a:off x="11889995" y="3548620"/>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81" name="文字方塊 80">
            <a:extLst>
              <a:ext uri="{FF2B5EF4-FFF2-40B4-BE49-F238E27FC236}">
                <a16:creationId xmlns:a16="http://schemas.microsoft.com/office/drawing/2014/main" id="{EEACD32C-7C2C-FFD6-24C5-3BB4A79D370E}"/>
              </a:ext>
            </a:extLst>
          </p:cNvPr>
          <p:cNvSpPr txBox="1"/>
          <p:nvPr/>
        </p:nvSpPr>
        <p:spPr>
          <a:xfrm>
            <a:off x="10348425" y="4851359"/>
            <a:ext cx="3124200" cy="400110"/>
          </a:xfrm>
          <a:prstGeom prst="rect">
            <a:avLst/>
          </a:prstGeom>
          <a:noFill/>
        </p:spPr>
        <p:txBody>
          <a:bodyPr wrap="square">
            <a:spAutoFit/>
          </a:bodyPr>
          <a:lstStyle/>
          <a:p>
            <a:pPr algn="ctr"/>
            <a:r>
              <a:rPr lang="en-US" altLang="zh-TW" sz="2000" b="1" dirty="0" err="1">
                <a:latin typeface="微軟正黑體" panose="020B0604030504040204" pitchFamily="34" charset="-120"/>
                <a:ea typeface="微軟正黑體" panose="020B0604030504040204" pitchFamily="34" charset="-120"/>
                <a:cs typeface="Times New Roman" panose="02020603050405020304" pitchFamily="18" charset="0"/>
                <a:sym typeface="Blink Twice"/>
              </a:rPr>
              <a:t>Optuna</a:t>
            </a: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超參數搜尋框架</a:t>
            </a:r>
          </a:p>
        </p:txBody>
      </p:sp>
      <p:sp>
        <p:nvSpPr>
          <p:cNvPr id="84" name="文字方塊 83">
            <a:extLst>
              <a:ext uri="{FF2B5EF4-FFF2-40B4-BE49-F238E27FC236}">
                <a16:creationId xmlns:a16="http://schemas.microsoft.com/office/drawing/2014/main" id="{A56C52F3-84DA-85F8-B3F1-F7E673709C3F}"/>
              </a:ext>
            </a:extLst>
          </p:cNvPr>
          <p:cNvSpPr txBox="1"/>
          <p:nvPr/>
        </p:nvSpPr>
        <p:spPr>
          <a:xfrm>
            <a:off x="10327895" y="5828128"/>
            <a:ext cx="3124200" cy="400110"/>
          </a:xfrm>
          <a:prstGeom prst="rect">
            <a:avLst/>
          </a:prstGeom>
          <a:noFill/>
        </p:spPr>
        <p:txBody>
          <a:bodyPr wrap="square">
            <a:spAutoFit/>
          </a:bodyPr>
          <a:lstStyle/>
          <a:p>
            <a:pPr algn="ctr"/>
            <a:r>
              <a:rPr lang="en-US" altLang="zh-TW"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Grid Search</a:t>
            </a: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方法</a:t>
            </a:r>
          </a:p>
        </p:txBody>
      </p:sp>
      <p:cxnSp>
        <p:nvCxnSpPr>
          <p:cNvPr id="87" name="直線單箭頭接點 86">
            <a:extLst>
              <a:ext uri="{FF2B5EF4-FFF2-40B4-BE49-F238E27FC236}">
                <a16:creationId xmlns:a16="http://schemas.microsoft.com/office/drawing/2014/main" id="{EBC46EF5-A64B-E32B-2CCC-7F2421825FED}"/>
              </a:ext>
            </a:extLst>
          </p:cNvPr>
          <p:cNvCxnSpPr>
            <a:cxnSpLocks/>
          </p:cNvCxnSpPr>
          <p:nvPr/>
        </p:nvCxnSpPr>
        <p:spPr>
          <a:xfrm>
            <a:off x="11889995" y="4441672"/>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88" name="直線單箭頭接點 87">
            <a:extLst>
              <a:ext uri="{FF2B5EF4-FFF2-40B4-BE49-F238E27FC236}">
                <a16:creationId xmlns:a16="http://schemas.microsoft.com/office/drawing/2014/main" id="{BE595CB4-8CB9-3E63-A8CC-D70F7EC0E83A}"/>
              </a:ext>
            </a:extLst>
          </p:cNvPr>
          <p:cNvCxnSpPr>
            <a:cxnSpLocks/>
          </p:cNvCxnSpPr>
          <p:nvPr/>
        </p:nvCxnSpPr>
        <p:spPr>
          <a:xfrm>
            <a:off x="11906292" y="5393812"/>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89" name="直線單箭頭接點 88">
            <a:extLst>
              <a:ext uri="{FF2B5EF4-FFF2-40B4-BE49-F238E27FC236}">
                <a16:creationId xmlns:a16="http://schemas.microsoft.com/office/drawing/2014/main" id="{3AE67B80-199C-7E8F-C405-14158AA26DC7}"/>
              </a:ext>
            </a:extLst>
          </p:cNvPr>
          <p:cNvCxnSpPr>
            <a:cxnSpLocks/>
          </p:cNvCxnSpPr>
          <p:nvPr/>
        </p:nvCxnSpPr>
        <p:spPr>
          <a:xfrm>
            <a:off x="11906292" y="6356587"/>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1" name="Freeform 19">
            <a:extLst>
              <a:ext uri="{FF2B5EF4-FFF2-40B4-BE49-F238E27FC236}">
                <a16:creationId xmlns:a16="http://schemas.microsoft.com/office/drawing/2014/main" id="{22818647-4AF4-9EAB-B8BD-3CDDDFAED72C}"/>
              </a:ext>
            </a:extLst>
          </p:cNvPr>
          <p:cNvSpPr/>
          <p:nvPr/>
        </p:nvSpPr>
        <p:spPr>
          <a:xfrm>
            <a:off x="10451573" y="3838838"/>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78" name="文字方塊 77">
            <a:extLst>
              <a:ext uri="{FF2B5EF4-FFF2-40B4-BE49-F238E27FC236}">
                <a16:creationId xmlns:a16="http://schemas.microsoft.com/office/drawing/2014/main" id="{DD45761A-59DF-B17B-FF4D-B98B32F3BBD6}"/>
              </a:ext>
            </a:extLst>
          </p:cNvPr>
          <p:cNvSpPr txBox="1"/>
          <p:nvPr/>
        </p:nvSpPr>
        <p:spPr>
          <a:xfrm>
            <a:off x="10371079" y="3989799"/>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模型訓練條件</a:t>
            </a:r>
          </a:p>
        </p:txBody>
      </p:sp>
      <p:sp>
        <p:nvSpPr>
          <p:cNvPr id="94" name="Freeform 19">
            <a:extLst>
              <a:ext uri="{FF2B5EF4-FFF2-40B4-BE49-F238E27FC236}">
                <a16:creationId xmlns:a16="http://schemas.microsoft.com/office/drawing/2014/main" id="{A81EE4B5-ADD3-D860-18F1-0671F3A910AA}"/>
              </a:ext>
            </a:extLst>
          </p:cNvPr>
          <p:cNvSpPr/>
          <p:nvPr/>
        </p:nvSpPr>
        <p:spPr>
          <a:xfrm>
            <a:off x="10439400" y="6639853"/>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95" name="文字方塊 94">
            <a:extLst>
              <a:ext uri="{FF2B5EF4-FFF2-40B4-BE49-F238E27FC236}">
                <a16:creationId xmlns:a16="http://schemas.microsoft.com/office/drawing/2014/main" id="{D6484388-5DFB-F617-DF06-2C1E0DFAB51A}"/>
              </a:ext>
            </a:extLst>
          </p:cNvPr>
          <p:cNvSpPr txBox="1"/>
          <p:nvPr/>
        </p:nvSpPr>
        <p:spPr>
          <a:xfrm>
            <a:off x="10315722" y="6768201"/>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模型效能評估指標</a:t>
            </a:r>
          </a:p>
        </p:txBody>
      </p:sp>
      <p:cxnSp>
        <p:nvCxnSpPr>
          <p:cNvPr id="96" name="直線單箭頭接點 95">
            <a:extLst>
              <a:ext uri="{FF2B5EF4-FFF2-40B4-BE49-F238E27FC236}">
                <a16:creationId xmlns:a16="http://schemas.microsoft.com/office/drawing/2014/main" id="{4CA914FF-0947-6A20-B26D-9FBE1168847B}"/>
              </a:ext>
            </a:extLst>
          </p:cNvPr>
          <p:cNvCxnSpPr>
            <a:cxnSpLocks/>
          </p:cNvCxnSpPr>
          <p:nvPr/>
        </p:nvCxnSpPr>
        <p:spPr>
          <a:xfrm>
            <a:off x="11906292" y="7304164"/>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7" name="Freeform 19">
            <a:extLst>
              <a:ext uri="{FF2B5EF4-FFF2-40B4-BE49-F238E27FC236}">
                <a16:creationId xmlns:a16="http://schemas.microsoft.com/office/drawing/2014/main" id="{7749CBA5-0C97-C9D8-B332-2D3783E3C6DE}"/>
              </a:ext>
            </a:extLst>
          </p:cNvPr>
          <p:cNvSpPr/>
          <p:nvPr/>
        </p:nvSpPr>
        <p:spPr>
          <a:xfrm>
            <a:off x="10439400" y="7587430"/>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98" name="文字方塊 97">
            <a:extLst>
              <a:ext uri="{FF2B5EF4-FFF2-40B4-BE49-F238E27FC236}">
                <a16:creationId xmlns:a16="http://schemas.microsoft.com/office/drawing/2014/main" id="{A228AB94-F141-2223-94BC-6B98D355B7EB}"/>
              </a:ext>
            </a:extLst>
          </p:cNvPr>
          <p:cNvSpPr txBox="1"/>
          <p:nvPr/>
        </p:nvSpPr>
        <p:spPr>
          <a:xfrm>
            <a:off x="10315722" y="7715778"/>
            <a:ext cx="3124200" cy="400110"/>
          </a:xfrm>
          <a:prstGeom prst="rect">
            <a:avLst/>
          </a:prstGeom>
          <a:noFill/>
        </p:spPr>
        <p:txBody>
          <a:bodyPr wrap="square">
            <a:spAutoFit/>
          </a:bodyPr>
          <a:lstStyle/>
          <a:p>
            <a:pPr algn="ctr"/>
            <a:r>
              <a:rPr lang="en-US" altLang="zh-TW"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TPE</a:t>
            </a: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搜尋演算法</a:t>
            </a:r>
          </a:p>
        </p:txBody>
      </p:sp>
      <p:cxnSp>
        <p:nvCxnSpPr>
          <p:cNvPr id="99" name="直線單箭頭接點 98">
            <a:extLst>
              <a:ext uri="{FF2B5EF4-FFF2-40B4-BE49-F238E27FC236}">
                <a16:creationId xmlns:a16="http://schemas.microsoft.com/office/drawing/2014/main" id="{D430ECCA-4725-1BB6-41E8-5466DDA5A645}"/>
              </a:ext>
            </a:extLst>
          </p:cNvPr>
          <p:cNvCxnSpPr>
            <a:cxnSpLocks/>
          </p:cNvCxnSpPr>
          <p:nvPr/>
        </p:nvCxnSpPr>
        <p:spPr>
          <a:xfrm>
            <a:off x="11918465" y="8251740"/>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00" name="Freeform 19">
            <a:extLst>
              <a:ext uri="{FF2B5EF4-FFF2-40B4-BE49-F238E27FC236}">
                <a16:creationId xmlns:a16="http://schemas.microsoft.com/office/drawing/2014/main" id="{2072F084-6F8E-9B8C-2717-24E88DA9DB0A}"/>
              </a:ext>
            </a:extLst>
          </p:cNvPr>
          <p:cNvSpPr/>
          <p:nvPr/>
        </p:nvSpPr>
        <p:spPr>
          <a:xfrm>
            <a:off x="10451573" y="8535006"/>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101" name="文字方塊 100">
            <a:extLst>
              <a:ext uri="{FF2B5EF4-FFF2-40B4-BE49-F238E27FC236}">
                <a16:creationId xmlns:a16="http://schemas.microsoft.com/office/drawing/2014/main" id="{10DEF1E7-66C2-214B-1CB3-63C13879C941}"/>
              </a:ext>
            </a:extLst>
          </p:cNvPr>
          <p:cNvSpPr txBox="1"/>
          <p:nvPr/>
        </p:nvSpPr>
        <p:spPr>
          <a:xfrm>
            <a:off x="10327895" y="8663354"/>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模型結果分析</a:t>
            </a:r>
          </a:p>
        </p:txBody>
      </p:sp>
      <p:grpSp>
        <p:nvGrpSpPr>
          <p:cNvPr id="102" name="Group 17">
            <a:extLst>
              <a:ext uri="{FF2B5EF4-FFF2-40B4-BE49-F238E27FC236}">
                <a16:creationId xmlns:a16="http://schemas.microsoft.com/office/drawing/2014/main" id="{364EA5D5-06D0-9D6A-7FC2-D8B34232CFF5}"/>
              </a:ext>
            </a:extLst>
          </p:cNvPr>
          <p:cNvGrpSpPr/>
          <p:nvPr/>
        </p:nvGrpSpPr>
        <p:grpSpPr>
          <a:xfrm>
            <a:off x="14206642" y="1562100"/>
            <a:ext cx="3842461" cy="934831"/>
            <a:chOff x="-5293" y="0"/>
            <a:chExt cx="1975117" cy="480526"/>
          </a:xfrm>
          <a:solidFill>
            <a:schemeClr val="accent5">
              <a:lumMod val="20000"/>
              <a:lumOff val="80000"/>
            </a:schemeClr>
          </a:solidFill>
        </p:grpSpPr>
        <p:sp>
          <p:nvSpPr>
            <p:cNvPr id="103" name="Freeform 19">
              <a:extLst>
                <a:ext uri="{FF2B5EF4-FFF2-40B4-BE49-F238E27FC236}">
                  <a16:creationId xmlns:a16="http://schemas.microsoft.com/office/drawing/2014/main" id="{5EAA7C95-A786-9028-9A51-B2179D3B1C9C}"/>
                </a:ext>
              </a:extLst>
            </p:cNvPr>
            <p:cNvSpPr/>
            <p:nvPr/>
          </p:nvSpPr>
          <p:spPr>
            <a:xfrm>
              <a:off x="-5293" y="0"/>
              <a:ext cx="1957124" cy="467826"/>
            </a:xfrm>
            <a:custGeom>
              <a:avLst/>
              <a:gdLst/>
              <a:ahLst/>
              <a:cxnLst/>
              <a:rect l="l" t="t" r="r" b="b"/>
              <a:pathLst>
                <a:path w="1957124" h="467826">
                  <a:moveTo>
                    <a:pt x="0" y="0"/>
                  </a:moveTo>
                  <a:lnTo>
                    <a:pt x="1957124" y="0"/>
                  </a:lnTo>
                  <a:lnTo>
                    <a:pt x="1957124" y="467826"/>
                  </a:lnTo>
                  <a:lnTo>
                    <a:pt x="0" y="467826"/>
                  </a:lnTo>
                  <a:close/>
                </a:path>
              </a:pathLst>
            </a:custGeom>
            <a:grpFill/>
            <a:ln>
              <a:solidFill>
                <a:srgbClr val="244DB6"/>
              </a:solidFill>
            </a:ln>
          </p:spPr>
          <p:txBody>
            <a:bodyPr/>
            <a:lstStyle/>
            <a:p>
              <a:endParaRPr lang="zh-TW" altLang="en-US" dirty="0"/>
            </a:p>
          </p:txBody>
        </p:sp>
        <p:sp>
          <p:nvSpPr>
            <p:cNvPr id="104" name="Freeform 20">
              <a:extLst>
                <a:ext uri="{FF2B5EF4-FFF2-40B4-BE49-F238E27FC236}">
                  <a16:creationId xmlns:a16="http://schemas.microsoft.com/office/drawing/2014/main" id="{E5AFE514-2CA7-4D7E-17A8-1C29C44A5FA9}"/>
                </a:ext>
              </a:extLst>
            </p:cNvPr>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grpFill/>
            <a:ln>
              <a:solidFill>
                <a:srgbClr val="244DB6"/>
              </a:solidFill>
            </a:ln>
          </p:spPr>
          <p:txBody>
            <a:bodyPr/>
            <a:lstStyle/>
            <a:p>
              <a:endParaRPr lang="zh-TW" altLang="en-US"/>
            </a:p>
          </p:txBody>
        </p:sp>
      </p:grpSp>
      <p:sp>
        <p:nvSpPr>
          <p:cNvPr id="105" name="文字方塊 104">
            <a:extLst>
              <a:ext uri="{FF2B5EF4-FFF2-40B4-BE49-F238E27FC236}">
                <a16:creationId xmlns:a16="http://schemas.microsoft.com/office/drawing/2014/main" id="{363EB889-F4D4-4DF3-6B14-AF7AFC7A0AD1}"/>
              </a:ext>
            </a:extLst>
          </p:cNvPr>
          <p:cNvSpPr txBox="1"/>
          <p:nvPr/>
        </p:nvSpPr>
        <p:spPr>
          <a:xfrm>
            <a:off x="14024200" y="1781051"/>
            <a:ext cx="4240297" cy="492443"/>
          </a:xfrm>
          <a:prstGeom prst="rect">
            <a:avLst/>
          </a:prstGeom>
          <a:noFill/>
        </p:spPr>
        <p:txBody>
          <a:bodyPr wrap="square">
            <a:spAutoFit/>
          </a:bodyPr>
          <a:lstStyle/>
          <a:p>
            <a:pPr algn="ct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模型應用與實驗分析</a:t>
            </a:r>
          </a:p>
        </p:txBody>
      </p:sp>
      <p:cxnSp>
        <p:nvCxnSpPr>
          <p:cNvPr id="106" name="接點: 肘形 105">
            <a:extLst>
              <a:ext uri="{FF2B5EF4-FFF2-40B4-BE49-F238E27FC236}">
                <a16:creationId xmlns:a16="http://schemas.microsoft.com/office/drawing/2014/main" id="{DC8955A0-BF89-90F3-E380-D05D7BBCCC26}"/>
              </a:ext>
            </a:extLst>
          </p:cNvPr>
          <p:cNvCxnSpPr>
            <a:cxnSpLocks/>
          </p:cNvCxnSpPr>
          <p:nvPr/>
        </p:nvCxnSpPr>
        <p:spPr>
          <a:xfrm rot="16200000" flipH="1">
            <a:off x="14499933" y="2735641"/>
            <a:ext cx="823524" cy="27774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箭號: 向下 106">
            <a:extLst>
              <a:ext uri="{FF2B5EF4-FFF2-40B4-BE49-F238E27FC236}">
                <a16:creationId xmlns:a16="http://schemas.microsoft.com/office/drawing/2014/main" id="{36CBEA08-E7F0-385A-61D7-230BA416113D}"/>
              </a:ext>
            </a:extLst>
          </p:cNvPr>
          <p:cNvSpPr/>
          <p:nvPr/>
        </p:nvSpPr>
        <p:spPr>
          <a:xfrm rot="16200000">
            <a:off x="9035413" y="1682460"/>
            <a:ext cx="309857" cy="689624"/>
          </a:xfrm>
          <a:prstGeom prst="downArrow">
            <a:avLst>
              <a:gd name="adj1" fmla="val 50000"/>
              <a:gd name="adj2" fmla="val 10583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箭號: 向下 107">
            <a:extLst>
              <a:ext uri="{FF2B5EF4-FFF2-40B4-BE49-F238E27FC236}">
                <a16:creationId xmlns:a16="http://schemas.microsoft.com/office/drawing/2014/main" id="{38538316-E5D2-6F4C-D56C-97243A35380A}"/>
              </a:ext>
            </a:extLst>
          </p:cNvPr>
          <p:cNvSpPr/>
          <p:nvPr/>
        </p:nvSpPr>
        <p:spPr>
          <a:xfrm rot="16200000">
            <a:off x="13658204" y="1774398"/>
            <a:ext cx="309857" cy="567735"/>
          </a:xfrm>
          <a:prstGeom prst="downArrow">
            <a:avLst>
              <a:gd name="adj1" fmla="val 50000"/>
              <a:gd name="adj2" fmla="val 10583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Freeform 19">
            <a:extLst>
              <a:ext uri="{FF2B5EF4-FFF2-40B4-BE49-F238E27FC236}">
                <a16:creationId xmlns:a16="http://schemas.microsoft.com/office/drawing/2014/main" id="{AAB096FB-4A11-2313-93BF-380CD86A8A1B}"/>
              </a:ext>
            </a:extLst>
          </p:cNvPr>
          <p:cNvSpPr/>
          <p:nvPr/>
        </p:nvSpPr>
        <p:spPr>
          <a:xfrm>
            <a:off x="15047705" y="2882075"/>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110" name="文字方塊 109">
            <a:extLst>
              <a:ext uri="{FF2B5EF4-FFF2-40B4-BE49-F238E27FC236}">
                <a16:creationId xmlns:a16="http://schemas.microsoft.com/office/drawing/2014/main" id="{9ABBDED0-85F1-4EBD-1626-D4BF6835F5C9}"/>
              </a:ext>
            </a:extLst>
          </p:cNvPr>
          <p:cNvSpPr txBox="1"/>
          <p:nvPr/>
        </p:nvSpPr>
        <p:spPr>
          <a:xfrm>
            <a:off x="14970234" y="2857500"/>
            <a:ext cx="3124200" cy="707886"/>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機器學習與傳統方法</a:t>
            </a:r>
            <a:endParaRPr lang="en-US" altLang="zh-TW"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比較實驗</a:t>
            </a:r>
          </a:p>
        </p:txBody>
      </p:sp>
      <p:cxnSp>
        <p:nvCxnSpPr>
          <p:cNvPr id="111" name="直線單箭頭接點 110">
            <a:extLst>
              <a:ext uri="{FF2B5EF4-FFF2-40B4-BE49-F238E27FC236}">
                <a16:creationId xmlns:a16="http://schemas.microsoft.com/office/drawing/2014/main" id="{EA2652C6-C062-2E9E-4440-922B2ED544C3}"/>
              </a:ext>
            </a:extLst>
          </p:cNvPr>
          <p:cNvCxnSpPr>
            <a:cxnSpLocks/>
          </p:cNvCxnSpPr>
          <p:nvPr/>
        </p:nvCxnSpPr>
        <p:spPr>
          <a:xfrm>
            <a:off x="16486127" y="3548620"/>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2" name="Freeform 19">
            <a:extLst>
              <a:ext uri="{FF2B5EF4-FFF2-40B4-BE49-F238E27FC236}">
                <a16:creationId xmlns:a16="http://schemas.microsoft.com/office/drawing/2014/main" id="{29037C3F-9B81-EDA4-EE1B-424B40A09B3A}"/>
              </a:ext>
            </a:extLst>
          </p:cNvPr>
          <p:cNvSpPr/>
          <p:nvPr/>
        </p:nvSpPr>
        <p:spPr>
          <a:xfrm>
            <a:off x="15047705" y="3823615"/>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113" name="文字方塊 112">
            <a:extLst>
              <a:ext uri="{FF2B5EF4-FFF2-40B4-BE49-F238E27FC236}">
                <a16:creationId xmlns:a16="http://schemas.microsoft.com/office/drawing/2014/main" id="{546BDACC-8A46-944E-427A-38ED8B31EE8E}"/>
              </a:ext>
            </a:extLst>
          </p:cNvPr>
          <p:cNvSpPr txBox="1"/>
          <p:nvPr/>
        </p:nvSpPr>
        <p:spPr>
          <a:xfrm>
            <a:off x="14970234" y="3924300"/>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延遲預測比較</a:t>
            </a:r>
          </a:p>
        </p:txBody>
      </p:sp>
      <p:cxnSp>
        <p:nvCxnSpPr>
          <p:cNvPr id="114" name="直線單箭頭接點 113">
            <a:extLst>
              <a:ext uri="{FF2B5EF4-FFF2-40B4-BE49-F238E27FC236}">
                <a16:creationId xmlns:a16="http://schemas.microsoft.com/office/drawing/2014/main" id="{A0D4C747-2A6A-CC1A-530E-CF67DD91030A}"/>
              </a:ext>
            </a:extLst>
          </p:cNvPr>
          <p:cNvCxnSpPr>
            <a:cxnSpLocks/>
          </p:cNvCxnSpPr>
          <p:nvPr/>
        </p:nvCxnSpPr>
        <p:spPr>
          <a:xfrm>
            <a:off x="16486127" y="4490160"/>
            <a:ext cx="0" cy="2832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7" name="Freeform 19">
            <a:extLst>
              <a:ext uri="{FF2B5EF4-FFF2-40B4-BE49-F238E27FC236}">
                <a16:creationId xmlns:a16="http://schemas.microsoft.com/office/drawing/2014/main" id="{7E6AE506-EDD7-DDD5-CAE3-1033DCC01EDB}"/>
              </a:ext>
            </a:extLst>
          </p:cNvPr>
          <p:cNvSpPr/>
          <p:nvPr/>
        </p:nvSpPr>
        <p:spPr>
          <a:xfrm>
            <a:off x="15038683" y="4766254"/>
            <a:ext cx="2969257" cy="656807"/>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tx1"/>
            </a:solidFill>
          </a:ln>
        </p:spPr>
        <p:txBody>
          <a:bodyPr/>
          <a:lstStyle/>
          <a:p>
            <a:endParaRPr lang="zh-TW" altLang="en-US" dirty="0"/>
          </a:p>
        </p:txBody>
      </p:sp>
      <p:sp>
        <p:nvSpPr>
          <p:cNvPr id="118" name="文字方塊 117">
            <a:extLst>
              <a:ext uri="{FF2B5EF4-FFF2-40B4-BE49-F238E27FC236}">
                <a16:creationId xmlns:a16="http://schemas.microsoft.com/office/drawing/2014/main" id="{E1F4AC81-E9D7-8DD8-0D65-3D25C1A11A22}"/>
              </a:ext>
            </a:extLst>
          </p:cNvPr>
          <p:cNvSpPr txBox="1"/>
          <p:nvPr/>
        </p:nvSpPr>
        <p:spPr>
          <a:xfrm>
            <a:off x="14961212" y="4866939"/>
            <a:ext cx="3124200" cy="400110"/>
          </a:xfrm>
          <a:prstGeom prst="rect">
            <a:avLst/>
          </a:prstGeom>
          <a:noFill/>
        </p:spPr>
        <p:txBody>
          <a:bodyPr wrap="square">
            <a:spAutoFit/>
          </a:bodyPr>
          <a:lstStyle/>
          <a:p>
            <a:pPr algn="ctr"/>
            <a:r>
              <a:rPr lang="zh-TW" altLang="en-US" sz="2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異常偵測評估</a:t>
            </a:r>
          </a:p>
        </p:txBody>
      </p:sp>
    </p:spTree>
    <p:extLst>
      <p:ext uri="{BB962C8B-B14F-4D97-AF65-F5344CB8AC3E}">
        <p14:creationId xmlns:p14="http://schemas.microsoft.com/office/powerpoint/2010/main" val="167189362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EBF7-420F-0F08-1421-7AD2E5CB4C3F}"/>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84E6F892-81FB-4AFB-A3DE-0AA0B8BAAB8A}"/>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F25EFBDF-CCED-886B-03E8-A0A08D77584E}"/>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TextBox 27">
            <a:extLst>
              <a:ext uri="{FF2B5EF4-FFF2-40B4-BE49-F238E27FC236}">
                <a16:creationId xmlns:a16="http://schemas.microsoft.com/office/drawing/2014/main" id="{84494366-0A56-CA54-888F-E858C157983C}"/>
              </a:ext>
            </a:extLst>
          </p:cNvPr>
          <p:cNvSpPr txBox="1"/>
          <p:nvPr/>
        </p:nvSpPr>
        <p:spPr>
          <a:xfrm>
            <a:off x="4579171" y="647700"/>
            <a:ext cx="822813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實驗環境架設與負載模擬</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39" name="投影片編號版面配置區 38">
            <a:extLst>
              <a:ext uri="{FF2B5EF4-FFF2-40B4-BE49-F238E27FC236}">
                <a16:creationId xmlns:a16="http://schemas.microsoft.com/office/drawing/2014/main" id="{1A2789EE-ED3E-F72F-E943-0ECB66958601}"/>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31" name="Freeform 19">
            <a:extLst>
              <a:ext uri="{FF2B5EF4-FFF2-40B4-BE49-F238E27FC236}">
                <a16:creationId xmlns:a16="http://schemas.microsoft.com/office/drawing/2014/main" id="{BCEB972F-7558-A422-12E1-EF0593759CE0}"/>
              </a:ext>
            </a:extLst>
          </p:cNvPr>
          <p:cNvSpPr/>
          <p:nvPr/>
        </p:nvSpPr>
        <p:spPr>
          <a:xfrm>
            <a:off x="6372438" y="1870480"/>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33" name="文字方塊 32">
            <a:extLst>
              <a:ext uri="{FF2B5EF4-FFF2-40B4-BE49-F238E27FC236}">
                <a16:creationId xmlns:a16="http://schemas.microsoft.com/office/drawing/2014/main" id="{276E3D9B-064E-59AC-A25A-F192A6ECBFCC}"/>
              </a:ext>
            </a:extLst>
          </p:cNvPr>
          <p:cNvSpPr txBox="1"/>
          <p:nvPr/>
        </p:nvSpPr>
        <p:spPr>
          <a:xfrm>
            <a:off x="6307860" y="2007112"/>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環境建置與微服務部署</a:t>
            </a:r>
          </a:p>
        </p:txBody>
      </p:sp>
      <p:sp>
        <p:nvSpPr>
          <p:cNvPr id="3" name="箭號: 向下 2">
            <a:extLst>
              <a:ext uri="{FF2B5EF4-FFF2-40B4-BE49-F238E27FC236}">
                <a16:creationId xmlns:a16="http://schemas.microsoft.com/office/drawing/2014/main" id="{A933786B-A0B9-DAC3-BD67-ED22CBC0AB62}"/>
              </a:ext>
            </a:extLst>
          </p:cNvPr>
          <p:cNvSpPr/>
          <p:nvPr/>
        </p:nvSpPr>
        <p:spPr>
          <a:xfrm>
            <a:off x="8482922" y="2818828"/>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9" name="Freeform 19">
            <a:extLst>
              <a:ext uri="{FF2B5EF4-FFF2-40B4-BE49-F238E27FC236}">
                <a16:creationId xmlns:a16="http://schemas.microsoft.com/office/drawing/2014/main" id="{6BC9E2D8-C3D4-5355-63C6-CBD901857E18}"/>
              </a:ext>
            </a:extLst>
          </p:cNvPr>
          <p:cNvSpPr/>
          <p:nvPr/>
        </p:nvSpPr>
        <p:spPr>
          <a:xfrm>
            <a:off x="6372438" y="3660141"/>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0" name="文字方塊 19">
            <a:extLst>
              <a:ext uri="{FF2B5EF4-FFF2-40B4-BE49-F238E27FC236}">
                <a16:creationId xmlns:a16="http://schemas.microsoft.com/office/drawing/2014/main" id="{98B80D53-B055-D3FA-02AE-BC61AF0BD7BF}"/>
              </a:ext>
            </a:extLst>
          </p:cNvPr>
          <p:cNvSpPr txBox="1"/>
          <p:nvPr/>
        </p:nvSpPr>
        <p:spPr>
          <a:xfrm>
            <a:off x="6258138" y="3803106"/>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監控架構建置與資料收集</a:t>
            </a:r>
          </a:p>
        </p:txBody>
      </p:sp>
      <p:sp>
        <p:nvSpPr>
          <p:cNvPr id="21" name="箭號: 向下 20">
            <a:extLst>
              <a:ext uri="{FF2B5EF4-FFF2-40B4-BE49-F238E27FC236}">
                <a16:creationId xmlns:a16="http://schemas.microsoft.com/office/drawing/2014/main" id="{4C13A830-B1E7-368B-6390-B508CA4E2D2C}"/>
              </a:ext>
            </a:extLst>
          </p:cNvPr>
          <p:cNvSpPr/>
          <p:nvPr/>
        </p:nvSpPr>
        <p:spPr>
          <a:xfrm>
            <a:off x="8512049" y="4637975"/>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2" name="Freeform 19">
            <a:extLst>
              <a:ext uri="{FF2B5EF4-FFF2-40B4-BE49-F238E27FC236}">
                <a16:creationId xmlns:a16="http://schemas.microsoft.com/office/drawing/2014/main" id="{1B78365C-88B7-15A2-FAE5-F69CFB5AE6AF}"/>
              </a:ext>
            </a:extLst>
          </p:cNvPr>
          <p:cNvSpPr/>
          <p:nvPr/>
        </p:nvSpPr>
        <p:spPr>
          <a:xfrm>
            <a:off x="6401565" y="5479288"/>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3" name="文字方塊 22">
            <a:extLst>
              <a:ext uri="{FF2B5EF4-FFF2-40B4-BE49-F238E27FC236}">
                <a16:creationId xmlns:a16="http://schemas.microsoft.com/office/drawing/2014/main" id="{4ADCE29D-8998-6DE7-2609-AF430794EB41}"/>
              </a:ext>
            </a:extLst>
          </p:cNvPr>
          <p:cNvSpPr txBox="1"/>
          <p:nvPr/>
        </p:nvSpPr>
        <p:spPr>
          <a:xfrm>
            <a:off x="6238662" y="5608020"/>
            <a:ext cx="4886538" cy="523220"/>
          </a:xfrm>
          <a:prstGeom prst="rect">
            <a:avLst/>
          </a:prstGeom>
          <a:noFill/>
        </p:spPr>
        <p:txBody>
          <a:bodyPr wrap="square">
            <a:spAutoFit/>
          </a:bodyPr>
          <a:lstStyle/>
          <a:p>
            <a:pPr algn="ct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流量負載生成及請求模擬設計</a:t>
            </a:r>
          </a:p>
        </p:txBody>
      </p:sp>
      <p:sp>
        <p:nvSpPr>
          <p:cNvPr id="24" name="箭號: 向下 23">
            <a:extLst>
              <a:ext uri="{FF2B5EF4-FFF2-40B4-BE49-F238E27FC236}">
                <a16:creationId xmlns:a16="http://schemas.microsoft.com/office/drawing/2014/main" id="{BBD48703-AC1B-0312-1B11-36A6331E0215}"/>
              </a:ext>
            </a:extLst>
          </p:cNvPr>
          <p:cNvSpPr/>
          <p:nvPr/>
        </p:nvSpPr>
        <p:spPr>
          <a:xfrm>
            <a:off x="8512049" y="6457122"/>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5" name="Freeform 19">
            <a:extLst>
              <a:ext uri="{FF2B5EF4-FFF2-40B4-BE49-F238E27FC236}">
                <a16:creationId xmlns:a16="http://schemas.microsoft.com/office/drawing/2014/main" id="{1D5BAF17-A287-BB51-FA60-175F7C7BAA92}"/>
              </a:ext>
            </a:extLst>
          </p:cNvPr>
          <p:cNvSpPr/>
          <p:nvPr/>
        </p:nvSpPr>
        <p:spPr>
          <a:xfrm>
            <a:off x="6401565" y="7298435"/>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8" name="文字方塊 27">
            <a:extLst>
              <a:ext uri="{FF2B5EF4-FFF2-40B4-BE49-F238E27FC236}">
                <a16:creationId xmlns:a16="http://schemas.microsoft.com/office/drawing/2014/main" id="{A4BCAA52-FAA8-6B4C-3D7F-B1E697319EE9}"/>
              </a:ext>
            </a:extLst>
          </p:cNvPr>
          <p:cNvSpPr txBox="1"/>
          <p:nvPr/>
        </p:nvSpPr>
        <p:spPr>
          <a:xfrm>
            <a:off x="6969741" y="7427167"/>
            <a:ext cx="3476838" cy="523220"/>
          </a:xfrm>
          <a:prstGeom prst="rect">
            <a:avLst/>
          </a:prstGeom>
          <a:noFill/>
        </p:spPr>
        <p:txBody>
          <a:bodyPr wrap="square">
            <a:spAutoFit/>
          </a:bodyPr>
          <a:lstStyle/>
          <a:p>
            <a:pPr algn="ct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模擬觀察與結果</a:t>
            </a:r>
          </a:p>
        </p:txBody>
      </p:sp>
    </p:spTree>
    <p:extLst>
      <p:ext uri="{BB962C8B-B14F-4D97-AF65-F5344CB8AC3E}">
        <p14:creationId xmlns:p14="http://schemas.microsoft.com/office/powerpoint/2010/main" val="78460488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164F4905-E47B-A9D1-D788-F879EF51E063}"/>
              </a:ext>
            </a:extLst>
          </p:cNvPr>
          <p:cNvSpPr/>
          <p:nvPr/>
        </p:nvSpPr>
        <p:spPr>
          <a:xfrm>
            <a:off x="10210800" y="6438900"/>
            <a:ext cx="4731793" cy="2132157"/>
          </a:xfrm>
          <a:custGeom>
            <a:avLst/>
            <a:gdLst/>
            <a:ahLst/>
            <a:cxnLst/>
            <a:rect l="l" t="t" r="r" b="b"/>
            <a:pathLst>
              <a:path w="2898912" h="2374649">
                <a:moveTo>
                  <a:pt x="0" y="0"/>
                </a:moveTo>
                <a:lnTo>
                  <a:pt x="2898912" y="0"/>
                </a:lnTo>
                <a:lnTo>
                  <a:pt x="2898912" y="2374649"/>
                </a:lnTo>
                <a:lnTo>
                  <a:pt x="0" y="2374649"/>
                </a:lnTo>
                <a:close/>
              </a:path>
            </a:pathLst>
          </a:custGeom>
          <a:solidFill>
            <a:srgbClr val="FFFCF4"/>
          </a:solidFill>
        </p:spPr>
        <p:txBody>
          <a:bodyPr/>
          <a:lstStyle/>
          <a:p>
            <a:endParaRPr lang="zh-TW" altLang="en-US"/>
          </a:p>
        </p:txBody>
      </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4" name="Group 14"/>
          <p:cNvGrpSpPr/>
          <p:nvPr/>
        </p:nvGrpSpPr>
        <p:grpSpPr>
          <a:xfrm>
            <a:off x="668232" y="2627314"/>
            <a:ext cx="6857195" cy="5637391"/>
            <a:chOff x="0" y="0"/>
            <a:chExt cx="2947172" cy="2422909"/>
          </a:xfrm>
        </p:grpSpPr>
        <p:sp>
          <p:nvSpPr>
            <p:cNvPr id="15" name="Freeform 15"/>
            <p:cNvSpPr/>
            <p:nvPr/>
          </p:nvSpPr>
          <p:spPr>
            <a:xfrm>
              <a:off x="48260" y="48260"/>
              <a:ext cx="2898912" cy="2374649"/>
            </a:xfrm>
            <a:custGeom>
              <a:avLst/>
              <a:gdLst/>
              <a:ahLst/>
              <a:cxnLst/>
              <a:rect l="l" t="t" r="r" b="b"/>
              <a:pathLst>
                <a:path w="2898912" h="2374649">
                  <a:moveTo>
                    <a:pt x="0" y="0"/>
                  </a:moveTo>
                  <a:lnTo>
                    <a:pt x="2898912" y="0"/>
                  </a:lnTo>
                  <a:lnTo>
                    <a:pt x="2898912" y="2374649"/>
                  </a:lnTo>
                  <a:lnTo>
                    <a:pt x="0" y="2374649"/>
                  </a:lnTo>
                  <a:close/>
                </a:path>
              </a:pathLst>
            </a:custGeom>
            <a:solidFill>
              <a:srgbClr val="244DB6"/>
            </a:solidFill>
          </p:spPr>
          <p:txBody>
            <a:bodyPr/>
            <a:lstStyle/>
            <a:p>
              <a:endParaRPr lang="zh-TW" altLang="en-US"/>
            </a:p>
          </p:txBody>
        </p:sp>
        <p:sp>
          <p:nvSpPr>
            <p:cNvPr id="16" name="Freeform 16"/>
            <p:cNvSpPr/>
            <p:nvPr/>
          </p:nvSpPr>
          <p:spPr>
            <a:xfrm>
              <a:off x="6350" y="6350"/>
              <a:ext cx="2898912" cy="2374649"/>
            </a:xfrm>
            <a:custGeom>
              <a:avLst/>
              <a:gdLst/>
              <a:ahLst/>
              <a:cxnLst/>
              <a:rect l="l" t="t" r="r" b="b"/>
              <a:pathLst>
                <a:path w="2898912" h="2374649">
                  <a:moveTo>
                    <a:pt x="0" y="0"/>
                  </a:moveTo>
                  <a:lnTo>
                    <a:pt x="2898912" y="0"/>
                  </a:lnTo>
                  <a:lnTo>
                    <a:pt x="2898912" y="2374649"/>
                  </a:lnTo>
                  <a:lnTo>
                    <a:pt x="0" y="2374649"/>
                  </a:lnTo>
                  <a:close/>
                </a:path>
              </a:pathLst>
            </a:custGeom>
            <a:solidFill>
              <a:srgbClr val="FFFCF4"/>
            </a:solidFill>
          </p:spPr>
          <p:txBody>
            <a:bodyPr/>
            <a:lstStyle/>
            <a:p>
              <a:endParaRPr lang="zh-TW" altLang="en-US"/>
            </a:p>
          </p:txBody>
        </p:sp>
        <p:sp>
          <p:nvSpPr>
            <p:cNvPr id="17" name="Freeform 17"/>
            <p:cNvSpPr/>
            <p:nvPr/>
          </p:nvSpPr>
          <p:spPr>
            <a:xfrm>
              <a:off x="0" y="0"/>
              <a:ext cx="2911612" cy="2387349"/>
            </a:xfrm>
            <a:custGeom>
              <a:avLst/>
              <a:gdLst/>
              <a:ahLst/>
              <a:cxnLst/>
              <a:rect l="l" t="t" r="r" b="b"/>
              <a:pathLst>
                <a:path w="2911612" h="2387349">
                  <a:moveTo>
                    <a:pt x="2911612" y="2387349"/>
                  </a:moveTo>
                  <a:lnTo>
                    <a:pt x="0" y="2387349"/>
                  </a:lnTo>
                  <a:lnTo>
                    <a:pt x="0" y="0"/>
                  </a:lnTo>
                  <a:lnTo>
                    <a:pt x="2911612" y="0"/>
                  </a:lnTo>
                  <a:lnTo>
                    <a:pt x="2911612" y="2387349"/>
                  </a:lnTo>
                  <a:close/>
                  <a:moveTo>
                    <a:pt x="12700" y="2374649"/>
                  </a:moveTo>
                  <a:lnTo>
                    <a:pt x="2898912" y="2374649"/>
                  </a:lnTo>
                  <a:lnTo>
                    <a:pt x="2898912" y="12700"/>
                  </a:lnTo>
                  <a:lnTo>
                    <a:pt x="12700" y="12700"/>
                  </a:lnTo>
                  <a:lnTo>
                    <a:pt x="12700" y="2374649"/>
                  </a:lnTo>
                  <a:close/>
                </a:path>
              </a:pathLst>
            </a:custGeom>
            <a:solidFill>
              <a:srgbClr val="244DB6"/>
            </a:solidFill>
          </p:spPr>
          <p:txBody>
            <a:bodyPr/>
            <a:lstStyle/>
            <a:p>
              <a:endParaRPr lang="zh-TW" altLang="en-US"/>
            </a:p>
          </p:txBody>
        </p:sp>
      </p:grpSp>
      <p:sp>
        <p:nvSpPr>
          <p:cNvPr id="53" name="TextBox 53"/>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實驗環境與微服務部署</a:t>
            </a:r>
            <a:endParaRPr lang="zh-TW" altLang="en-US" sz="4800" b="1" spc="187" dirty="0">
              <a:solidFill>
                <a:srgbClr val="244DB6"/>
              </a:solidFill>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66" name="投影片編號版面配置區 65">
            <a:extLst>
              <a:ext uri="{FF2B5EF4-FFF2-40B4-BE49-F238E27FC236}">
                <a16:creationId xmlns:a16="http://schemas.microsoft.com/office/drawing/2014/main" id="{FC7C1336-5080-3448-B3A3-D12FA51820A5}"/>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 name="TextBox 39">
            <a:extLst>
              <a:ext uri="{FF2B5EF4-FFF2-40B4-BE49-F238E27FC236}">
                <a16:creationId xmlns:a16="http://schemas.microsoft.com/office/drawing/2014/main" id="{B49167F9-C60B-B2B9-469B-E22CEEBC933F}"/>
              </a:ext>
            </a:extLst>
          </p:cNvPr>
          <p:cNvSpPr txBox="1"/>
          <p:nvPr/>
        </p:nvSpPr>
        <p:spPr>
          <a:xfrm>
            <a:off x="934181" y="2738571"/>
            <a:ext cx="6242557" cy="5037661"/>
          </a:xfrm>
          <a:prstGeom prst="rect">
            <a:avLst/>
          </a:prstGeom>
        </p:spPr>
        <p:txBody>
          <a:bodyPr wrap="square" lIns="0" tIns="0" rIns="0" bIns="0" rtlCol="0" anchor="t">
            <a:spAutoFit/>
          </a:bodyPr>
          <a:lstStyle/>
          <a:p>
            <a:pPr marL="457200" indent="-457200" algn="just">
              <a:lnSpc>
                <a:spcPct val="20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參考開源專案，並以</a:t>
            </a:r>
            <a:r>
              <a:rPr lang="en-US" altLang="zh-TW" sz="28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FastAPI</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重構為</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4</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個微服務架構</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20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於</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Kubernetes</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叢集上建構微服務實驗環境</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20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採用</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MySQL</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儲存用戶、文章與評論等業務資料</a:t>
            </a:r>
            <a:endParaRPr 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pic>
        <p:nvPicPr>
          <p:cNvPr id="6" name="圖片 5">
            <a:extLst>
              <a:ext uri="{FF2B5EF4-FFF2-40B4-BE49-F238E27FC236}">
                <a16:creationId xmlns:a16="http://schemas.microsoft.com/office/drawing/2014/main" id="{30FE4F9B-2E23-3F0D-6630-6CFA91BE94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81577" y="1718120"/>
            <a:ext cx="10328503" cy="4532554"/>
          </a:xfrm>
          <a:prstGeom prst="rect">
            <a:avLst/>
          </a:prstGeom>
        </p:spPr>
      </p:pic>
      <p:graphicFrame>
        <p:nvGraphicFramePr>
          <p:cNvPr id="2" name="資料庫圖表 1">
            <a:extLst>
              <a:ext uri="{FF2B5EF4-FFF2-40B4-BE49-F238E27FC236}">
                <a16:creationId xmlns:a16="http://schemas.microsoft.com/office/drawing/2014/main" id="{3EEDCDA4-67D9-7474-B2E9-D5F47F3942D8}"/>
              </a:ext>
            </a:extLst>
          </p:cNvPr>
          <p:cNvGraphicFramePr/>
          <p:nvPr>
            <p:extLst>
              <p:ext uri="{D42A27DB-BD31-4B8C-83A1-F6EECF244321}">
                <p14:modId xmlns:p14="http://schemas.microsoft.com/office/powerpoint/2010/main" val="494152940"/>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4" name="表格 3">
            <a:extLst>
              <a:ext uri="{FF2B5EF4-FFF2-40B4-BE49-F238E27FC236}">
                <a16:creationId xmlns:a16="http://schemas.microsoft.com/office/drawing/2014/main" id="{9A3D2838-4437-D92B-1A2B-A4E5318504C4}"/>
              </a:ext>
            </a:extLst>
          </p:cNvPr>
          <p:cNvGraphicFramePr>
            <a:graphicFrameLocks noGrp="1"/>
          </p:cNvGraphicFramePr>
          <p:nvPr>
            <p:extLst>
              <p:ext uri="{D42A27DB-BD31-4B8C-83A1-F6EECF244321}">
                <p14:modId xmlns:p14="http://schemas.microsoft.com/office/powerpoint/2010/main" val="891189478"/>
              </p:ext>
            </p:extLst>
          </p:nvPr>
        </p:nvGraphicFramePr>
        <p:xfrm>
          <a:off x="10210800" y="6410326"/>
          <a:ext cx="4731793" cy="2132157"/>
        </p:xfrm>
        <a:graphic>
          <a:graphicData uri="http://schemas.openxmlformats.org/drawingml/2006/table">
            <a:tbl>
              <a:tblPr firstRow="1" firstCol="1" bandRow="1"/>
              <a:tblGrid>
                <a:gridCol w="1796329">
                  <a:extLst>
                    <a:ext uri="{9D8B030D-6E8A-4147-A177-3AD203B41FA5}">
                      <a16:colId xmlns:a16="http://schemas.microsoft.com/office/drawing/2014/main" val="3729759252"/>
                    </a:ext>
                  </a:extLst>
                </a:gridCol>
                <a:gridCol w="2935464">
                  <a:extLst>
                    <a:ext uri="{9D8B030D-6E8A-4147-A177-3AD203B41FA5}">
                      <a16:colId xmlns:a16="http://schemas.microsoft.com/office/drawing/2014/main" val="155122468"/>
                    </a:ext>
                  </a:extLst>
                </a:gridCol>
              </a:tblGrid>
              <a:tr h="363453">
                <a:tc>
                  <a:txBody>
                    <a:bodyPr/>
                    <a:lstStyle/>
                    <a:p>
                      <a:pPr>
                        <a:lnSpc>
                          <a:spcPct val="150000"/>
                        </a:lnSpc>
                        <a:buNone/>
                      </a:pPr>
                      <a:r>
                        <a:rPr lang="zh-TW" alt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服務名稱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E4F5"/>
                    </a:solidFill>
                  </a:tcPr>
                </a:tc>
                <a:tc>
                  <a:txBody>
                    <a:bodyPr/>
                    <a:lstStyle/>
                    <a:p>
                      <a:pPr>
                        <a:lnSpc>
                          <a:spcPct val="150000"/>
                        </a:lnSpc>
                        <a:buNone/>
                      </a:pPr>
                      <a:r>
                        <a:rPr lang="zh-TW" altLang="en-US" sz="2000" b="1" kern="120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功能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E4F5"/>
                    </a:solidFill>
                  </a:tcPr>
                </a:tc>
                <a:extLst>
                  <a:ext uri="{0D108BD9-81ED-4DB2-BD59-A6C34878D82A}">
                    <a16:rowId xmlns:a16="http://schemas.microsoft.com/office/drawing/2014/main" val="4069440451"/>
                  </a:ext>
                </a:extLst>
              </a:tr>
              <a:tr h="363453">
                <a:tc>
                  <a:txBody>
                    <a:bodyPr/>
                    <a:lstStyle/>
                    <a:p>
                      <a:pPr>
                        <a:lnSpc>
                          <a:spcPct val="150000"/>
                        </a:lnSpc>
                        <a:buNone/>
                      </a:pPr>
                      <a:r>
                        <a:rPr lang="en-US" sz="2000" b="1" kern="120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Auth</a:t>
                      </a:r>
                      <a:endParaRPr lang="zh-TW" altLang="en-US" sz="2000" b="1" kern="120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buNone/>
                      </a:pPr>
                      <a:r>
                        <a:rPr lang="zh-TW" altLang="en-US" sz="2000" b="1" kern="120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使用者登入、憑證驗證。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3940868"/>
                  </a:ext>
                </a:extLst>
              </a:tr>
              <a:tr h="363453">
                <a:tc>
                  <a:txBody>
                    <a:bodyPr/>
                    <a:lstStyle/>
                    <a:p>
                      <a:pPr>
                        <a:lnSpc>
                          <a:spcPct val="150000"/>
                        </a:lnSpc>
                        <a:buNone/>
                      </a:pPr>
                      <a:r>
                        <a:rPr 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Post</a:t>
                      </a:r>
                      <a:endParaRPr lang="zh-TW" alt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buNone/>
                      </a:pPr>
                      <a:r>
                        <a:rPr lang="zh-TW" alt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使用者文章管理。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0478669"/>
                  </a:ext>
                </a:extLst>
              </a:tr>
              <a:tr h="363453">
                <a:tc>
                  <a:txBody>
                    <a:bodyPr/>
                    <a:lstStyle/>
                    <a:p>
                      <a:pPr>
                        <a:lnSpc>
                          <a:spcPct val="150000"/>
                        </a:lnSpc>
                        <a:buNone/>
                      </a:pPr>
                      <a:r>
                        <a:rPr lang="en-US" sz="2000" b="1" kern="120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Comment</a:t>
                      </a:r>
                      <a:endParaRPr lang="zh-TW" altLang="en-US" sz="2000" b="1" kern="120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buNone/>
                      </a:pPr>
                      <a:r>
                        <a:rPr lang="zh-TW" alt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使用者文章留言評論。</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4515873"/>
                  </a:ext>
                </a:extLst>
              </a:tr>
              <a:tr h="527385">
                <a:tc>
                  <a:txBody>
                    <a:bodyPr/>
                    <a:lstStyle/>
                    <a:p>
                      <a:pPr>
                        <a:lnSpc>
                          <a:spcPct val="150000"/>
                        </a:lnSpc>
                        <a:buNone/>
                      </a:pPr>
                      <a:r>
                        <a:rPr 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User</a:t>
                      </a:r>
                      <a:endParaRPr lang="zh-TW" alt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buNone/>
                      </a:pPr>
                      <a:r>
                        <a:rPr lang="zh-TW" altLang="en-US" sz="2000" b="1" kern="1200"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使用者管理。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6011145"/>
                  </a:ext>
                </a:extLst>
              </a:tr>
            </a:tbl>
          </a:graphicData>
        </a:graphic>
      </p:graphicFrame>
    </p:spTree>
    <p:extLst>
      <p:ext uri="{BB962C8B-B14F-4D97-AF65-F5344CB8AC3E}">
        <p14:creationId xmlns:p14="http://schemas.microsoft.com/office/powerpoint/2010/main" val="428769260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13">
            <a:extLst>
              <a:ext uri="{FF2B5EF4-FFF2-40B4-BE49-F238E27FC236}">
                <a16:creationId xmlns:a16="http://schemas.microsoft.com/office/drawing/2014/main" id="{7329BA51-FA97-0A89-9C8A-6A526FE5AF4F}"/>
              </a:ext>
            </a:extLst>
          </p:cNvPr>
          <p:cNvGrpSpPr/>
          <p:nvPr/>
        </p:nvGrpSpPr>
        <p:grpSpPr>
          <a:xfrm>
            <a:off x="1276867" y="1914136"/>
            <a:ext cx="15734265" cy="7344164"/>
            <a:chOff x="0" y="0"/>
            <a:chExt cx="6762470" cy="3156468"/>
          </a:xfrm>
        </p:grpSpPr>
        <p:sp>
          <p:nvSpPr>
            <p:cNvPr id="7" name="Freeform 14">
              <a:extLst>
                <a:ext uri="{FF2B5EF4-FFF2-40B4-BE49-F238E27FC236}">
                  <a16:creationId xmlns:a16="http://schemas.microsoft.com/office/drawing/2014/main" id="{CF7BAACD-C2D4-8323-EC69-59C61E823083}"/>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8" name="Freeform 15">
              <a:extLst>
                <a:ext uri="{FF2B5EF4-FFF2-40B4-BE49-F238E27FC236}">
                  <a16:creationId xmlns:a16="http://schemas.microsoft.com/office/drawing/2014/main" id="{989EFE74-85E1-3C48-009F-4996C97552C0}"/>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a:p>
          </p:txBody>
        </p:sp>
        <p:sp>
          <p:nvSpPr>
            <p:cNvPr id="9" name="Freeform 16">
              <a:extLst>
                <a:ext uri="{FF2B5EF4-FFF2-40B4-BE49-F238E27FC236}">
                  <a16:creationId xmlns:a16="http://schemas.microsoft.com/office/drawing/2014/main" id="{3656684C-4A3D-44BA-9976-581123EF20BE}"/>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p:cNvSpPr txBox="1"/>
          <p:nvPr/>
        </p:nvSpPr>
        <p:spPr>
          <a:xfrm>
            <a:off x="3819249" y="1126212"/>
            <a:ext cx="10566762" cy="545214"/>
          </a:xfrm>
          <a:prstGeom prst="rect">
            <a:avLst/>
          </a:prstGeom>
        </p:spPr>
        <p:txBody>
          <a:bodyPr wrap="square" lIns="0" tIns="0" rIns="0" bIns="0" rtlCol="0" anchor="t">
            <a:spAutoFit/>
          </a:bodyPr>
          <a:lstStyle/>
          <a:p>
            <a:pPr algn="ctr">
              <a:lnSpc>
                <a:spcPts val="4239"/>
              </a:lnSpc>
            </a:pPr>
            <a:r>
              <a:rPr lang="en-US" altLang="zh-TW"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OpenTelemetry</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監控與資料收集架構</a:t>
            </a:r>
          </a:p>
        </p:txBody>
      </p:sp>
      <p:sp>
        <p:nvSpPr>
          <p:cNvPr id="66" name="投影片編號版面配置區 65">
            <a:extLst>
              <a:ext uri="{FF2B5EF4-FFF2-40B4-BE49-F238E27FC236}">
                <a16:creationId xmlns:a16="http://schemas.microsoft.com/office/drawing/2014/main" id="{FC7C1336-5080-3448-B3A3-D12FA51820A5}"/>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4" name="TextBox 39">
            <a:extLst>
              <a:ext uri="{FF2B5EF4-FFF2-40B4-BE49-F238E27FC236}">
                <a16:creationId xmlns:a16="http://schemas.microsoft.com/office/drawing/2014/main" id="{A6D1872E-6DE7-372F-4B7E-2557E5B795F5}"/>
              </a:ext>
            </a:extLst>
          </p:cNvPr>
          <p:cNvSpPr txBox="1"/>
          <p:nvPr/>
        </p:nvSpPr>
        <p:spPr>
          <a:xfrm>
            <a:off x="9123225" y="2109964"/>
            <a:ext cx="7745702" cy="4677819"/>
          </a:xfrm>
          <a:prstGeom prst="rect">
            <a:avLst/>
          </a:prstGeom>
        </p:spPr>
        <p:txBody>
          <a:bodyPr wrap="square" lIns="0" tIns="0" rIns="0" bIns="0" rtlCol="0" anchor="t">
            <a:spAutoFit/>
          </a:bodyPr>
          <a:lstStyle/>
          <a:p>
            <a:pPr marL="457200" indent="-457200">
              <a:lnSpc>
                <a:spcPct val="20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採用</a:t>
            </a:r>
            <a:r>
              <a:rPr lang="en-US" altLang="zh-TW" sz="26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OpenTelemetry</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的</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Auto-Instrumentation </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機制，以非侵入式方式收集微服務監控資料</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nSpc>
                <a:spcPct val="20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資料由</a:t>
            </a:r>
            <a:r>
              <a:rPr lang="en-US" sz="26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OpenTelemetry</a:t>
            </a:r>
            <a:r>
              <a:rPr 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 Collector</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處理：</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971550" lvl="1" indent="-514350">
              <a:lnSpc>
                <a:spcPct val="200000"/>
              </a:lnSpc>
              <a:buFont typeface="+mj-lt"/>
              <a:buAutoNum type="arabicPeriod"/>
            </a:pP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Receiver(</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接收</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p>
          <a:p>
            <a:pPr marL="971550" lvl="1" indent="-514350">
              <a:lnSpc>
                <a:spcPct val="200000"/>
              </a:lnSpc>
              <a:buFont typeface="+mj-lt"/>
              <a:buAutoNum type="arabicPeriod"/>
            </a:pP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Processor(</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處理與匯出</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p>
          <a:p>
            <a:pPr marL="971550" lvl="1" indent="-514350">
              <a:lnSpc>
                <a:spcPct val="200000"/>
              </a:lnSpc>
              <a:buFont typeface="+mj-lt"/>
              <a:buAutoNum type="arabicPeriod"/>
            </a:pP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Exporter(</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將資料儲存至資料庫</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endParaRPr 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pic>
        <p:nvPicPr>
          <p:cNvPr id="2" name="圖片 1">
            <a:extLst>
              <a:ext uri="{FF2B5EF4-FFF2-40B4-BE49-F238E27FC236}">
                <a16:creationId xmlns:a16="http://schemas.microsoft.com/office/drawing/2014/main" id="{3971C385-A641-9E61-9BAD-C7221A7C49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1690" y="2109964"/>
            <a:ext cx="6991940" cy="6744140"/>
          </a:xfrm>
          <a:prstGeom prst="rect">
            <a:avLst/>
          </a:prstGeom>
        </p:spPr>
      </p:pic>
      <p:sp>
        <p:nvSpPr>
          <p:cNvPr id="3" name="文字方塊 2">
            <a:extLst>
              <a:ext uri="{FF2B5EF4-FFF2-40B4-BE49-F238E27FC236}">
                <a16:creationId xmlns:a16="http://schemas.microsoft.com/office/drawing/2014/main" id="{7FCC3525-15FE-6AA8-EF61-63A195C641C2}"/>
              </a:ext>
            </a:extLst>
          </p:cNvPr>
          <p:cNvSpPr txBox="1"/>
          <p:nvPr/>
        </p:nvSpPr>
        <p:spPr>
          <a:xfrm>
            <a:off x="9993481" y="7340451"/>
            <a:ext cx="5606189" cy="954107"/>
          </a:xfrm>
          <a:prstGeom prst="rect">
            <a:avLst/>
          </a:prstGeom>
          <a:noFill/>
          <a:ln>
            <a:solidFill>
              <a:schemeClr val="accent2"/>
            </a:solidFill>
          </a:ln>
        </p:spPr>
        <p:txBody>
          <a:bodyPr wrap="square" rtlCol="0">
            <a:spAutoFit/>
          </a:bodyPr>
          <a:lstStyle/>
          <a:p>
            <a:pPr algn="ctr"/>
            <a:r>
              <a:rPr lang="zh-TW" altLang="en-US" sz="28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最終監控資料會集中至資料庫</a:t>
            </a:r>
            <a:endParaRPr lang="en-US" altLang="zh-TW" sz="28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lang="zh-TW" altLang="en-US" sz="28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作為延遲預測模型訓練的基礎來源</a:t>
            </a:r>
          </a:p>
        </p:txBody>
      </p:sp>
      <p:graphicFrame>
        <p:nvGraphicFramePr>
          <p:cNvPr id="5" name="資料庫圖表 4">
            <a:extLst>
              <a:ext uri="{FF2B5EF4-FFF2-40B4-BE49-F238E27FC236}">
                <a16:creationId xmlns:a16="http://schemas.microsoft.com/office/drawing/2014/main" id="{CA04A6E4-AA14-4002-C40E-55CD5107BF9A}"/>
              </a:ext>
            </a:extLst>
          </p:cNvPr>
          <p:cNvGraphicFramePr/>
          <p:nvPr>
            <p:extLst>
              <p:ext uri="{D42A27DB-BD31-4B8C-83A1-F6EECF244321}">
                <p14:modId xmlns:p14="http://schemas.microsoft.com/office/powerpoint/2010/main" val="208585036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1116696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3">
            <a:extLst>
              <a:ext uri="{FF2B5EF4-FFF2-40B4-BE49-F238E27FC236}">
                <a16:creationId xmlns:a16="http://schemas.microsoft.com/office/drawing/2014/main" id="{0ED546F2-7F1E-336A-E97E-00BF4C978F82}"/>
              </a:ext>
            </a:extLst>
          </p:cNvPr>
          <p:cNvGrpSpPr/>
          <p:nvPr/>
        </p:nvGrpSpPr>
        <p:grpSpPr>
          <a:xfrm>
            <a:off x="228600" y="1914136"/>
            <a:ext cx="17903269" cy="7344164"/>
            <a:chOff x="0" y="0"/>
            <a:chExt cx="6762470" cy="3156468"/>
          </a:xfrm>
        </p:grpSpPr>
        <p:sp>
          <p:nvSpPr>
            <p:cNvPr id="10" name="Freeform 14">
              <a:extLst>
                <a:ext uri="{FF2B5EF4-FFF2-40B4-BE49-F238E27FC236}">
                  <a16:creationId xmlns:a16="http://schemas.microsoft.com/office/drawing/2014/main" id="{F6D3F681-BADC-AEFF-BC7A-73D07F185878}"/>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a:ln>
              <a:noFill/>
            </a:ln>
          </p:spPr>
          <p:txBody>
            <a:bodyPr/>
            <a:lstStyle/>
            <a:p>
              <a:endParaRPr lang="zh-TW" altLang="en-US" dirty="0"/>
            </a:p>
          </p:txBody>
        </p:sp>
        <p:sp>
          <p:nvSpPr>
            <p:cNvPr id="22" name="Freeform 15">
              <a:extLst>
                <a:ext uri="{FF2B5EF4-FFF2-40B4-BE49-F238E27FC236}">
                  <a16:creationId xmlns:a16="http://schemas.microsoft.com/office/drawing/2014/main" id="{01FDE8D4-8D04-BD02-5307-E665518F7C9C}"/>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a:ln>
              <a:noFill/>
            </a:ln>
          </p:spPr>
          <p:txBody>
            <a:bodyPr/>
            <a:lstStyle/>
            <a:p>
              <a:endParaRPr lang="zh-TW" altLang="en-US"/>
            </a:p>
          </p:txBody>
        </p:sp>
        <p:sp>
          <p:nvSpPr>
            <p:cNvPr id="23" name="Freeform 16">
              <a:extLst>
                <a:ext uri="{FF2B5EF4-FFF2-40B4-BE49-F238E27FC236}">
                  <a16:creationId xmlns:a16="http://schemas.microsoft.com/office/drawing/2014/main" id="{3B81DA2F-A18F-919A-B096-59C8EC5ABD69}"/>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a:ln>
              <a:noFill/>
            </a:ln>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監控資料結構說明</a:t>
            </a:r>
          </a:p>
        </p:txBody>
      </p:sp>
      <p:sp>
        <p:nvSpPr>
          <p:cNvPr id="66" name="投影片編號版面配置區 65">
            <a:extLst>
              <a:ext uri="{FF2B5EF4-FFF2-40B4-BE49-F238E27FC236}">
                <a16:creationId xmlns:a16="http://schemas.microsoft.com/office/drawing/2014/main" id="{FC7C1336-5080-3448-B3A3-D12FA51820A5}"/>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3" name="TextBox 39">
            <a:extLst>
              <a:ext uri="{FF2B5EF4-FFF2-40B4-BE49-F238E27FC236}">
                <a16:creationId xmlns:a16="http://schemas.microsoft.com/office/drawing/2014/main" id="{B49167F9-C60B-B2B9-469B-E22CEEBC933F}"/>
              </a:ext>
            </a:extLst>
          </p:cNvPr>
          <p:cNvSpPr txBox="1"/>
          <p:nvPr/>
        </p:nvSpPr>
        <p:spPr>
          <a:xfrm>
            <a:off x="356367" y="3618424"/>
            <a:ext cx="7136410" cy="2693045"/>
          </a:xfrm>
          <a:prstGeom prst="rect">
            <a:avLst/>
          </a:prstGeom>
        </p:spPr>
        <p:txBody>
          <a:bodyPr wrap="square" lIns="0" tIns="0" rIns="0" bIns="0" rtlCol="0" anchor="t">
            <a:spAutoFit/>
          </a:bodyPr>
          <a:lstStyle/>
          <a:p>
            <a:pPr marL="457200" indent="-457200" algn="just">
              <a:lnSpc>
                <a:spcPts val="4200"/>
              </a:lnSpc>
              <a:buFont typeface="Arial" panose="020B0604020202020204" pitchFamily="34" charset="0"/>
              <a:buChar char="•"/>
            </a:pP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由</a:t>
            </a:r>
            <a:r>
              <a:rPr lang="en-US" altLang="zh-TW" sz="38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OpenTelemetry</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自動收集並匯出每筆</a:t>
            </a:r>
            <a:r>
              <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HTTP</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請求的監控資料</a:t>
            </a:r>
            <a:endPar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algn="just">
              <a:lnSpc>
                <a:spcPts val="4200"/>
              </a:lnSpc>
            </a:pPr>
            <a:endPar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ts val="4200"/>
              </a:lnSpc>
              <a:buFont typeface="Arial" panose="020B0604020202020204" pitchFamily="34" charset="0"/>
              <a:buChar char="•"/>
            </a:pP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收集資料包含服務識別碼、</a:t>
            </a:r>
            <a:r>
              <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Pod</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名稱、處理時間等資訊</a:t>
            </a: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26" name="物件 25">
            <a:extLst>
              <a:ext uri="{FF2B5EF4-FFF2-40B4-BE49-F238E27FC236}">
                <a16:creationId xmlns:a16="http://schemas.microsoft.com/office/drawing/2014/main" id="{E03125B5-AB4D-37F8-16DE-92FAD46704D5}"/>
              </a:ext>
            </a:extLst>
          </p:cNvPr>
          <p:cNvGraphicFramePr>
            <a:graphicFrameLocks noChangeAspect="1"/>
          </p:cNvGraphicFramePr>
          <p:nvPr>
            <p:extLst>
              <p:ext uri="{D42A27DB-BD31-4B8C-83A1-F6EECF244321}">
                <p14:modId xmlns:p14="http://schemas.microsoft.com/office/powerpoint/2010/main" val="1566494814"/>
              </p:ext>
            </p:extLst>
          </p:nvPr>
        </p:nvGraphicFramePr>
        <p:xfrm>
          <a:off x="7868014" y="2026423"/>
          <a:ext cx="9777663" cy="7163914"/>
        </p:xfrm>
        <a:graphic>
          <a:graphicData uri="http://schemas.openxmlformats.org/presentationml/2006/ole">
            <mc:AlternateContent xmlns:mc="http://schemas.openxmlformats.org/markup-compatibility/2006">
              <mc:Choice xmlns:v="urn:schemas-microsoft-com:vml" Requires="v">
                <p:oleObj name="Document" r:id="rId5" imgW="5274753" imgH="3390962" progId="Word.Document.12">
                  <p:embed/>
                </p:oleObj>
              </mc:Choice>
              <mc:Fallback>
                <p:oleObj name="Document" r:id="rId5" imgW="5274753" imgH="3390962" progId="Word.Document.12">
                  <p:embed/>
                  <p:pic>
                    <p:nvPicPr>
                      <p:cNvPr id="0" name=""/>
                      <p:cNvPicPr/>
                      <p:nvPr/>
                    </p:nvPicPr>
                    <p:blipFill>
                      <a:blip r:embed="rId6"/>
                      <a:stretch>
                        <a:fillRect/>
                      </a:stretch>
                    </p:blipFill>
                    <p:spPr>
                      <a:xfrm>
                        <a:off x="7868014" y="2026423"/>
                        <a:ext cx="9777663" cy="7163914"/>
                      </a:xfrm>
                      <a:prstGeom prst="rect">
                        <a:avLst/>
                      </a:prstGeom>
                    </p:spPr>
                  </p:pic>
                </p:oleObj>
              </mc:Fallback>
            </mc:AlternateContent>
          </a:graphicData>
        </a:graphic>
      </p:graphicFrame>
      <p:graphicFrame>
        <p:nvGraphicFramePr>
          <p:cNvPr id="2" name="資料庫圖表 1">
            <a:extLst>
              <a:ext uri="{FF2B5EF4-FFF2-40B4-BE49-F238E27FC236}">
                <a16:creationId xmlns:a16="http://schemas.microsoft.com/office/drawing/2014/main" id="{98E7CA6E-83E8-AA33-5FC5-AC00E0582DA5}"/>
              </a:ext>
            </a:extLst>
          </p:cNvPr>
          <p:cNvGraphicFramePr/>
          <p:nvPr>
            <p:extLst>
              <p:ext uri="{D42A27DB-BD31-4B8C-83A1-F6EECF244321}">
                <p14:modId xmlns:p14="http://schemas.microsoft.com/office/powerpoint/2010/main" val="208585036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5389462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6" name="Freeform 16"/>
          <p:cNvSpPr/>
          <p:nvPr/>
        </p:nvSpPr>
        <p:spPr>
          <a:xfrm>
            <a:off x="1828801" y="1674528"/>
            <a:ext cx="14935200" cy="7392971"/>
          </a:xfrm>
          <a:custGeom>
            <a:avLst/>
            <a:gdLst/>
            <a:ahLst/>
            <a:cxnLst/>
            <a:rect l="l" t="t" r="r" b="b"/>
            <a:pathLst>
              <a:path w="2898912" h="2374649">
                <a:moveTo>
                  <a:pt x="0" y="0"/>
                </a:moveTo>
                <a:lnTo>
                  <a:pt x="2898912" y="0"/>
                </a:lnTo>
                <a:lnTo>
                  <a:pt x="2898912" y="2374649"/>
                </a:lnTo>
                <a:lnTo>
                  <a:pt x="0" y="2374649"/>
                </a:lnTo>
                <a:close/>
              </a:path>
            </a:pathLst>
          </a:custGeom>
          <a:solidFill>
            <a:srgbClr val="FFFCF4"/>
          </a:solidFill>
        </p:spPr>
        <p:txBody>
          <a:bodyPr/>
          <a:lstStyle/>
          <a:p>
            <a:endParaRPr lang="zh-TW" altLang="en-US"/>
          </a:p>
        </p:txBody>
      </p:sp>
      <p:sp>
        <p:nvSpPr>
          <p:cNvPr id="53" name="TextBox 53"/>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負載模擬配置</a:t>
            </a:r>
          </a:p>
        </p:txBody>
      </p:sp>
      <p:sp>
        <p:nvSpPr>
          <p:cNvPr id="66" name="投影片編號版面配置區 65">
            <a:extLst>
              <a:ext uri="{FF2B5EF4-FFF2-40B4-BE49-F238E27FC236}">
                <a16:creationId xmlns:a16="http://schemas.microsoft.com/office/drawing/2014/main" id="{FC7C1336-5080-3448-B3A3-D12FA51820A5}"/>
              </a:ext>
            </a:extLst>
          </p:cNvPr>
          <p:cNvSpPr>
            <a:spLocks noGrp="1"/>
          </p:cNvSpPr>
          <p:nvPr>
            <p:ph type="sldNum" sz="quarter" idx="12"/>
          </p:nvPr>
        </p:nvSpPr>
        <p:spPr/>
        <p:txBody>
          <a:bodyPr/>
          <a:lstStyle/>
          <a:p>
            <a:fld id="{B6F15528-21DE-4FAA-801E-634DDDAF4B2B}" type="slidenum">
              <a:rPr lang="en-US" smtClean="0"/>
              <a:pPr/>
              <a:t>12</a:t>
            </a:fld>
            <a:endParaRPr lang="en-US"/>
          </a:p>
        </p:txBody>
      </p:sp>
      <p:pic>
        <p:nvPicPr>
          <p:cNvPr id="5" name="圖片 4" descr="一張含有 文字, 行, 筆跡, 繪圖 的圖片&#10;&#10;AI 產生的內容可能不正確。">
            <a:extLst>
              <a:ext uri="{FF2B5EF4-FFF2-40B4-BE49-F238E27FC236}">
                <a16:creationId xmlns:a16="http://schemas.microsoft.com/office/drawing/2014/main" id="{67B6C28D-32C7-98F4-7DD3-DF91DD6F04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55625" y="3493114"/>
            <a:ext cx="10576747" cy="4652654"/>
          </a:xfrm>
          <a:prstGeom prst="rect">
            <a:avLst/>
          </a:prstGeom>
        </p:spPr>
      </p:pic>
      <p:sp>
        <p:nvSpPr>
          <p:cNvPr id="27" name="文字方塊 26">
            <a:extLst>
              <a:ext uri="{FF2B5EF4-FFF2-40B4-BE49-F238E27FC236}">
                <a16:creationId xmlns:a16="http://schemas.microsoft.com/office/drawing/2014/main" id="{115DEFB5-E447-4A7A-4359-F0C6EC3CF6D8}"/>
              </a:ext>
            </a:extLst>
          </p:cNvPr>
          <p:cNvSpPr txBox="1"/>
          <p:nvPr/>
        </p:nvSpPr>
        <p:spPr>
          <a:xfrm>
            <a:off x="2476498" y="1775753"/>
            <a:ext cx="13334999" cy="2084994"/>
          </a:xfrm>
          <a:prstGeom prst="rect">
            <a:avLst/>
          </a:prstGeom>
          <a:noFill/>
        </p:spPr>
        <p:txBody>
          <a:bodyPr wrap="square">
            <a:spAutoFit/>
          </a:bodyPr>
          <a:lstStyle/>
          <a:p>
            <a:pPr algn="just">
              <a:lnSpc>
                <a:spcPct val="150000"/>
              </a:lnSpc>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為模擬具代表性的流量特性，本研究雖採用部落格系統為實驗平台，流量設計則參考文獻對電商系統的請求紀錄分析，雖為不同系統但流量分布仍有參考價值。</a:t>
            </a:r>
          </a:p>
        </p:txBody>
      </p:sp>
      <p:graphicFrame>
        <p:nvGraphicFramePr>
          <p:cNvPr id="29" name="資料庫圖表 28">
            <a:extLst>
              <a:ext uri="{FF2B5EF4-FFF2-40B4-BE49-F238E27FC236}">
                <a16:creationId xmlns:a16="http://schemas.microsoft.com/office/drawing/2014/main" id="{7C2558F2-9DDF-AE9D-5064-D907BED61FC7}"/>
              </a:ext>
            </a:extLst>
          </p:cNvPr>
          <p:cNvGraphicFramePr/>
          <p:nvPr>
            <p:extLst>
              <p:ext uri="{D42A27DB-BD31-4B8C-83A1-F6EECF244321}">
                <p14:modId xmlns:p14="http://schemas.microsoft.com/office/powerpoint/2010/main" val="208585036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18313518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6390-8096-858D-0A28-9E4712E77B65}"/>
            </a:ext>
          </a:extLst>
        </p:cNvPr>
        <p:cNvGrpSpPr/>
        <p:nvPr/>
      </p:nvGrpSpPr>
      <p:grpSpPr>
        <a:xfrm>
          <a:off x="0" y="0"/>
          <a:ext cx="0" cy="0"/>
          <a:chOff x="0" y="0"/>
          <a:chExt cx="0" cy="0"/>
        </a:xfrm>
      </p:grpSpPr>
      <p:sp>
        <p:nvSpPr>
          <p:cNvPr id="5" name="Freeform 16">
            <a:extLst>
              <a:ext uri="{FF2B5EF4-FFF2-40B4-BE49-F238E27FC236}">
                <a16:creationId xmlns:a16="http://schemas.microsoft.com/office/drawing/2014/main" id="{9A674F5A-431D-0051-862E-BF9A64C75641}"/>
              </a:ext>
            </a:extLst>
          </p:cNvPr>
          <p:cNvSpPr/>
          <p:nvPr/>
        </p:nvSpPr>
        <p:spPr>
          <a:xfrm>
            <a:off x="1676400" y="2324100"/>
            <a:ext cx="14935200" cy="4419600"/>
          </a:xfrm>
          <a:custGeom>
            <a:avLst/>
            <a:gdLst/>
            <a:ahLst/>
            <a:cxnLst/>
            <a:rect l="l" t="t" r="r" b="b"/>
            <a:pathLst>
              <a:path w="2898912" h="2374649">
                <a:moveTo>
                  <a:pt x="0" y="0"/>
                </a:moveTo>
                <a:lnTo>
                  <a:pt x="2898912" y="0"/>
                </a:lnTo>
                <a:lnTo>
                  <a:pt x="2898912" y="2374649"/>
                </a:lnTo>
                <a:lnTo>
                  <a:pt x="0" y="2374649"/>
                </a:lnTo>
                <a:close/>
              </a:path>
            </a:pathLst>
          </a:custGeom>
          <a:solidFill>
            <a:srgbClr val="FFFCF4"/>
          </a:solidFill>
        </p:spPr>
        <p:txBody>
          <a:bodyPr/>
          <a:lstStyle/>
          <a:p>
            <a:endParaRPr lang="zh-TW" altLang="en-US"/>
          </a:p>
        </p:txBody>
      </p:sp>
      <p:sp>
        <p:nvSpPr>
          <p:cNvPr id="11" name="Freeform 11">
            <a:extLst>
              <a:ext uri="{FF2B5EF4-FFF2-40B4-BE49-F238E27FC236}">
                <a16:creationId xmlns:a16="http://schemas.microsoft.com/office/drawing/2014/main" id="{674C45B2-5728-B209-3C87-F5F2EEA5A54A}"/>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65BA7B2E-0A1B-7310-FB0C-0209FEC98634}"/>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77BE6335-5444-C937-4561-7AAA12FD2CD2}"/>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a:extLst>
              <a:ext uri="{FF2B5EF4-FFF2-40B4-BE49-F238E27FC236}">
                <a16:creationId xmlns:a16="http://schemas.microsoft.com/office/drawing/2014/main" id="{FFEBEE33-AAF8-3CC6-EC9C-B4192F343269}"/>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資料生成與請求模擬設計</a:t>
            </a:r>
          </a:p>
        </p:txBody>
      </p:sp>
      <p:sp>
        <p:nvSpPr>
          <p:cNvPr id="66" name="投影片編號版面配置區 65">
            <a:extLst>
              <a:ext uri="{FF2B5EF4-FFF2-40B4-BE49-F238E27FC236}">
                <a16:creationId xmlns:a16="http://schemas.microsoft.com/office/drawing/2014/main" id="{1B092CA6-0844-4222-C1B2-7EDD9963EF13}"/>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25" name="TextBox 39">
            <a:extLst>
              <a:ext uri="{FF2B5EF4-FFF2-40B4-BE49-F238E27FC236}">
                <a16:creationId xmlns:a16="http://schemas.microsoft.com/office/drawing/2014/main" id="{B5EC2DDD-742E-4E1E-E6F3-567FCE62E40A}"/>
              </a:ext>
            </a:extLst>
          </p:cNvPr>
          <p:cNvSpPr txBox="1"/>
          <p:nvPr/>
        </p:nvSpPr>
        <p:spPr>
          <a:xfrm>
            <a:off x="2362200" y="2631266"/>
            <a:ext cx="14097000" cy="3729804"/>
          </a:xfrm>
          <a:prstGeom prst="rect">
            <a:avLst/>
          </a:prstGeom>
        </p:spPr>
        <p:txBody>
          <a:bodyPr wrap="square" lIns="0" tIns="0" rIns="0" bIns="0" rtlCol="0" anchor="t">
            <a:spAutoFit/>
          </a:bodyPr>
          <a:lstStyle/>
          <a:p>
            <a:pPr marL="457200" indent="-457200" algn="just">
              <a:lnSpc>
                <a:spcPts val="42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採用</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Locust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為負載生成工具</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，模擬多使用者同時發送請求</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ts val="4200"/>
              </a:lnSpc>
              <a:buFont typeface="Arial" panose="020B0604020202020204" pitchFamily="34" charset="0"/>
              <a:buChar char="•"/>
            </a:pP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ts val="42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以</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程式化方式定義使用者任務並隨機選擇請求路徑以模擬多樣化操作行為</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ts val="4200"/>
              </a:lnSpc>
              <a:buFont typeface="Arial" panose="020B0604020202020204" pitchFamily="34" charset="0"/>
              <a:buChar char="•"/>
            </a:pP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ts val="42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請求間隔依</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Poisson</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過程生成，模擬真實隨機到達特性</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ts val="4200"/>
              </a:lnSpc>
              <a:buFont typeface="Arial" panose="020B0604020202020204" pitchFamily="34" charset="0"/>
              <a:buChar char="•"/>
            </a:pPr>
            <a:endParaRPr 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ts val="42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模擬過程中收集每筆 </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HTTP </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請求紀錄，作為後續模型訓練與分析的基礎資料</a:t>
            </a:r>
            <a:endParaRPr 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26" name="資料庫圖表 25">
            <a:extLst>
              <a:ext uri="{FF2B5EF4-FFF2-40B4-BE49-F238E27FC236}">
                <a16:creationId xmlns:a16="http://schemas.microsoft.com/office/drawing/2014/main" id="{AB1137BE-182E-0CD5-445A-A08FD492C519}"/>
              </a:ext>
            </a:extLst>
          </p:cNvPr>
          <p:cNvGraphicFramePr/>
          <p:nvPr>
            <p:extLst>
              <p:ext uri="{D42A27DB-BD31-4B8C-83A1-F6EECF244321}">
                <p14:modId xmlns:p14="http://schemas.microsoft.com/office/powerpoint/2010/main" val="208585036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2103421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83621-8FAA-D334-7670-C8695287F307}"/>
            </a:ext>
          </a:extLst>
        </p:cNvPr>
        <p:cNvGrpSpPr/>
        <p:nvPr/>
      </p:nvGrpSpPr>
      <p:grpSpPr>
        <a:xfrm>
          <a:off x="0" y="0"/>
          <a:ext cx="0" cy="0"/>
          <a:chOff x="0" y="0"/>
          <a:chExt cx="0" cy="0"/>
        </a:xfrm>
      </p:grpSpPr>
      <p:grpSp>
        <p:nvGrpSpPr>
          <p:cNvPr id="9" name="Group 13">
            <a:extLst>
              <a:ext uri="{FF2B5EF4-FFF2-40B4-BE49-F238E27FC236}">
                <a16:creationId xmlns:a16="http://schemas.microsoft.com/office/drawing/2014/main" id="{03259AB4-5822-C5FF-76BF-86C8C66A9DF5}"/>
              </a:ext>
            </a:extLst>
          </p:cNvPr>
          <p:cNvGrpSpPr/>
          <p:nvPr/>
        </p:nvGrpSpPr>
        <p:grpSpPr>
          <a:xfrm>
            <a:off x="2438400" y="1914136"/>
            <a:ext cx="13487400" cy="6886964"/>
            <a:chOff x="0" y="0"/>
            <a:chExt cx="6762470" cy="3156468"/>
          </a:xfrm>
        </p:grpSpPr>
        <p:sp>
          <p:nvSpPr>
            <p:cNvPr id="10" name="Freeform 14">
              <a:extLst>
                <a:ext uri="{FF2B5EF4-FFF2-40B4-BE49-F238E27FC236}">
                  <a16:creationId xmlns:a16="http://schemas.microsoft.com/office/drawing/2014/main" id="{0B53A939-F8DF-81D3-524F-3AD9824E3563}"/>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a:ln>
              <a:noFill/>
            </a:ln>
          </p:spPr>
          <p:txBody>
            <a:bodyPr/>
            <a:lstStyle/>
            <a:p>
              <a:endParaRPr lang="zh-TW" altLang="en-US" dirty="0"/>
            </a:p>
          </p:txBody>
        </p:sp>
        <p:sp>
          <p:nvSpPr>
            <p:cNvPr id="22" name="Freeform 15">
              <a:extLst>
                <a:ext uri="{FF2B5EF4-FFF2-40B4-BE49-F238E27FC236}">
                  <a16:creationId xmlns:a16="http://schemas.microsoft.com/office/drawing/2014/main" id="{03E6757B-57E7-F255-080B-9052D0221D5C}"/>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a:ln>
              <a:noFill/>
            </a:ln>
          </p:spPr>
          <p:txBody>
            <a:bodyPr/>
            <a:lstStyle/>
            <a:p>
              <a:endParaRPr lang="zh-TW" altLang="en-US"/>
            </a:p>
          </p:txBody>
        </p:sp>
        <p:sp>
          <p:nvSpPr>
            <p:cNvPr id="23" name="Freeform 16">
              <a:extLst>
                <a:ext uri="{FF2B5EF4-FFF2-40B4-BE49-F238E27FC236}">
                  <a16:creationId xmlns:a16="http://schemas.microsoft.com/office/drawing/2014/main" id="{C9B03097-4BEF-54D3-E64B-DDC17779CDEF}"/>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a:ln>
              <a:noFill/>
            </a:ln>
          </p:spPr>
          <p:txBody>
            <a:bodyPr/>
            <a:lstStyle/>
            <a:p>
              <a:endParaRPr lang="zh-TW" altLang="en-US"/>
            </a:p>
          </p:txBody>
        </p:sp>
      </p:grpSp>
      <p:sp>
        <p:nvSpPr>
          <p:cNvPr id="11" name="Freeform 11">
            <a:extLst>
              <a:ext uri="{FF2B5EF4-FFF2-40B4-BE49-F238E27FC236}">
                <a16:creationId xmlns:a16="http://schemas.microsoft.com/office/drawing/2014/main" id="{9C858636-7A4C-0A19-AC5A-C827984797C3}"/>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7F0876FB-F457-B5A3-1242-EC4E6B98120C}"/>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6A663A57-5356-5655-982A-ACFCCDB9109E}"/>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a:extLst>
              <a:ext uri="{FF2B5EF4-FFF2-40B4-BE49-F238E27FC236}">
                <a16:creationId xmlns:a16="http://schemas.microsoft.com/office/drawing/2014/main" id="{9CF657AD-80E6-D0EB-DB01-75675E441D25}"/>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模擬條件</a:t>
            </a:r>
          </a:p>
        </p:txBody>
      </p:sp>
      <p:sp>
        <p:nvSpPr>
          <p:cNvPr id="66" name="投影片編號版面配置區 65">
            <a:extLst>
              <a:ext uri="{FF2B5EF4-FFF2-40B4-BE49-F238E27FC236}">
                <a16:creationId xmlns:a16="http://schemas.microsoft.com/office/drawing/2014/main" id="{B5E76EAD-F92C-6987-EBFD-A27788AF5111}"/>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Box 39">
            <a:extLst>
              <a:ext uri="{FF2B5EF4-FFF2-40B4-BE49-F238E27FC236}">
                <a16:creationId xmlns:a16="http://schemas.microsoft.com/office/drawing/2014/main" id="{91628F65-224C-ABEC-5A18-63B2230E63E5}"/>
              </a:ext>
            </a:extLst>
          </p:cNvPr>
          <p:cNvSpPr txBox="1"/>
          <p:nvPr/>
        </p:nvSpPr>
        <p:spPr>
          <a:xfrm>
            <a:off x="2902994" y="2230596"/>
            <a:ext cx="12344400" cy="5667192"/>
          </a:xfrm>
          <a:prstGeom prst="rect">
            <a:avLst/>
          </a:prstGeom>
        </p:spPr>
        <p:txBody>
          <a:bodyPr wrap="square" lIns="0" tIns="0" rIns="0" bIns="0" rtlCol="0" anchor="t">
            <a:spAutoFit/>
          </a:bodyPr>
          <a:lstStyle/>
          <a:p>
            <a:pPr marL="457200" indent="-457200" algn="just">
              <a:lnSpc>
                <a:spcPct val="200000"/>
              </a:lnSpc>
              <a:buFont typeface="Arial" panose="020B0604020202020204" pitchFamily="34" charset="0"/>
              <a:buChar char="•"/>
            </a:pP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各微服務皆以</a:t>
            </a:r>
            <a:r>
              <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1~4</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個</a:t>
            </a:r>
            <a:r>
              <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Pod</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配置分階段運行，依日分階段運行</a:t>
            </a:r>
            <a:endPar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200000"/>
              </a:lnSpc>
              <a:buFont typeface="Arial" panose="020B0604020202020204" pitchFamily="34" charset="0"/>
              <a:buChar char="•"/>
            </a:pP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模擬負載依文獻中實際系統的流量分布設定，並進行流量放大以模擬高負載情境</a:t>
            </a:r>
            <a:endPar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200000"/>
              </a:lnSpc>
              <a:buFont typeface="Arial" panose="020B0604020202020204" pitchFamily="34" charset="0"/>
              <a:buChar char="•"/>
            </a:pP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模擬共執行</a:t>
            </a:r>
            <a:r>
              <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9</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天，涵蓋不同流量與</a:t>
            </a:r>
            <a:r>
              <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Pod</a:t>
            </a:r>
            <a:r>
              <a:rPr lang="zh-TW" altLang="en-US"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配置條件</a:t>
            </a:r>
            <a:endParaRPr lang="en-US" altLang="zh-TW" sz="3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aphicFrame>
        <p:nvGraphicFramePr>
          <p:cNvPr id="2" name="資料庫圖表 1">
            <a:extLst>
              <a:ext uri="{FF2B5EF4-FFF2-40B4-BE49-F238E27FC236}">
                <a16:creationId xmlns:a16="http://schemas.microsoft.com/office/drawing/2014/main" id="{1185AA2D-9ED7-CA0B-EED6-6A99E94FE1DB}"/>
              </a:ext>
            </a:extLst>
          </p:cNvPr>
          <p:cNvGraphicFramePr/>
          <p:nvPr>
            <p:extLst>
              <p:ext uri="{D42A27DB-BD31-4B8C-83A1-F6EECF244321}">
                <p14:modId xmlns:p14="http://schemas.microsoft.com/office/powerpoint/2010/main" val="208585036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91607455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7DB1-862F-D749-3044-9B6D5A03511B}"/>
            </a:ext>
          </a:extLst>
        </p:cNvPr>
        <p:cNvGrpSpPr/>
        <p:nvPr/>
      </p:nvGrpSpPr>
      <p:grpSpPr>
        <a:xfrm>
          <a:off x="0" y="0"/>
          <a:ext cx="0" cy="0"/>
          <a:chOff x="0" y="0"/>
          <a:chExt cx="0" cy="0"/>
        </a:xfrm>
      </p:grpSpPr>
      <p:grpSp>
        <p:nvGrpSpPr>
          <p:cNvPr id="9" name="Group 13">
            <a:extLst>
              <a:ext uri="{FF2B5EF4-FFF2-40B4-BE49-F238E27FC236}">
                <a16:creationId xmlns:a16="http://schemas.microsoft.com/office/drawing/2014/main" id="{62C0C75E-5AF0-C92F-C9C7-82BFB243A4E8}"/>
              </a:ext>
            </a:extLst>
          </p:cNvPr>
          <p:cNvGrpSpPr/>
          <p:nvPr/>
        </p:nvGrpSpPr>
        <p:grpSpPr>
          <a:xfrm>
            <a:off x="2438400" y="1914136"/>
            <a:ext cx="13487400" cy="6886964"/>
            <a:chOff x="0" y="0"/>
            <a:chExt cx="6762470" cy="3156468"/>
          </a:xfrm>
        </p:grpSpPr>
        <p:sp>
          <p:nvSpPr>
            <p:cNvPr id="10" name="Freeform 14">
              <a:extLst>
                <a:ext uri="{FF2B5EF4-FFF2-40B4-BE49-F238E27FC236}">
                  <a16:creationId xmlns:a16="http://schemas.microsoft.com/office/drawing/2014/main" id="{B3C7C2C7-C5B9-0DB9-5101-EA3ABFAE88FD}"/>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a:ln>
              <a:noFill/>
            </a:ln>
          </p:spPr>
          <p:txBody>
            <a:bodyPr/>
            <a:lstStyle/>
            <a:p>
              <a:endParaRPr lang="zh-TW" altLang="en-US" dirty="0"/>
            </a:p>
          </p:txBody>
        </p:sp>
        <p:sp>
          <p:nvSpPr>
            <p:cNvPr id="22" name="Freeform 15">
              <a:extLst>
                <a:ext uri="{FF2B5EF4-FFF2-40B4-BE49-F238E27FC236}">
                  <a16:creationId xmlns:a16="http://schemas.microsoft.com/office/drawing/2014/main" id="{7E1EE5DD-5E44-632F-B1E1-3665C095C26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a:ln>
              <a:noFill/>
            </a:ln>
          </p:spPr>
          <p:txBody>
            <a:bodyPr/>
            <a:lstStyle/>
            <a:p>
              <a:endParaRPr lang="zh-TW" altLang="en-US"/>
            </a:p>
          </p:txBody>
        </p:sp>
        <p:sp>
          <p:nvSpPr>
            <p:cNvPr id="23" name="Freeform 16">
              <a:extLst>
                <a:ext uri="{FF2B5EF4-FFF2-40B4-BE49-F238E27FC236}">
                  <a16:creationId xmlns:a16="http://schemas.microsoft.com/office/drawing/2014/main" id="{8451E5C0-F742-77E2-0740-F2C8DC141FF1}"/>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a:ln>
              <a:noFill/>
            </a:ln>
          </p:spPr>
          <p:txBody>
            <a:bodyPr/>
            <a:lstStyle/>
            <a:p>
              <a:endParaRPr lang="zh-TW" altLang="en-US"/>
            </a:p>
          </p:txBody>
        </p:sp>
      </p:grpSp>
      <p:sp>
        <p:nvSpPr>
          <p:cNvPr id="11" name="Freeform 11">
            <a:extLst>
              <a:ext uri="{FF2B5EF4-FFF2-40B4-BE49-F238E27FC236}">
                <a16:creationId xmlns:a16="http://schemas.microsoft.com/office/drawing/2014/main" id="{95EC76B9-810F-45BF-774F-FC0ABEC3FB3F}"/>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80866E52-E67D-9637-0819-48930C9FF539}"/>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89E67D14-A045-670E-80D9-00A4C4850215}"/>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a:extLst>
              <a:ext uri="{FF2B5EF4-FFF2-40B4-BE49-F238E27FC236}">
                <a16:creationId xmlns:a16="http://schemas.microsoft.com/office/drawing/2014/main" id="{6737332E-1942-88EF-002D-79497347341A}"/>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模擬觀察與結果</a:t>
            </a:r>
          </a:p>
        </p:txBody>
      </p:sp>
      <p:sp>
        <p:nvSpPr>
          <p:cNvPr id="66" name="投影片編號版面配置區 65">
            <a:extLst>
              <a:ext uri="{FF2B5EF4-FFF2-40B4-BE49-F238E27FC236}">
                <a16:creationId xmlns:a16="http://schemas.microsoft.com/office/drawing/2014/main" id="{EE17972E-E8CF-707B-35E6-F54D7D2A4948}"/>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Box 39">
            <a:extLst>
              <a:ext uri="{FF2B5EF4-FFF2-40B4-BE49-F238E27FC236}">
                <a16:creationId xmlns:a16="http://schemas.microsoft.com/office/drawing/2014/main" id="{2F3A488F-1F66-3C6A-E81D-A8445C59A820}"/>
              </a:ext>
            </a:extLst>
          </p:cNvPr>
          <p:cNvSpPr txBox="1"/>
          <p:nvPr/>
        </p:nvSpPr>
        <p:spPr>
          <a:xfrm>
            <a:off x="2902994" y="2230596"/>
            <a:ext cx="12344400" cy="3043205"/>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約</a:t>
            </a:r>
            <a:r>
              <a:rPr lang="en-US" altLang="zh-TW" sz="3400" b="1"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5</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en-US" altLang="zh-TW" sz="3400" b="1"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7</a:t>
            </a:r>
            <a:r>
              <a:rPr lang="zh-TW" altLang="en-US" sz="3400" b="1"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倍</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的流量放大最能</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觸發延遲惡化但不致系統癱瘓</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9</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天的總請求量約</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3</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千萬筆</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模擬期間各服務皆完成多階段運行，涵蓋</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4</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個</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Pod</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配置，能反映不同部署條件下的系統反應</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4" name="文字方塊 3">
            <a:extLst>
              <a:ext uri="{FF2B5EF4-FFF2-40B4-BE49-F238E27FC236}">
                <a16:creationId xmlns:a16="http://schemas.microsoft.com/office/drawing/2014/main" id="{C1A34CC2-58B5-1512-0287-14AAA28A301D}"/>
              </a:ext>
            </a:extLst>
          </p:cNvPr>
          <p:cNvSpPr txBox="1"/>
          <p:nvPr/>
        </p:nvSpPr>
        <p:spPr>
          <a:xfrm>
            <a:off x="2633354" y="6025022"/>
            <a:ext cx="13021289" cy="1652568"/>
          </a:xfrm>
          <a:prstGeom prst="rect">
            <a:avLst/>
          </a:prstGeom>
          <a:noFill/>
        </p:spPr>
        <p:txBody>
          <a:bodyPr wrap="square">
            <a:spAutoFit/>
          </a:bodyPr>
          <a:lstStyle/>
          <a:p>
            <a:pPr algn="just">
              <a:lnSpc>
                <a:spcPct val="150000"/>
              </a:lnSpc>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模擬完成後，將收集之監控資料進行整合與前處理，以作為延遲預測模型訓練的輸入來源。</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aphicFrame>
        <p:nvGraphicFramePr>
          <p:cNvPr id="5" name="資料庫圖表 4">
            <a:extLst>
              <a:ext uri="{FF2B5EF4-FFF2-40B4-BE49-F238E27FC236}">
                <a16:creationId xmlns:a16="http://schemas.microsoft.com/office/drawing/2014/main" id="{AB2567B9-E452-75D8-F4B4-DE2CE331D11C}"/>
              </a:ext>
            </a:extLst>
          </p:cNvPr>
          <p:cNvGraphicFramePr/>
          <p:nvPr>
            <p:extLst>
              <p:ext uri="{D42A27DB-BD31-4B8C-83A1-F6EECF244321}">
                <p14:modId xmlns:p14="http://schemas.microsoft.com/office/powerpoint/2010/main" val="208585036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9846324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66" name="投影片編號版面配置區 65">
            <a:extLst>
              <a:ext uri="{FF2B5EF4-FFF2-40B4-BE49-F238E27FC236}">
                <a16:creationId xmlns:a16="http://schemas.microsoft.com/office/drawing/2014/main" id="{FC7C1336-5080-3448-B3A3-D12FA51820A5}"/>
              </a:ext>
            </a:extLst>
          </p:cNvPr>
          <p:cNvSpPr>
            <a:spLocks noGrp="1"/>
          </p:cNvSpPr>
          <p:nvPr>
            <p:ph type="sldNum" sz="quarter" idx="12"/>
          </p:nvPr>
        </p:nvSpPr>
        <p:spPr/>
        <p:txBody>
          <a:bodyPr/>
          <a:lstStyle/>
          <a:p>
            <a:fld id="{B6F15528-21DE-4FAA-801E-634DDDAF4B2B}" type="slidenum">
              <a:rPr lang="en-US" smtClean="0"/>
              <a:pPr/>
              <a:t>16</a:t>
            </a:fld>
            <a:endParaRPr lang="en-US"/>
          </a:p>
        </p:txBody>
      </p:sp>
      <p:pic>
        <p:nvPicPr>
          <p:cNvPr id="6" name="圖片 5" descr="一張含有 文字, 螢幕擷取畫面, 圖表, 行 的圖片&#10;&#10;AI 產生的內容可能不正確。">
            <a:extLst>
              <a:ext uri="{FF2B5EF4-FFF2-40B4-BE49-F238E27FC236}">
                <a16:creationId xmlns:a16="http://schemas.microsoft.com/office/drawing/2014/main" id="{3AC68F28-F2EE-3374-65F9-84EB18CCDA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1161" y="1094610"/>
            <a:ext cx="5285678" cy="8764836"/>
          </a:xfrm>
          <a:prstGeom prst="rect">
            <a:avLst/>
          </a:prstGeom>
        </p:spPr>
      </p:pic>
      <p:sp>
        <p:nvSpPr>
          <p:cNvPr id="2" name="TextBox 53">
            <a:extLst>
              <a:ext uri="{FF2B5EF4-FFF2-40B4-BE49-F238E27FC236}">
                <a16:creationId xmlns:a16="http://schemas.microsoft.com/office/drawing/2014/main" id="{D34B9C21-898E-D651-DD10-CAF1D9E0CA78}"/>
              </a:ext>
            </a:extLst>
          </p:cNvPr>
          <p:cNvSpPr txBox="1"/>
          <p:nvPr/>
        </p:nvSpPr>
        <p:spPr>
          <a:xfrm>
            <a:off x="4581159" y="521593"/>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模擬資料生成流程圖</a:t>
            </a:r>
          </a:p>
        </p:txBody>
      </p:sp>
    </p:spTree>
    <p:extLst>
      <p:ext uri="{BB962C8B-B14F-4D97-AF65-F5344CB8AC3E}">
        <p14:creationId xmlns:p14="http://schemas.microsoft.com/office/powerpoint/2010/main" val="159771110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7FB62-4EEB-E06F-49F3-92887AEBBDE9}"/>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1C8A74B6-6BF8-2FDB-F99B-9E7F3C0F6515}"/>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3A87FEE1-0645-6643-D4EB-FC58153BBF4F}"/>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TextBox 27">
            <a:extLst>
              <a:ext uri="{FF2B5EF4-FFF2-40B4-BE49-F238E27FC236}">
                <a16:creationId xmlns:a16="http://schemas.microsoft.com/office/drawing/2014/main" id="{5D28EC99-884D-A0F8-FA49-6F8A432A5F06}"/>
              </a:ext>
            </a:extLst>
          </p:cNvPr>
          <p:cNvSpPr txBox="1"/>
          <p:nvPr/>
        </p:nvSpPr>
        <p:spPr>
          <a:xfrm>
            <a:off x="4579171" y="647700"/>
            <a:ext cx="822813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模擬資料處理與特徵建構</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39" name="投影片編號版面配置區 38">
            <a:extLst>
              <a:ext uri="{FF2B5EF4-FFF2-40B4-BE49-F238E27FC236}">
                <a16:creationId xmlns:a16="http://schemas.microsoft.com/office/drawing/2014/main" id="{65738AAF-4998-4E9A-D61F-A8D26DAF30D2}"/>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1" name="Freeform 19">
            <a:extLst>
              <a:ext uri="{FF2B5EF4-FFF2-40B4-BE49-F238E27FC236}">
                <a16:creationId xmlns:a16="http://schemas.microsoft.com/office/drawing/2014/main" id="{C7D04E14-637B-A123-CDF2-9885268F0EF2}"/>
              </a:ext>
            </a:extLst>
          </p:cNvPr>
          <p:cNvSpPr/>
          <p:nvPr/>
        </p:nvSpPr>
        <p:spPr>
          <a:xfrm>
            <a:off x="6372438" y="1870480"/>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33" name="文字方塊 32">
            <a:extLst>
              <a:ext uri="{FF2B5EF4-FFF2-40B4-BE49-F238E27FC236}">
                <a16:creationId xmlns:a16="http://schemas.microsoft.com/office/drawing/2014/main" id="{77D05C6D-FA92-2042-3014-F310FF0624A4}"/>
              </a:ext>
            </a:extLst>
          </p:cNvPr>
          <p:cNvSpPr txBox="1"/>
          <p:nvPr/>
        </p:nvSpPr>
        <p:spPr>
          <a:xfrm>
            <a:off x="6307860" y="2007112"/>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模擬資料整合與處理</a:t>
            </a:r>
          </a:p>
        </p:txBody>
      </p:sp>
      <p:sp>
        <p:nvSpPr>
          <p:cNvPr id="3" name="箭號: 向下 2">
            <a:extLst>
              <a:ext uri="{FF2B5EF4-FFF2-40B4-BE49-F238E27FC236}">
                <a16:creationId xmlns:a16="http://schemas.microsoft.com/office/drawing/2014/main" id="{94B45AE1-E8BE-3B74-9051-3EE2DA957122}"/>
              </a:ext>
            </a:extLst>
          </p:cNvPr>
          <p:cNvSpPr/>
          <p:nvPr/>
        </p:nvSpPr>
        <p:spPr>
          <a:xfrm>
            <a:off x="8482922" y="2818828"/>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9" name="Freeform 19">
            <a:extLst>
              <a:ext uri="{FF2B5EF4-FFF2-40B4-BE49-F238E27FC236}">
                <a16:creationId xmlns:a16="http://schemas.microsoft.com/office/drawing/2014/main" id="{43556A89-8D3E-FE4A-4CA6-82742884F1E8}"/>
              </a:ext>
            </a:extLst>
          </p:cNvPr>
          <p:cNvSpPr/>
          <p:nvPr/>
        </p:nvSpPr>
        <p:spPr>
          <a:xfrm>
            <a:off x="6372438" y="3660141"/>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0" name="文字方塊 19">
            <a:extLst>
              <a:ext uri="{FF2B5EF4-FFF2-40B4-BE49-F238E27FC236}">
                <a16:creationId xmlns:a16="http://schemas.microsoft.com/office/drawing/2014/main" id="{10FA10D6-E09D-B0A9-F1B3-168A9AB4FC21}"/>
              </a:ext>
            </a:extLst>
          </p:cNvPr>
          <p:cNvSpPr txBox="1"/>
          <p:nvPr/>
        </p:nvSpPr>
        <p:spPr>
          <a:xfrm>
            <a:off x="6258138" y="3803106"/>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特徵集規模</a:t>
            </a:r>
          </a:p>
        </p:txBody>
      </p:sp>
      <p:sp>
        <p:nvSpPr>
          <p:cNvPr id="21" name="箭號: 向下 20">
            <a:extLst>
              <a:ext uri="{FF2B5EF4-FFF2-40B4-BE49-F238E27FC236}">
                <a16:creationId xmlns:a16="http://schemas.microsoft.com/office/drawing/2014/main" id="{4ED6DAC7-5F84-E0FF-E344-AA9E7E156BF2}"/>
              </a:ext>
            </a:extLst>
          </p:cNvPr>
          <p:cNvSpPr/>
          <p:nvPr/>
        </p:nvSpPr>
        <p:spPr>
          <a:xfrm>
            <a:off x="8512049" y="4637975"/>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2" name="Freeform 19">
            <a:extLst>
              <a:ext uri="{FF2B5EF4-FFF2-40B4-BE49-F238E27FC236}">
                <a16:creationId xmlns:a16="http://schemas.microsoft.com/office/drawing/2014/main" id="{771CB2B7-7DA4-5C1C-9634-18E6F9204D03}"/>
              </a:ext>
            </a:extLst>
          </p:cNvPr>
          <p:cNvSpPr/>
          <p:nvPr/>
        </p:nvSpPr>
        <p:spPr>
          <a:xfrm>
            <a:off x="6401565" y="5479288"/>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4" name="箭號: 向下 23">
            <a:extLst>
              <a:ext uri="{FF2B5EF4-FFF2-40B4-BE49-F238E27FC236}">
                <a16:creationId xmlns:a16="http://schemas.microsoft.com/office/drawing/2014/main" id="{E4ED2A97-3A17-2718-67A5-17E939B4B959}"/>
              </a:ext>
            </a:extLst>
          </p:cNvPr>
          <p:cNvSpPr/>
          <p:nvPr/>
        </p:nvSpPr>
        <p:spPr>
          <a:xfrm>
            <a:off x="8512049" y="6457122"/>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5" name="Freeform 19">
            <a:extLst>
              <a:ext uri="{FF2B5EF4-FFF2-40B4-BE49-F238E27FC236}">
                <a16:creationId xmlns:a16="http://schemas.microsoft.com/office/drawing/2014/main" id="{EAE05DB7-4D8F-F64E-558B-7C43C3B57833}"/>
              </a:ext>
            </a:extLst>
          </p:cNvPr>
          <p:cNvSpPr/>
          <p:nvPr/>
        </p:nvSpPr>
        <p:spPr>
          <a:xfrm>
            <a:off x="6401565" y="7298435"/>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8" name="文字方塊 27">
            <a:extLst>
              <a:ext uri="{FF2B5EF4-FFF2-40B4-BE49-F238E27FC236}">
                <a16:creationId xmlns:a16="http://schemas.microsoft.com/office/drawing/2014/main" id="{53F3EC41-C2D0-C473-699E-3DCCED998CF3}"/>
              </a:ext>
            </a:extLst>
          </p:cNvPr>
          <p:cNvSpPr txBox="1"/>
          <p:nvPr/>
        </p:nvSpPr>
        <p:spPr>
          <a:xfrm>
            <a:off x="6969741" y="7427167"/>
            <a:ext cx="3476838"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延伸特徵</a:t>
            </a:r>
          </a:p>
        </p:txBody>
      </p:sp>
      <p:sp>
        <p:nvSpPr>
          <p:cNvPr id="2" name="文字方塊 1">
            <a:extLst>
              <a:ext uri="{FF2B5EF4-FFF2-40B4-BE49-F238E27FC236}">
                <a16:creationId xmlns:a16="http://schemas.microsoft.com/office/drawing/2014/main" id="{DB20998C-B9FF-1BD0-66B2-4A7E84A42592}"/>
              </a:ext>
            </a:extLst>
          </p:cNvPr>
          <p:cNvSpPr txBox="1"/>
          <p:nvPr/>
        </p:nvSpPr>
        <p:spPr>
          <a:xfrm>
            <a:off x="6320217" y="5648821"/>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特徵建構說明</a:t>
            </a:r>
          </a:p>
        </p:txBody>
      </p:sp>
    </p:spTree>
    <p:extLst>
      <p:ext uri="{BB962C8B-B14F-4D97-AF65-F5344CB8AC3E}">
        <p14:creationId xmlns:p14="http://schemas.microsoft.com/office/powerpoint/2010/main" val="644850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B3353-315C-A327-34C1-0ADA535C09D3}"/>
            </a:ext>
          </a:extLst>
        </p:cNvPr>
        <p:cNvGrpSpPr/>
        <p:nvPr/>
      </p:nvGrpSpPr>
      <p:grpSpPr>
        <a:xfrm>
          <a:off x="0" y="0"/>
          <a:ext cx="0" cy="0"/>
          <a:chOff x="0" y="0"/>
          <a:chExt cx="0" cy="0"/>
        </a:xfrm>
      </p:grpSpPr>
      <p:sp>
        <p:nvSpPr>
          <p:cNvPr id="7" name="Freeform 16">
            <a:extLst>
              <a:ext uri="{FF2B5EF4-FFF2-40B4-BE49-F238E27FC236}">
                <a16:creationId xmlns:a16="http://schemas.microsoft.com/office/drawing/2014/main" id="{356076C4-2717-71A2-2401-EA709E888D0C}"/>
              </a:ext>
            </a:extLst>
          </p:cNvPr>
          <p:cNvSpPr/>
          <p:nvPr/>
        </p:nvSpPr>
        <p:spPr>
          <a:xfrm>
            <a:off x="2438400" y="1883151"/>
            <a:ext cx="12970513" cy="5774950"/>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1" name="Freeform 11">
            <a:extLst>
              <a:ext uri="{FF2B5EF4-FFF2-40B4-BE49-F238E27FC236}">
                <a16:creationId xmlns:a16="http://schemas.microsoft.com/office/drawing/2014/main" id="{826260F0-87F2-5AE5-664A-74C277B199EF}"/>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A4A91966-B3F6-7849-41EC-BD9398865392}"/>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1C31DBCB-920F-C905-0C7A-069EE1168F57}"/>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a:extLst>
              <a:ext uri="{FF2B5EF4-FFF2-40B4-BE49-F238E27FC236}">
                <a16:creationId xmlns:a16="http://schemas.microsoft.com/office/drawing/2014/main" id="{7F646A12-5383-015B-6AF3-58F0D0F33043}"/>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模擬資料整合與處理</a:t>
            </a:r>
          </a:p>
        </p:txBody>
      </p:sp>
      <p:sp>
        <p:nvSpPr>
          <p:cNvPr id="66" name="投影片編號版面配置區 65">
            <a:extLst>
              <a:ext uri="{FF2B5EF4-FFF2-40B4-BE49-F238E27FC236}">
                <a16:creationId xmlns:a16="http://schemas.microsoft.com/office/drawing/2014/main" id="{A881BBD4-199E-1C8B-892B-D0746445336E}"/>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3" name="TextBox 39">
            <a:extLst>
              <a:ext uri="{FF2B5EF4-FFF2-40B4-BE49-F238E27FC236}">
                <a16:creationId xmlns:a16="http://schemas.microsoft.com/office/drawing/2014/main" id="{9C68B04A-4A0B-1CE8-D3C3-14427720190E}"/>
              </a:ext>
            </a:extLst>
          </p:cNvPr>
          <p:cNvSpPr txBox="1"/>
          <p:nvPr/>
        </p:nvSpPr>
        <p:spPr>
          <a:xfrm>
            <a:off x="2551695" y="1883151"/>
            <a:ext cx="12780980" cy="5368970"/>
          </a:xfrm>
          <a:prstGeom prst="rect">
            <a:avLst/>
          </a:prstGeom>
        </p:spPr>
        <p:txBody>
          <a:bodyPr wrap="square" lIns="0" tIns="0" rIns="0" bIns="0" rtlCol="0" anchor="t">
            <a:spAutoFit/>
          </a:bodyPr>
          <a:lstStyle/>
          <a:p>
            <a:pPr marL="4572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時間序列聚合：以分鐘為單位，彙整每分鐘內的所有請求。</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整合多微服務資料：將四個微服務在相同時間內的延遲、狀態碼與負載資料整合，形成反映整體系統狀態的資料集。</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整理後輸出結構化資料：產生每分鐘的統計指標</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平均、最大、最小等</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及系統狀態資訊，作為後續特徵建構的輸入基礎。</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5" name="資料庫圖表 4">
            <a:extLst>
              <a:ext uri="{FF2B5EF4-FFF2-40B4-BE49-F238E27FC236}">
                <a16:creationId xmlns:a16="http://schemas.microsoft.com/office/drawing/2014/main" id="{9C7CEAD8-9208-C8E4-FF82-F0A7892BB4CB}"/>
              </a:ext>
            </a:extLst>
          </p:cNvPr>
          <p:cNvGraphicFramePr/>
          <p:nvPr>
            <p:extLst>
              <p:ext uri="{D42A27DB-BD31-4B8C-83A1-F6EECF244321}">
                <p14:modId xmlns:p14="http://schemas.microsoft.com/office/powerpoint/2010/main" val="280814733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605729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09A7-F110-D0CC-6866-E0CD157A18C3}"/>
            </a:ext>
          </a:extLst>
        </p:cNvPr>
        <p:cNvGrpSpPr/>
        <p:nvPr/>
      </p:nvGrpSpPr>
      <p:grpSpPr>
        <a:xfrm>
          <a:off x="0" y="0"/>
          <a:ext cx="0" cy="0"/>
          <a:chOff x="0" y="0"/>
          <a:chExt cx="0" cy="0"/>
        </a:xfrm>
      </p:grpSpPr>
      <p:sp>
        <p:nvSpPr>
          <p:cNvPr id="28" name="Freeform 16">
            <a:extLst>
              <a:ext uri="{FF2B5EF4-FFF2-40B4-BE49-F238E27FC236}">
                <a16:creationId xmlns:a16="http://schemas.microsoft.com/office/drawing/2014/main" id="{BEF43881-9723-CED1-BE5D-A4913C2B416D}"/>
              </a:ext>
            </a:extLst>
          </p:cNvPr>
          <p:cNvSpPr/>
          <p:nvPr/>
        </p:nvSpPr>
        <p:spPr>
          <a:xfrm>
            <a:off x="3200400" y="1662934"/>
            <a:ext cx="11963400" cy="6299966"/>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a:p>
        </p:txBody>
      </p:sp>
      <p:sp>
        <p:nvSpPr>
          <p:cNvPr id="11" name="Freeform 11">
            <a:extLst>
              <a:ext uri="{FF2B5EF4-FFF2-40B4-BE49-F238E27FC236}">
                <a16:creationId xmlns:a16="http://schemas.microsoft.com/office/drawing/2014/main" id="{1AC84E5C-3E3E-A418-25CC-6B8440605D02}"/>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11B45527-E878-220D-25B1-8510C03E8E39}"/>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150FE794-56DA-8818-0354-448A53C20366}"/>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66" name="投影片編號版面配置區 65">
            <a:extLst>
              <a:ext uri="{FF2B5EF4-FFF2-40B4-BE49-F238E27FC236}">
                <a16:creationId xmlns:a16="http://schemas.microsoft.com/office/drawing/2014/main" id="{4D4F54C6-C933-62AA-F909-F298D47BDEEA}"/>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2" name="TextBox 53">
            <a:extLst>
              <a:ext uri="{FF2B5EF4-FFF2-40B4-BE49-F238E27FC236}">
                <a16:creationId xmlns:a16="http://schemas.microsoft.com/office/drawing/2014/main" id="{C03C9342-EEDF-0C48-1100-080A17339544}"/>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資料集規模</a:t>
            </a:r>
          </a:p>
        </p:txBody>
      </p:sp>
      <p:sp>
        <p:nvSpPr>
          <p:cNvPr id="4" name="TextBox 39">
            <a:extLst>
              <a:ext uri="{FF2B5EF4-FFF2-40B4-BE49-F238E27FC236}">
                <a16:creationId xmlns:a16="http://schemas.microsoft.com/office/drawing/2014/main" id="{5D836696-4BE9-32F6-A79E-89288B846B76}"/>
              </a:ext>
            </a:extLst>
          </p:cNvPr>
          <p:cNvSpPr txBox="1"/>
          <p:nvPr/>
        </p:nvSpPr>
        <p:spPr>
          <a:xfrm>
            <a:off x="4542936" y="6577905"/>
            <a:ext cx="9456266" cy="1384995"/>
          </a:xfrm>
          <a:prstGeom prst="rect">
            <a:avLst/>
          </a:prstGeom>
        </p:spPr>
        <p:txBody>
          <a:bodyPr wrap="square" lIns="0" tIns="0" rIns="0" bIns="0" rtlCol="0" anchor="t">
            <a:spAutoFit/>
          </a:bodyPr>
          <a:lstStyle/>
          <a:p>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最終整合四個微服務觀測資料，共收集 </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51,780 </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筆樣本，平均系統負載約 </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608 </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請求</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分鐘，作為後續特徵建構與模型訓練的資料基礎。</a:t>
            </a:r>
          </a:p>
        </p:txBody>
      </p:sp>
      <p:graphicFrame>
        <p:nvGraphicFramePr>
          <p:cNvPr id="3" name="表格 2">
            <a:extLst>
              <a:ext uri="{FF2B5EF4-FFF2-40B4-BE49-F238E27FC236}">
                <a16:creationId xmlns:a16="http://schemas.microsoft.com/office/drawing/2014/main" id="{2119E28B-4F68-4822-C543-DD3711682D86}"/>
              </a:ext>
            </a:extLst>
          </p:cNvPr>
          <p:cNvGraphicFramePr>
            <a:graphicFrameLocks noGrp="1"/>
          </p:cNvGraphicFramePr>
          <p:nvPr>
            <p:extLst>
              <p:ext uri="{D42A27DB-BD31-4B8C-83A1-F6EECF244321}">
                <p14:modId xmlns:p14="http://schemas.microsoft.com/office/powerpoint/2010/main" val="2749127845"/>
              </p:ext>
            </p:extLst>
          </p:nvPr>
        </p:nvGraphicFramePr>
        <p:xfrm>
          <a:off x="4364995" y="1790700"/>
          <a:ext cx="9634207" cy="4507067"/>
        </p:xfrm>
        <a:graphic>
          <a:graphicData uri="http://schemas.openxmlformats.org/drawingml/2006/table">
            <a:tbl>
              <a:tblPr firstRow="1" firstCol="1" bandRow="1"/>
              <a:tblGrid>
                <a:gridCol w="1484358">
                  <a:extLst>
                    <a:ext uri="{9D8B030D-6E8A-4147-A177-3AD203B41FA5}">
                      <a16:colId xmlns:a16="http://schemas.microsoft.com/office/drawing/2014/main" val="3082695040"/>
                    </a:ext>
                  </a:extLst>
                </a:gridCol>
                <a:gridCol w="1328495">
                  <a:extLst>
                    <a:ext uri="{9D8B030D-6E8A-4147-A177-3AD203B41FA5}">
                      <a16:colId xmlns:a16="http://schemas.microsoft.com/office/drawing/2014/main" val="3156064768"/>
                    </a:ext>
                  </a:extLst>
                </a:gridCol>
                <a:gridCol w="1334772">
                  <a:extLst>
                    <a:ext uri="{9D8B030D-6E8A-4147-A177-3AD203B41FA5}">
                      <a16:colId xmlns:a16="http://schemas.microsoft.com/office/drawing/2014/main" val="1560930917"/>
                    </a:ext>
                  </a:extLst>
                </a:gridCol>
                <a:gridCol w="1334772">
                  <a:extLst>
                    <a:ext uri="{9D8B030D-6E8A-4147-A177-3AD203B41FA5}">
                      <a16:colId xmlns:a16="http://schemas.microsoft.com/office/drawing/2014/main" val="755871948"/>
                    </a:ext>
                  </a:extLst>
                </a:gridCol>
                <a:gridCol w="1334772">
                  <a:extLst>
                    <a:ext uri="{9D8B030D-6E8A-4147-A177-3AD203B41FA5}">
                      <a16:colId xmlns:a16="http://schemas.microsoft.com/office/drawing/2014/main" val="1150540340"/>
                    </a:ext>
                  </a:extLst>
                </a:gridCol>
                <a:gridCol w="1482266">
                  <a:extLst>
                    <a:ext uri="{9D8B030D-6E8A-4147-A177-3AD203B41FA5}">
                      <a16:colId xmlns:a16="http://schemas.microsoft.com/office/drawing/2014/main" val="1416373540"/>
                    </a:ext>
                  </a:extLst>
                </a:gridCol>
                <a:gridCol w="1334772">
                  <a:extLst>
                    <a:ext uri="{9D8B030D-6E8A-4147-A177-3AD203B41FA5}">
                      <a16:colId xmlns:a16="http://schemas.microsoft.com/office/drawing/2014/main" val="4168595989"/>
                    </a:ext>
                  </a:extLst>
                </a:gridCol>
              </a:tblGrid>
              <a:tr h="1348011">
                <a:tc>
                  <a:txBody>
                    <a:bodyPr/>
                    <a:lstStyle/>
                    <a:p>
                      <a:pPr algn="ctr">
                        <a:lnSpc>
                          <a:spcPct val="150000"/>
                        </a:lnSpc>
                        <a:buNone/>
                      </a:pPr>
                      <a:r>
                        <a:rPr lang="zh-TW" sz="2000" b="1" i="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服務類型</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a:lnSpc>
                          <a:spcPct val="150000"/>
                        </a:lnSpc>
                        <a:buNone/>
                      </a:pP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服務代碼</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a:lnSpc>
                          <a:spcPct val="150000"/>
                        </a:lnSpc>
                        <a:buNone/>
                      </a:pP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樣本數量</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a:lnSpc>
                          <a:spcPct val="150000"/>
                        </a:lnSpc>
                        <a:buNone/>
                      </a:pP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平均處理時間</a:t>
                      </a:r>
                      <a:r>
                        <a:rPr lang="zh-TW"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 </a:t>
                      </a:r>
                      <a:r>
                        <a:rPr lang="en-US"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a:t>
                      </a:r>
                      <a:r>
                        <a:rPr lang="en-US" sz="2000" b="1" kern="100" dirty="0" err="1">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ms</a:t>
                      </a:r>
                      <a:r>
                        <a:rPr lang="en-US"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a:lnSpc>
                          <a:spcPct val="150000"/>
                        </a:lnSpc>
                        <a:buNone/>
                      </a:pP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標準差</a:t>
                      </a:r>
                      <a:r>
                        <a:rPr lang="en-US"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en-US" sz="2000" b="1" kern="100" dirty="0" err="1">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ms</a:t>
                      </a:r>
                      <a:r>
                        <a:rPr lang="en-US"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a:lnSpc>
                          <a:spcPct val="150000"/>
                        </a:lnSpc>
                        <a:buNone/>
                      </a:pP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平均請求量</a:t>
                      </a:r>
                      <a:r>
                        <a:rPr lang="zh-TW"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 </a:t>
                      </a:r>
                      <a:r>
                        <a:rPr lang="en-US"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a:t>
                      </a: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分</a:t>
                      </a:r>
                      <a:r>
                        <a:rPr lang="en-US"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a:lnSpc>
                          <a:spcPct val="150000"/>
                        </a:lnSpc>
                        <a:buNone/>
                      </a:pPr>
                      <a:r>
                        <a:rPr lang="zh-TW" sz="20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平均錯誤率</a:t>
                      </a:r>
                      <a:r>
                        <a:rPr lang="zh-TW"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 </a:t>
                      </a:r>
                      <a:r>
                        <a:rPr lang="en-US" sz="2000" b="1" kern="100" dirty="0">
                          <a:solidFill>
                            <a:srgbClr val="000000"/>
                          </a:solidFill>
                          <a:effectLst/>
                          <a:latin typeface="標楷體" panose="03000509000000000000" pitchFamily="65" charset="-120"/>
                          <a:ea typeface="Times New Roman" panose="02020603050405020304" pitchFamily="18" charset="0"/>
                          <a:cs typeface="Times New Roman" panose="02020603050405020304" pitchFamily="18" charset="0"/>
                        </a:rPr>
                        <a:t>(%)</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601079133"/>
                  </a:ext>
                </a:extLst>
              </a:tr>
              <a:tr h="631745">
                <a:tc>
                  <a:txBody>
                    <a:bodyPr/>
                    <a:lstStyle/>
                    <a:p>
                      <a:pPr algn="ctr">
                        <a:lnSpc>
                          <a:spcPct val="150000"/>
                        </a:lnSpc>
                        <a:buNone/>
                      </a:pPr>
                      <a:r>
                        <a:rPr lang="en-US" sz="2000" i="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Auth</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a:noFill/>
                    </a:lnB>
                    <a:solidFill>
                      <a:srgbClr val="FFFFFF"/>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1000</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12,945</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62.9</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23.3</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319.5</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3.51</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662778013"/>
                  </a:ext>
                </a:extLst>
              </a:tr>
              <a:tr h="631745">
                <a:tc>
                  <a:txBody>
                    <a:bodyPr/>
                    <a:lstStyle/>
                    <a:p>
                      <a:pPr algn="ctr">
                        <a:lnSpc>
                          <a:spcPct val="150000"/>
                        </a:lnSpc>
                        <a:buNone/>
                      </a:pPr>
                      <a:r>
                        <a:rPr lang="en-US" sz="2000" i="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User</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0100</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12,945</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72.1</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14.5</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96.1</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1.43</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554977128"/>
                  </a:ext>
                </a:extLst>
              </a:tr>
              <a:tr h="631745">
                <a:tc>
                  <a:txBody>
                    <a:bodyPr/>
                    <a:lstStyle/>
                    <a:p>
                      <a:pPr algn="ctr">
                        <a:lnSpc>
                          <a:spcPct val="150000"/>
                        </a:lnSpc>
                        <a:buNone/>
                      </a:pPr>
                      <a:r>
                        <a:rPr lang="en-US" sz="2000" i="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Post</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0010</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12,945</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79.7</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15.6</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112.0</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2.27</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145269855"/>
                  </a:ext>
                </a:extLst>
              </a:tr>
              <a:tr h="631745">
                <a:tc>
                  <a:txBody>
                    <a:bodyPr/>
                    <a:lstStyle/>
                    <a:p>
                      <a:pPr algn="ctr">
                        <a:lnSpc>
                          <a:spcPct val="150000"/>
                        </a:lnSpc>
                        <a:buNone/>
                      </a:pPr>
                      <a:r>
                        <a:rPr lang="en-US" sz="2000" i="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Comment</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0001</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12,945</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59.7</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23.3</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79.9</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0.73</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509779787"/>
                  </a:ext>
                </a:extLst>
              </a:tr>
              <a:tr h="632076">
                <a:tc>
                  <a:txBody>
                    <a:bodyPr/>
                    <a:lstStyle/>
                    <a:p>
                      <a:pPr algn="ctr">
                        <a:lnSpc>
                          <a:spcPct val="150000"/>
                        </a:lnSpc>
                        <a:buNone/>
                      </a:pPr>
                      <a:r>
                        <a:rPr lang="zh-TW" sz="2000" i="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總計</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lgn="ctr">
                        <a:lnSpc>
                          <a:spcPct val="150000"/>
                        </a:lnSpc>
                        <a:buNone/>
                      </a:pP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 </a:t>
                      </a:r>
                      <a:endParaRPr lang="zh-TW" sz="2000" kern="10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51,780</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68.6</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19.2</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607.5</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50000"/>
                        </a:lnSpc>
                        <a:buNone/>
                      </a:pPr>
                      <a:r>
                        <a:rPr lang="en-US" sz="20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1.9</a:t>
                      </a:r>
                      <a:endParaRPr lang="zh-TW" sz="2000" kern="100"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321620563"/>
                  </a:ext>
                </a:extLst>
              </a:tr>
            </a:tbl>
          </a:graphicData>
        </a:graphic>
      </p:graphicFrame>
      <p:graphicFrame>
        <p:nvGraphicFramePr>
          <p:cNvPr id="6" name="資料庫圖表 5">
            <a:extLst>
              <a:ext uri="{FF2B5EF4-FFF2-40B4-BE49-F238E27FC236}">
                <a16:creationId xmlns:a16="http://schemas.microsoft.com/office/drawing/2014/main" id="{5E370256-C918-A933-C1B0-9D6A7F18C296}"/>
              </a:ext>
            </a:extLst>
          </p:cNvPr>
          <p:cNvGraphicFramePr/>
          <p:nvPr>
            <p:extLst>
              <p:ext uri="{D42A27DB-BD31-4B8C-83A1-F6EECF244321}">
                <p14:modId xmlns:p14="http://schemas.microsoft.com/office/powerpoint/2010/main" val="193329840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8889463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6">
            <a:extLst>
              <a:ext uri="{FF2B5EF4-FFF2-40B4-BE49-F238E27FC236}">
                <a16:creationId xmlns:a16="http://schemas.microsoft.com/office/drawing/2014/main" id="{22CA4A9E-2AC3-5F5D-7DAC-F71ECA7772F7}"/>
              </a:ext>
            </a:extLst>
          </p:cNvPr>
          <p:cNvSpPr/>
          <p:nvPr/>
        </p:nvSpPr>
        <p:spPr>
          <a:xfrm>
            <a:off x="906027" y="1449682"/>
            <a:ext cx="15794610" cy="7712545"/>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特徵建構說明</a:t>
            </a:r>
          </a:p>
        </p:txBody>
      </p:sp>
      <p:sp>
        <p:nvSpPr>
          <p:cNvPr id="66" name="投影片編號版面配置區 65">
            <a:extLst>
              <a:ext uri="{FF2B5EF4-FFF2-40B4-BE49-F238E27FC236}">
                <a16:creationId xmlns:a16="http://schemas.microsoft.com/office/drawing/2014/main" id="{FC7C1336-5080-3448-B3A3-D12FA51820A5}"/>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3" name="TextBox 39">
            <a:extLst>
              <a:ext uri="{FF2B5EF4-FFF2-40B4-BE49-F238E27FC236}">
                <a16:creationId xmlns:a16="http://schemas.microsoft.com/office/drawing/2014/main" id="{B49167F9-C60B-B2B9-469B-E22CEEBC933F}"/>
              </a:ext>
            </a:extLst>
          </p:cNvPr>
          <p:cNvSpPr txBox="1"/>
          <p:nvPr/>
        </p:nvSpPr>
        <p:spPr>
          <a:xfrm>
            <a:off x="1106810" y="1714500"/>
            <a:ext cx="7848600" cy="5807552"/>
          </a:xfrm>
          <a:prstGeom prst="rect">
            <a:avLst/>
          </a:prstGeom>
        </p:spPr>
        <p:txBody>
          <a:bodyPr wrap="square" lIns="0" tIns="0" rIns="0" bIns="0" rtlCol="0" anchor="t">
            <a:spAutoFit/>
          </a:bodyPr>
          <a:lstStyle/>
          <a:p>
            <a:pPr algn="just">
              <a:lnSpc>
                <a:spcPct val="150000"/>
              </a:lnSpc>
            </a:pPr>
            <a:r>
              <a:rPr lang="zh-TW" altLang="en-US" sz="4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基礎特徵</a:t>
            </a:r>
            <a:r>
              <a:rPr lang="en-US" altLang="zh-TW" sz="4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(Basic Features)</a:t>
            </a:r>
          </a:p>
          <a:p>
            <a:pPr marL="457200" indent="-457200" algn="just">
              <a:lnSpc>
                <a:spcPct val="15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由整合後的時間序列資料中，提取延遲、負載及錯誤率等核心指標</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針對每分鐘的觀測資料計算多種統計特徵，反映系統延遲分布</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保留延遲與系統狀態相關特徵，作為模型訓練與延伸特徵設計的基礎</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pic>
        <p:nvPicPr>
          <p:cNvPr id="2" name="圖片 1">
            <a:extLst>
              <a:ext uri="{FF2B5EF4-FFF2-40B4-BE49-F238E27FC236}">
                <a16:creationId xmlns:a16="http://schemas.microsoft.com/office/drawing/2014/main" id="{2CB478D3-8EEC-D569-4CBC-5EFA0311AFD4}"/>
              </a:ext>
            </a:extLst>
          </p:cNvPr>
          <p:cNvPicPr>
            <a:picLocks noChangeAspect="1"/>
          </p:cNvPicPr>
          <p:nvPr/>
        </p:nvPicPr>
        <p:blipFill>
          <a:blip r:embed="rId5"/>
          <a:stretch>
            <a:fillRect/>
          </a:stretch>
        </p:blipFill>
        <p:spPr>
          <a:xfrm>
            <a:off x="9320558" y="1588022"/>
            <a:ext cx="7294756" cy="7594078"/>
          </a:xfrm>
          <a:prstGeom prst="rect">
            <a:avLst/>
          </a:prstGeom>
        </p:spPr>
      </p:pic>
      <p:graphicFrame>
        <p:nvGraphicFramePr>
          <p:cNvPr id="5" name="資料庫圖表 4">
            <a:extLst>
              <a:ext uri="{FF2B5EF4-FFF2-40B4-BE49-F238E27FC236}">
                <a16:creationId xmlns:a16="http://schemas.microsoft.com/office/drawing/2014/main" id="{6DDD7673-8240-CE7E-30F9-6BF847C2691E}"/>
              </a:ext>
            </a:extLst>
          </p:cNvPr>
          <p:cNvGraphicFramePr/>
          <p:nvPr>
            <p:extLst>
              <p:ext uri="{D42A27DB-BD31-4B8C-83A1-F6EECF244321}">
                <p14:modId xmlns:p14="http://schemas.microsoft.com/office/powerpoint/2010/main" val="193329840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598359922"/>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3199F-F0BE-7337-9787-800BECC3C990}"/>
            </a:ext>
          </a:extLst>
        </p:cNvPr>
        <p:cNvGrpSpPr/>
        <p:nvPr/>
      </p:nvGrpSpPr>
      <p:grpSpPr>
        <a:xfrm>
          <a:off x="0" y="0"/>
          <a:ext cx="0" cy="0"/>
          <a:chOff x="0" y="0"/>
          <a:chExt cx="0" cy="0"/>
        </a:xfrm>
      </p:grpSpPr>
      <p:grpSp>
        <p:nvGrpSpPr>
          <p:cNvPr id="26" name="Group 14">
            <a:extLst>
              <a:ext uri="{FF2B5EF4-FFF2-40B4-BE49-F238E27FC236}">
                <a16:creationId xmlns:a16="http://schemas.microsoft.com/office/drawing/2014/main" id="{FB62228D-5A26-999E-BCA3-D270BF6B8339}"/>
              </a:ext>
            </a:extLst>
          </p:cNvPr>
          <p:cNvGrpSpPr/>
          <p:nvPr/>
        </p:nvGrpSpPr>
        <p:grpSpPr>
          <a:xfrm>
            <a:off x="836652" y="1573914"/>
            <a:ext cx="16384547" cy="7918886"/>
            <a:chOff x="0" y="0"/>
            <a:chExt cx="5627242" cy="3156468"/>
          </a:xfrm>
        </p:grpSpPr>
        <p:sp>
          <p:nvSpPr>
            <p:cNvPr id="27" name="Freeform 15">
              <a:extLst>
                <a:ext uri="{FF2B5EF4-FFF2-40B4-BE49-F238E27FC236}">
                  <a16:creationId xmlns:a16="http://schemas.microsoft.com/office/drawing/2014/main" id="{2A9F58CF-ED6D-F122-C223-B12C5D1B1CF1}"/>
                </a:ext>
              </a:extLst>
            </p:cNvPr>
            <p:cNvSpPr/>
            <p:nvPr/>
          </p:nvSpPr>
          <p:spPr>
            <a:xfrm>
              <a:off x="48260" y="997087"/>
              <a:ext cx="4771172" cy="2159381"/>
            </a:xfrm>
            <a:custGeom>
              <a:avLst/>
              <a:gdLst/>
              <a:ahLst/>
              <a:cxnLst/>
              <a:rect l="l" t="t" r="r" b="b"/>
              <a:pathLst>
                <a:path w="5614542" h="3108208">
                  <a:moveTo>
                    <a:pt x="0" y="0"/>
                  </a:moveTo>
                  <a:lnTo>
                    <a:pt x="5614542" y="0"/>
                  </a:lnTo>
                  <a:lnTo>
                    <a:pt x="5614542" y="3108208"/>
                  </a:lnTo>
                  <a:lnTo>
                    <a:pt x="0" y="3108208"/>
                  </a:lnTo>
                  <a:close/>
                </a:path>
              </a:pathLst>
            </a:custGeom>
            <a:solidFill>
              <a:srgbClr val="244DB6"/>
            </a:solidFill>
          </p:spPr>
          <p:txBody>
            <a:bodyPr/>
            <a:lstStyle/>
            <a:p>
              <a:endParaRPr lang="zh-TW" altLang="en-US"/>
            </a:p>
          </p:txBody>
        </p:sp>
        <p:sp>
          <p:nvSpPr>
            <p:cNvPr id="28" name="Freeform 16">
              <a:extLst>
                <a:ext uri="{FF2B5EF4-FFF2-40B4-BE49-F238E27FC236}">
                  <a16:creationId xmlns:a16="http://schemas.microsoft.com/office/drawing/2014/main" id="{7417533F-E7CD-1826-DC49-614EEEA307D0}"/>
                </a:ext>
              </a:extLst>
            </p:cNvPr>
            <p:cNvSpPr/>
            <p:nvPr/>
          </p:nvSpPr>
          <p:spPr>
            <a:xfrm>
              <a:off x="6350" y="635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a:p>
          </p:txBody>
        </p:sp>
        <p:sp>
          <p:nvSpPr>
            <p:cNvPr id="29" name="Freeform 17">
              <a:extLst>
                <a:ext uri="{FF2B5EF4-FFF2-40B4-BE49-F238E27FC236}">
                  <a16:creationId xmlns:a16="http://schemas.microsoft.com/office/drawing/2014/main" id="{6B4A30D2-A753-B57C-24A0-F0AA4E954D55}"/>
                </a:ext>
              </a:extLst>
            </p:cNvPr>
            <p:cNvSpPr/>
            <p:nvPr/>
          </p:nvSpPr>
          <p:spPr>
            <a:xfrm>
              <a:off x="0" y="0"/>
              <a:ext cx="5627242" cy="3120908"/>
            </a:xfrm>
            <a:custGeom>
              <a:avLst/>
              <a:gdLst/>
              <a:ahLst/>
              <a:cxnLst/>
              <a:rect l="l" t="t" r="r" b="b"/>
              <a:pathLst>
                <a:path w="5627242" h="3120908">
                  <a:moveTo>
                    <a:pt x="5627242" y="3120908"/>
                  </a:moveTo>
                  <a:lnTo>
                    <a:pt x="0" y="3120908"/>
                  </a:lnTo>
                  <a:lnTo>
                    <a:pt x="0" y="0"/>
                  </a:lnTo>
                  <a:lnTo>
                    <a:pt x="5627242" y="0"/>
                  </a:lnTo>
                  <a:lnTo>
                    <a:pt x="5627242" y="3120908"/>
                  </a:lnTo>
                  <a:close/>
                  <a:moveTo>
                    <a:pt x="12700" y="3108208"/>
                  </a:moveTo>
                  <a:lnTo>
                    <a:pt x="5614542" y="3108208"/>
                  </a:lnTo>
                  <a:lnTo>
                    <a:pt x="5614542" y="12700"/>
                  </a:lnTo>
                  <a:lnTo>
                    <a:pt x="12700" y="12700"/>
                  </a:lnTo>
                  <a:lnTo>
                    <a:pt x="12700" y="3108208"/>
                  </a:lnTo>
                  <a:close/>
                </a:path>
              </a:pathLst>
            </a:custGeom>
            <a:solidFill>
              <a:srgbClr val="244DB6"/>
            </a:solidFill>
          </p:spPr>
          <p:txBody>
            <a:bodyPr/>
            <a:lstStyle/>
            <a:p>
              <a:endParaRPr lang="zh-TW" altLang="en-US"/>
            </a:p>
          </p:txBody>
        </p:sp>
      </p:grpSp>
      <p:sp>
        <p:nvSpPr>
          <p:cNvPr id="11" name="Freeform 11">
            <a:extLst>
              <a:ext uri="{FF2B5EF4-FFF2-40B4-BE49-F238E27FC236}">
                <a16:creationId xmlns:a16="http://schemas.microsoft.com/office/drawing/2014/main" id="{D33B64AA-E8C1-22F2-DC1D-DE2FB2523EF0}"/>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3CD115C2-974B-D80A-52DF-C2E9C8F2736D}"/>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7B73287E-B36C-B84C-6450-44DFC41FBB10}"/>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66" name="投影片編號版面配置區 65">
            <a:extLst>
              <a:ext uri="{FF2B5EF4-FFF2-40B4-BE49-F238E27FC236}">
                <a16:creationId xmlns:a16="http://schemas.microsoft.com/office/drawing/2014/main" id="{6F0FBFE9-F233-D134-D327-F825F8D05839}"/>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3" name="TextBox 39">
            <a:extLst>
              <a:ext uri="{FF2B5EF4-FFF2-40B4-BE49-F238E27FC236}">
                <a16:creationId xmlns:a16="http://schemas.microsoft.com/office/drawing/2014/main" id="{5A18AC1E-B533-604D-074A-DF22EC2B0287}"/>
              </a:ext>
            </a:extLst>
          </p:cNvPr>
          <p:cNvSpPr txBox="1"/>
          <p:nvPr/>
        </p:nvSpPr>
        <p:spPr>
          <a:xfrm>
            <a:off x="1373901" y="1943100"/>
            <a:ext cx="15540197" cy="6476966"/>
          </a:xfrm>
          <a:prstGeom prst="rect">
            <a:avLst/>
          </a:prstGeom>
        </p:spPr>
        <p:txBody>
          <a:bodyPr wrap="square" lIns="0" tIns="0" rIns="0" bIns="0" rtlCol="0" anchor="t">
            <a:spAutoFit/>
          </a:bodyPr>
          <a:lstStyle/>
          <a:p>
            <a:pPr marL="5040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延遲特徵</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Lag Features)</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保留過去</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分鐘的歷史觀測值，捕捉短期效能變化。</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5040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趨勢特徵</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Trend Features)</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以移動平均與移動指數等方式計算</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15</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30</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分鐘的變化趨勢，反映效能長期走向。</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5040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服務識別特徵</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Service Identifier</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Features</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以</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One-hot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編碼標示不同微服務來源。</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2" name="TextBox 53">
            <a:extLst>
              <a:ext uri="{FF2B5EF4-FFF2-40B4-BE49-F238E27FC236}">
                <a16:creationId xmlns:a16="http://schemas.microsoft.com/office/drawing/2014/main" id="{DD22C6B5-3D6F-F881-7E83-D3D8EB374010}"/>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延伸特徵</a:t>
            </a:r>
          </a:p>
        </p:txBody>
      </p:sp>
      <p:graphicFrame>
        <p:nvGraphicFramePr>
          <p:cNvPr id="4" name="資料庫圖表 3">
            <a:extLst>
              <a:ext uri="{FF2B5EF4-FFF2-40B4-BE49-F238E27FC236}">
                <a16:creationId xmlns:a16="http://schemas.microsoft.com/office/drawing/2014/main" id="{A0AD553A-8359-439B-A384-126D37B6497A}"/>
              </a:ext>
            </a:extLst>
          </p:cNvPr>
          <p:cNvGraphicFramePr/>
          <p:nvPr>
            <p:extLst>
              <p:ext uri="{D42A27DB-BD31-4B8C-83A1-F6EECF244321}">
                <p14:modId xmlns:p14="http://schemas.microsoft.com/office/powerpoint/2010/main" val="193329840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95609834"/>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D2DC-FBAD-6535-F6FC-99E71A277FFC}"/>
            </a:ext>
          </a:extLst>
        </p:cNvPr>
        <p:cNvGrpSpPr/>
        <p:nvPr/>
      </p:nvGrpSpPr>
      <p:grpSpPr>
        <a:xfrm>
          <a:off x="0" y="0"/>
          <a:ext cx="0" cy="0"/>
          <a:chOff x="0" y="0"/>
          <a:chExt cx="0" cy="0"/>
        </a:xfrm>
      </p:grpSpPr>
      <p:sp>
        <p:nvSpPr>
          <p:cNvPr id="28" name="Freeform 16">
            <a:extLst>
              <a:ext uri="{FF2B5EF4-FFF2-40B4-BE49-F238E27FC236}">
                <a16:creationId xmlns:a16="http://schemas.microsoft.com/office/drawing/2014/main" id="{0660EFA8-E9AF-F14F-F2E7-159498C14643}"/>
              </a:ext>
            </a:extLst>
          </p:cNvPr>
          <p:cNvSpPr/>
          <p:nvPr/>
        </p:nvSpPr>
        <p:spPr>
          <a:xfrm>
            <a:off x="3200400" y="1662934"/>
            <a:ext cx="11963400" cy="7724950"/>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1" name="Freeform 11">
            <a:extLst>
              <a:ext uri="{FF2B5EF4-FFF2-40B4-BE49-F238E27FC236}">
                <a16:creationId xmlns:a16="http://schemas.microsoft.com/office/drawing/2014/main" id="{CCE5C9F4-9D3A-CE2C-CAA6-BCE5DD7086B9}"/>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3CFD77CA-B2AF-6E37-FD38-C3A5285C39B2}"/>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0F6647D0-CF7F-D026-071A-2672AF17318D}"/>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66" name="投影片編號版面配置區 65">
            <a:extLst>
              <a:ext uri="{FF2B5EF4-FFF2-40B4-BE49-F238E27FC236}">
                <a16:creationId xmlns:a16="http://schemas.microsoft.com/office/drawing/2014/main" id="{6A41CD27-FCD4-E5C7-AF05-7403BDB24653}"/>
              </a:ext>
            </a:extLst>
          </p:cNvPr>
          <p:cNvSpPr>
            <a:spLocks noGrp="1"/>
          </p:cNvSpPr>
          <p:nvPr>
            <p:ph type="sldNum" sz="quarter" idx="12"/>
          </p:nvPr>
        </p:nvSpPr>
        <p:spPr/>
        <p:txBody>
          <a:bodyPr/>
          <a:lstStyle/>
          <a:p>
            <a:fld id="{B6F15528-21DE-4FAA-801E-634DDDAF4B2B}" type="slidenum">
              <a:rPr lang="en-US" smtClean="0"/>
              <a:pPr/>
              <a:t>22</a:t>
            </a:fld>
            <a:endParaRPr lang="en-US"/>
          </a:p>
        </p:txBody>
      </p:sp>
      <p:pic>
        <p:nvPicPr>
          <p:cNvPr id="30" name="圖片 29">
            <a:extLst>
              <a:ext uri="{FF2B5EF4-FFF2-40B4-BE49-F238E27FC236}">
                <a16:creationId xmlns:a16="http://schemas.microsoft.com/office/drawing/2014/main" id="{7DE5EC25-2A69-5FB0-6795-BED90404ACD9}"/>
              </a:ext>
            </a:extLst>
          </p:cNvPr>
          <p:cNvPicPr>
            <a:picLocks noChangeAspect="1"/>
          </p:cNvPicPr>
          <p:nvPr/>
        </p:nvPicPr>
        <p:blipFill>
          <a:blip r:embed="rId5"/>
          <a:stretch>
            <a:fillRect/>
          </a:stretch>
        </p:blipFill>
        <p:spPr>
          <a:xfrm>
            <a:off x="5348410" y="1707961"/>
            <a:ext cx="7591177" cy="5010451"/>
          </a:xfrm>
          <a:prstGeom prst="rect">
            <a:avLst/>
          </a:prstGeom>
        </p:spPr>
      </p:pic>
      <p:sp>
        <p:nvSpPr>
          <p:cNvPr id="2" name="TextBox 53">
            <a:extLst>
              <a:ext uri="{FF2B5EF4-FFF2-40B4-BE49-F238E27FC236}">
                <a16:creationId xmlns:a16="http://schemas.microsoft.com/office/drawing/2014/main" id="{9920F553-5398-0E15-9365-362D0338536B}"/>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完整特徵</a:t>
            </a:r>
          </a:p>
        </p:txBody>
      </p:sp>
      <p:sp>
        <p:nvSpPr>
          <p:cNvPr id="4" name="TextBox 39">
            <a:extLst>
              <a:ext uri="{FF2B5EF4-FFF2-40B4-BE49-F238E27FC236}">
                <a16:creationId xmlns:a16="http://schemas.microsoft.com/office/drawing/2014/main" id="{CA45BBD5-35DF-5002-1F59-DA70CF696114}"/>
              </a:ext>
            </a:extLst>
          </p:cNvPr>
          <p:cNvSpPr txBox="1"/>
          <p:nvPr/>
        </p:nvSpPr>
        <p:spPr>
          <a:xfrm>
            <a:off x="3369275" y="6934529"/>
            <a:ext cx="11625649" cy="800219"/>
          </a:xfrm>
          <a:prstGeom prst="rect">
            <a:avLst/>
          </a:prstGeom>
        </p:spPr>
        <p:txBody>
          <a:bodyPr wrap="square" lIns="0" tIns="0" rIns="0" bIns="0" rtlCol="0" anchor="t">
            <a:spAutoFit/>
          </a:bodyPr>
          <a:lstStyle/>
          <a:p>
            <a:pPr algn="just"/>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本研究整合四大特徵類別：基礎、延遲、趨勢與服務識別，形成完整特徵架構。</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整體共設計</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81</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維與</a:t>
            </a:r>
            <a:r>
              <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308</a:t>
            </a: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維兩種版本，分別對應濃縮特徵結構與展開特徵結構。</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6" name="資料庫圖表 5">
            <a:extLst>
              <a:ext uri="{FF2B5EF4-FFF2-40B4-BE49-F238E27FC236}">
                <a16:creationId xmlns:a16="http://schemas.microsoft.com/office/drawing/2014/main" id="{0660A2B5-466F-53E1-3BCD-691CBAED4650}"/>
              </a:ext>
            </a:extLst>
          </p:cNvPr>
          <p:cNvGraphicFramePr/>
          <p:nvPr>
            <p:extLst>
              <p:ext uri="{D42A27DB-BD31-4B8C-83A1-F6EECF244321}">
                <p14:modId xmlns:p14="http://schemas.microsoft.com/office/powerpoint/2010/main" val="1933298403"/>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59592756"/>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1FD4E-6A00-FC64-3AC5-CF18B6FC136A}"/>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78E5CAA0-BD30-1A2D-7DF5-BDD3B2FB04FC}"/>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3ABBEF38-77A6-4C3E-B9C5-3EC72BF840EA}"/>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TextBox 27">
            <a:extLst>
              <a:ext uri="{FF2B5EF4-FFF2-40B4-BE49-F238E27FC236}">
                <a16:creationId xmlns:a16="http://schemas.microsoft.com/office/drawing/2014/main" id="{B4E7DD51-1AA7-FBC4-2F0F-5EA7E66E9B0F}"/>
              </a:ext>
            </a:extLst>
          </p:cNvPr>
          <p:cNvSpPr txBox="1"/>
          <p:nvPr/>
        </p:nvSpPr>
        <p:spPr>
          <a:xfrm>
            <a:off x="4533102" y="671791"/>
            <a:ext cx="837482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模型訓練與訓練結果分析比較</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39" name="投影片編號版面配置區 38">
            <a:extLst>
              <a:ext uri="{FF2B5EF4-FFF2-40B4-BE49-F238E27FC236}">
                <a16:creationId xmlns:a16="http://schemas.microsoft.com/office/drawing/2014/main" id="{9A35945D-80AD-0531-99E1-B336906A4D30}"/>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31" name="Freeform 19">
            <a:extLst>
              <a:ext uri="{FF2B5EF4-FFF2-40B4-BE49-F238E27FC236}">
                <a16:creationId xmlns:a16="http://schemas.microsoft.com/office/drawing/2014/main" id="{A74F58C2-36E8-D7C2-12E1-18B456AB59FB}"/>
              </a:ext>
            </a:extLst>
          </p:cNvPr>
          <p:cNvSpPr/>
          <p:nvPr/>
        </p:nvSpPr>
        <p:spPr>
          <a:xfrm>
            <a:off x="6372438" y="1661712"/>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33" name="文字方塊 32">
            <a:extLst>
              <a:ext uri="{FF2B5EF4-FFF2-40B4-BE49-F238E27FC236}">
                <a16:creationId xmlns:a16="http://schemas.microsoft.com/office/drawing/2014/main" id="{1C30C9EE-6181-E621-DAA8-B7EEC7BD4217}"/>
              </a:ext>
            </a:extLst>
          </p:cNvPr>
          <p:cNvSpPr txBox="1"/>
          <p:nvPr/>
        </p:nvSpPr>
        <p:spPr>
          <a:xfrm>
            <a:off x="6303741" y="1650198"/>
            <a:ext cx="4800600" cy="492443"/>
          </a:xfrm>
          <a:prstGeom prst="rect">
            <a:avLst/>
          </a:prstGeom>
          <a:noFill/>
        </p:spPr>
        <p:txBody>
          <a:bodyPr wrap="square">
            <a:spAutoFit/>
          </a:bodyPr>
          <a:lstStyle/>
          <a:p>
            <a:pPr algn="ctr"/>
            <a:r>
              <a:rPr lang="zh-TW" altLang="en-US" sz="26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機器學習方法介紹</a:t>
            </a:r>
          </a:p>
        </p:txBody>
      </p:sp>
      <p:sp>
        <p:nvSpPr>
          <p:cNvPr id="3" name="箭號: 向下 2">
            <a:extLst>
              <a:ext uri="{FF2B5EF4-FFF2-40B4-BE49-F238E27FC236}">
                <a16:creationId xmlns:a16="http://schemas.microsoft.com/office/drawing/2014/main" id="{E1E09333-236B-3D74-4CCF-80A15802FA3D}"/>
              </a:ext>
            </a:extLst>
          </p:cNvPr>
          <p:cNvSpPr/>
          <p:nvPr/>
        </p:nvSpPr>
        <p:spPr>
          <a:xfrm>
            <a:off x="8553062" y="2252367"/>
            <a:ext cx="334907" cy="545214"/>
          </a:xfrm>
          <a:prstGeom prst="downArrow">
            <a:avLst>
              <a:gd name="adj1" fmla="val 50000"/>
              <a:gd name="adj2" fmla="val 7591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6" name="Freeform 19">
            <a:extLst>
              <a:ext uri="{FF2B5EF4-FFF2-40B4-BE49-F238E27FC236}">
                <a16:creationId xmlns:a16="http://schemas.microsoft.com/office/drawing/2014/main" id="{EB42B793-F5DB-E9B8-0A65-67DC209BB8DF}"/>
              </a:ext>
            </a:extLst>
          </p:cNvPr>
          <p:cNvSpPr/>
          <p:nvPr/>
        </p:nvSpPr>
        <p:spPr>
          <a:xfrm>
            <a:off x="6372438" y="2840895"/>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7" name="文字方塊 6">
            <a:extLst>
              <a:ext uri="{FF2B5EF4-FFF2-40B4-BE49-F238E27FC236}">
                <a16:creationId xmlns:a16="http://schemas.microsoft.com/office/drawing/2014/main" id="{870E3187-3DAB-F1C1-B370-9495967404B2}"/>
              </a:ext>
            </a:extLst>
          </p:cNvPr>
          <p:cNvSpPr txBox="1"/>
          <p:nvPr/>
        </p:nvSpPr>
        <p:spPr>
          <a:xfrm>
            <a:off x="6303741" y="2829381"/>
            <a:ext cx="4800600" cy="492443"/>
          </a:xfrm>
          <a:prstGeom prst="rect">
            <a:avLst/>
          </a:prstGeom>
          <a:noFill/>
        </p:spPr>
        <p:txBody>
          <a:bodyPr wrap="square">
            <a:spAutoFit/>
          </a:bodyPr>
          <a:lstStyle/>
          <a:p>
            <a:pPr algn="ctr"/>
            <a:r>
              <a:rPr lang="zh-TW" altLang="en-US" sz="26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模型訓練條件</a:t>
            </a:r>
          </a:p>
        </p:txBody>
      </p:sp>
      <p:sp>
        <p:nvSpPr>
          <p:cNvPr id="8" name="箭號: 向下 7">
            <a:extLst>
              <a:ext uri="{FF2B5EF4-FFF2-40B4-BE49-F238E27FC236}">
                <a16:creationId xmlns:a16="http://schemas.microsoft.com/office/drawing/2014/main" id="{95D987FC-3B98-63B6-55C0-2DE29C82A066}"/>
              </a:ext>
            </a:extLst>
          </p:cNvPr>
          <p:cNvSpPr/>
          <p:nvPr/>
        </p:nvSpPr>
        <p:spPr>
          <a:xfrm>
            <a:off x="8553062" y="3431550"/>
            <a:ext cx="334907" cy="545214"/>
          </a:xfrm>
          <a:prstGeom prst="downArrow">
            <a:avLst>
              <a:gd name="adj1" fmla="val 50000"/>
              <a:gd name="adj2" fmla="val 7591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9" name="Freeform 19">
            <a:extLst>
              <a:ext uri="{FF2B5EF4-FFF2-40B4-BE49-F238E27FC236}">
                <a16:creationId xmlns:a16="http://schemas.microsoft.com/office/drawing/2014/main" id="{931EEF6A-3699-FCDC-971E-034270BCE2ED}"/>
              </a:ext>
            </a:extLst>
          </p:cNvPr>
          <p:cNvSpPr/>
          <p:nvPr/>
        </p:nvSpPr>
        <p:spPr>
          <a:xfrm>
            <a:off x="6372438" y="4020078"/>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10" name="文字方塊 9">
            <a:extLst>
              <a:ext uri="{FF2B5EF4-FFF2-40B4-BE49-F238E27FC236}">
                <a16:creationId xmlns:a16="http://schemas.microsoft.com/office/drawing/2014/main" id="{4972C062-E3A7-C9B2-5F53-06F872CB1B16}"/>
              </a:ext>
            </a:extLst>
          </p:cNvPr>
          <p:cNvSpPr txBox="1"/>
          <p:nvPr/>
        </p:nvSpPr>
        <p:spPr>
          <a:xfrm>
            <a:off x="6303741" y="4008564"/>
            <a:ext cx="4800600" cy="523220"/>
          </a:xfrm>
          <a:prstGeom prst="rect">
            <a:avLst/>
          </a:prstGeom>
          <a:noFill/>
        </p:spPr>
        <p:txBody>
          <a:bodyPr wrap="square">
            <a:spAutoFit/>
          </a:bodyPr>
          <a:lstStyle/>
          <a:p>
            <a:pPr algn="ctr"/>
            <a:r>
              <a:rPr lang="en-US" altLang="zh-TW" sz="2800" b="1" dirty="0" err="1">
                <a:latin typeface="微軟正黑體" panose="020B0604030504040204" pitchFamily="34" charset="-120"/>
                <a:ea typeface="微軟正黑體" panose="020B0604030504040204" pitchFamily="34" charset="-120"/>
                <a:cs typeface="Times New Roman" panose="02020603050405020304" pitchFamily="18" charset="0"/>
                <a:sym typeface="Blink Twice"/>
              </a:rPr>
              <a:t>Optuna</a:t>
            </a: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超參數搜尋框架</a:t>
            </a:r>
          </a:p>
        </p:txBody>
      </p:sp>
      <p:sp>
        <p:nvSpPr>
          <p:cNvPr id="13" name="箭號: 向下 12">
            <a:extLst>
              <a:ext uri="{FF2B5EF4-FFF2-40B4-BE49-F238E27FC236}">
                <a16:creationId xmlns:a16="http://schemas.microsoft.com/office/drawing/2014/main" id="{6B1B5931-C552-EED9-8F00-9E05CDF06457}"/>
              </a:ext>
            </a:extLst>
          </p:cNvPr>
          <p:cNvSpPr/>
          <p:nvPr/>
        </p:nvSpPr>
        <p:spPr>
          <a:xfrm>
            <a:off x="8553062" y="4604802"/>
            <a:ext cx="334907" cy="545214"/>
          </a:xfrm>
          <a:prstGeom prst="downArrow">
            <a:avLst>
              <a:gd name="adj1" fmla="val 50000"/>
              <a:gd name="adj2" fmla="val 7591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4" name="Freeform 19">
            <a:extLst>
              <a:ext uri="{FF2B5EF4-FFF2-40B4-BE49-F238E27FC236}">
                <a16:creationId xmlns:a16="http://schemas.microsoft.com/office/drawing/2014/main" id="{EAA26A66-47D9-9EC5-1548-E7588F9B5826}"/>
              </a:ext>
            </a:extLst>
          </p:cNvPr>
          <p:cNvSpPr/>
          <p:nvPr/>
        </p:nvSpPr>
        <p:spPr>
          <a:xfrm>
            <a:off x="6372438" y="5193330"/>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15" name="文字方塊 14">
            <a:extLst>
              <a:ext uri="{FF2B5EF4-FFF2-40B4-BE49-F238E27FC236}">
                <a16:creationId xmlns:a16="http://schemas.microsoft.com/office/drawing/2014/main" id="{220B6C5B-420D-BCBB-CACD-CC575652C60C}"/>
              </a:ext>
            </a:extLst>
          </p:cNvPr>
          <p:cNvSpPr txBox="1"/>
          <p:nvPr/>
        </p:nvSpPr>
        <p:spPr>
          <a:xfrm>
            <a:off x="6303741" y="5181816"/>
            <a:ext cx="4800600" cy="523220"/>
          </a:xfrm>
          <a:prstGeom prst="rect">
            <a:avLst/>
          </a:prstGeom>
          <a:noFill/>
        </p:spPr>
        <p:txBody>
          <a:bodyPr wrap="square">
            <a:spAutoFit/>
          </a:bodyPr>
          <a:lstStyle/>
          <a:p>
            <a:pPr algn="ctr"/>
            <a:r>
              <a:rPr lang="en-US" altLang="zh-TW"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Grid Search</a:t>
            </a: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方法</a:t>
            </a:r>
          </a:p>
        </p:txBody>
      </p:sp>
      <p:sp>
        <p:nvSpPr>
          <p:cNvPr id="16" name="箭號: 向下 15">
            <a:extLst>
              <a:ext uri="{FF2B5EF4-FFF2-40B4-BE49-F238E27FC236}">
                <a16:creationId xmlns:a16="http://schemas.microsoft.com/office/drawing/2014/main" id="{6BAAFEEE-CD23-7334-3D1E-51B807E24894}"/>
              </a:ext>
            </a:extLst>
          </p:cNvPr>
          <p:cNvSpPr/>
          <p:nvPr/>
        </p:nvSpPr>
        <p:spPr>
          <a:xfrm>
            <a:off x="8553062" y="5778054"/>
            <a:ext cx="334907" cy="545214"/>
          </a:xfrm>
          <a:prstGeom prst="downArrow">
            <a:avLst>
              <a:gd name="adj1" fmla="val 50000"/>
              <a:gd name="adj2" fmla="val 7591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7" name="Freeform 19">
            <a:extLst>
              <a:ext uri="{FF2B5EF4-FFF2-40B4-BE49-F238E27FC236}">
                <a16:creationId xmlns:a16="http://schemas.microsoft.com/office/drawing/2014/main" id="{E6E9C57E-7D54-F258-0F24-5F134C137E85}"/>
              </a:ext>
            </a:extLst>
          </p:cNvPr>
          <p:cNvSpPr/>
          <p:nvPr/>
        </p:nvSpPr>
        <p:spPr>
          <a:xfrm>
            <a:off x="6372438" y="6366582"/>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18" name="文字方塊 17">
            <a:extLst>
              <a:ext uri="{FF2B5EF4-FFF2-40B4-BE49-F238E27FC236}">
                <a16:creationId xmlns:a16="http://schemas.microsoft.com/office/drawing/2014/main" id="{6456AFD1-567F-19A5-94E3-0036DFEDA0BF}"/>
              </a:ext>
            </a:extLst>
          </p:cNvPr>
          <p:cNvSpPr txBox="1"/>
          <p:nvPr/>
        </p:nvSpPr>
        <p:spPr>
          <a:xfrm>
            <a:off x="6303741" y="6355068"/>
            <a:ext cx="4800600" cy="523220"/>
          </a:xfrm>
          <a:prstGeom prst="rect">
            <a:avLst/>
          </a:prstGeom>
          <a:noFill/>
        </p:spPr>
        <p:txBody>
          <a:bodyPr wrap="square">
            <a:spAutoFit/>
          </a:bodyPr>
          <a:lstStyle/>
          <a:p>
            <a:pPr algn="ct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模型效能評估指標</a:t>
            </a:r>
          </a:p>
        </p:txBody>
      </p:sp>
      <p:sp>
        <p:nvSpPr>
          <p:cNvPr id="23" name="箭號: 向下 22">
            <a:extLst>
              <a:ext uri="{FF2B5EF4-FFF2-40B4-BE49-F238E27FC236}">
                <a16:creationId xmlns:a16="http://schemas.microsoft.com/office/drawing/2014/main" id="{F5676805-CB6D-0D0F-F8FB-46A06A4F89FC}"/>
              </a:ext>
            </a:extLst>
          </p:cNvPr>
          <p:cNvSpPr/>
          <p:nvPr/>
        </p:nvSpPr>
        <p:spPr>
          <a:xfrm>
            <a:off x="8553062" y="6951306"/>
            <a:ext cx="334907" cy="545214"/>
          </a:xfrm>
          <a:prstGeom prst="downArrow">
            <a:avLst>
              <a:gd name="adj1" fmla="val 50000"/>
              <a:gd name="adj2" fmla="val 7591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6" name="Freeform 19">
            <a:extLst>
              <a:ext uri="{FF2B5EF4-FFF2-40B4-BE49-F238E27FC236}">
                <a16:creationId xmlns:a16="http://schemas.microsoft.com/office/drawing/2014/main" id="{7F984525-E684-ECD2-165D-CF9E0982C8B7}"/>
              </a:ext>
            </a:extLst>
          </p:cNvPr>
          <p:cNvSpPr/>
          <p:nvPr/>
        </p:nvSpPr>
        <p:spPr>
          <a:xfrm>
            <a:off x="6372438" y="7539834"/>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9" name="文字方塊 28">
            <a:extLst>
              <a:ext uri="{FF2B5EF4-FFF2-40B4-BE49-F238E27FC236}">
                <a16:creationId xmlns:a16="http://schemas.microsoft.com/office/drawing/2014/main" id="{66353891-BC61-9B75-38D3-D6C9852E4BB8}"/>
              </a:ext>
            </a:extLst>
          </p:cNvPr>
          <p:cNvSpPr txBox="1"/>
          <p:nvPr/>
        </p:nvSpPr>
        <p:spPr>
          <a:xfrm>
            <a:off x="6303741" y="7528320"/>
            <a:ext cx="4800600" cy="523220"/>
          </a:xfrm>
          <a:prstGeom prst="rect">
            <a:avLst/>
          </a:prstGeom>
          <a:noFill/>
        </p:spPr>
        <p:txBody>
          <a:bodyPr wrap="square">
            <a:spAutoFit/>
          </a:bodyPr>
          <a:lstStyle/>
          <a:p>
            <a:pPr algn="ctr"/>
            <a:r>
              <a:rPr lang="en-US" altLang="zh-TW"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TPE</a:t>
            </a: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搜尋演算法</a:t>
            </a:r>
          </a:p>
        </p:txBody>
      </p:sp>
      <p:sp>
        <p:nvSpPr>
          <p:cNvPr id="30" name="箭號: 向下 29">
            <a:extLst>
              <a:ext uri="{FF2B5EF4-FFF2-40B4-BE49-F238E27FC236}">
                <a16:creationId xmlns:a16="http://schemas.microsoft.com/office/drawing/2014/main" id="{F88D4D6F-469D-0D42-6389-36883A9C18B8}"/>
              </a:ext>
            </a:extLst>
          </p:cNvPr>
          <p:cNvSpPr/>
          <p:nvPr/>
        </p:nvSpPr>
        <p:spPr>
          <a:xfrm>
            <a:off x="8553062" y="8124558"/>
            <a:ext cx="334907" cy="545214"/>
          </a:xfrm>
          <a:prstGeom prst="downArrow">
            <a:avLst>
              <a:gd name="adj1" fmla="val 50000"/>
              <a:gd name="adj2" fmla="val 7591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32" name="Freeform 19">
            <a:extLst>
              <a:ext uri="{FF2B5EF4-FFF2-40B4-BE49-F238E27FC236}">
                <a16:creationId xmlns:a16="http://schemas.microsoft.com/office/drawing/2014/main" id="{6004C0E0-C516-5229-C43B-BEB2ED88C686}"/>
              </a:ext>
            </a:extLst>
          </p:cNvPr>
          <p:cNvSpPr/>
          <p:nvPr/>
        </p:nvSpPr>
        <p:spPr>
          <a:xfrm>
            <a:off x="6372438" y="8713086"/>
            <a:ext cx="4572000" cy="545214"/>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34" name="文字方塊 33">
            <a:extLst>
              <a:ext uri="{FF2B5EF4-FFF2-40B4-BE49-F238E27FC236}">
                <a16:creationId xmlns:a16="http://schemas.microsoft.com/office/drawing/2014/main" id="{5C7B0588-17E6-AD1F-AB9B-CFB0ADABB01D}"/>
              </a:ext>
            </a:extLst>
          </p:cNvPr>
          <p:cNvSpPr txBox="1"/>
          <p:nvPr/>
        </p:nvSpPr>
        <p:spPr>
          <a:xfrm>
            <a:off x="6303741" y="8701572"/>
            <a:ext cx="4800600" cy="523220"/>
          </a:xfrm>
          <a:prstGeom prst="rect">
            <a:avLst/>
          </a:prstGeom>
          <a:noFill/>
        </p:spPr>
        <p:txBody>
          <a:bodyPr wrap="square">
            <a:spAutoFit/>
          </a:bodyPr>
          <a:lstStyle/>
          <a:p>
            <a:pPr algn="ct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模型結果分析</a:t>
            </a:r>
          </a:p>
        </p:txBody>
      </p:sp>
    </p:spTree>
    <p:extLst>
      <p:ext uri="{BB962C8B-B14F-4D97-AF65-F5344CB8AC3E}">
        <p14:creationId xmlns:p14="http://schemas.microsoft.com/office/powerpoint/2010/main" val="127749234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6">
            <a:extLst>
              <a:ext uri="{FF2B5EF4-FFF2-40B4-BE49-F238E27FC236}">
                <a16:creationId xmlns:a16="http://schemas.microsoft.com/office/drawing/2014/main" id="{A51ADF55-D48B-DE3E-9860-A32B2E1DEF6B}"/>
              </a:ext>
            </a:extLst>
          </p:cNvPr>
          <p:cNvSpPr/>
          <p:nvPr/>
        </p:nvSpPr>
        <p:spPr>
          <a:xfrm>
            <a:off x="1358776" y="1662934"/>
            <a:ext cx="15650376" cy="7724950"/>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3" name="Group 13"/>
          <p:cNvGrpSpPr/>
          <p:nvPr/>
        </p:nvGrpSpPr>
        <p:grpSpPr>
          <a:xfrm>
            <a:off x="1556273" y="4400938"/>
            <a:ext cx="4697989" cy="4201612"/>
            <a:chOff x="0" y="0"/>
            <a:chExt cx="2138397" cy="2422909"/>
          </a:xfrm>
        </p:grpSpPr>
        <p:sp>
          <p:nvSpPr>
            <p:cNvPr id="14" name="Freeform 14"/>
            <p:cNvSpPr/>
            <p:nvPr/>
          </p:nvSpPr>
          <p:spPr>
            <a:xfrm>
              <a:off x="48260" y="48260"/>
              <a:ext cx="2090137" cy="2374649"/>
            </a:xfrm>
            <a:custGeom>
              <a:avLst/>
              <a:gdLst/>
              <a:ahLst/>
              <a:cxnLst/>
              <a:rect l="l" t="t" r="r" b="b"/>
              <a:pathLst>
                <a:path w="2090137" h="2374649">
                  <a:moveTo>
                    <a:pt x="0" y="0"/>
                  </a:moveTo>
                  <a:lnTo>
                    <a:pt x="2090137" y="0"/>
                  </a:lnTo>
                  <a:lnTo>
                    <a:pt x="2090137" y="2374649"/>
                  </a:lnTo>
                  <a:lnTo>
                    <a:pt x="0" y="2374649"/>
                  </a:lnTo>
                  <a:close/>
                </a:path>
              </a:pathLst>
            </a:custGeom>
            <a:solidFill>
              <a:srgbClr val="244DB6"/>
            </a:solidFill>
          </p:spPr>
          <p:txBody>
            <a:bodyPr/>
            <a:lstStyle/>
            <a:p>
              <a:endParaRPr lang="zh-TW" altLang="en-US"/>
            </a:p>
          </p:txBody>
        </p:sp>
        <p:sp>
          <p:nvSpPr>
            <p:cNvPr id="15" name="Freeform 15"/>
            <p:cNvSpPr/>
            <p:nvPr/>
          </p:nvSpPr>
          <p:spPr>
            <a:xfrm>
              <a:off x="6350" y="6350"/>
              <a:ext cx="2090137" cy="2374649"/>
            </a:xfrm>
            <a:custGeom>
              <a:avLst/>
              <a:gdLst/>
              <a:ahLst/>
              <a:cxnLst/>
              <a:rect l="l" t="t" r="r" b="b"/>
              <a:pathLst>
                <a:path w="2090137" h="2374649">
                  <a:moveTo>
                    <a:pt x="0" y="0"/>
                  </a:moveTo>
                  <a:lnTo>
                    <a:pt x="2090137" y="0"/>
                  </a:lnTo>
                  <a:lnTo>
                    <a:pt x="2090137" y="2374649"/>
                  </a:lnTo>
                  <a:lnTo>
                    <a:pt x="0" y="2374649"/>
                  </a:lnTo>
                  <a:close/>
                </a:path>
              </a:pathLst>
            </a:custGeom>
            <a:solidFill>
              <a:srgbClr val="FFFCF4"/>
            </a:solidFill>
          </p:spPr>
          <p:txBody>
            <a:bodyPr/>
            <a:lstStyle/>
            <a:p>
              <a:endParaRPr lang="zh-TW" altLang="en-US"/>
            </a:p>
          </p:txBody>
        </p:sp>
        <p:sp>
          <p:nvSpPr>
            <p:cNvPr id="16" name="Freeform 16"/>
            <p:cNvSpPr/>
            <p:nvPr/>
          </p:nvSpPr>
          <p:spPr>
            <a:xfrm>
              <a:off x="0" y="0"/>
              <a:ext cx="2102837" cy="2387349"/>
            </a:xfrm>
            <a:custGeom>
              <a:avLst/>
              <a:gdLst/>
              <a:ahLst/>
              <a:cxnLst/>
              <a:rect l="l" t="t" r="r" b="b"/>
              <a:pathLst>
                <a:path w="2102837" h="2387349">
                  <a:moveTo>
                    <a:pt x="2102837" y="2387349"/>
                  </a:moveTo>
                  <a:lnTo>
                    <a:pt x="0" y="2387349"/>
                  </a:lnTo>
                  <a:lnTo>
                    <a:pt x="0" y="0"/>
                  </a:lnTo>
                  <a:lnTo>
                    <a:pt x="2102837" y="0"/>
                  </a:lnTo>
                  <a:lnTo>
                    <a:pt x="2102837" y="2387349"/>
                  </a:lnTo>
                  <a:close/>
                  <a:moveTo>
                    <a:pt x="12700" y="2374649"/>
                  </a:moveTo>
                  <a:lnTo>
                    <a:pt x="2090137" y="2374649"/>
                  </a:lnTo>
                  <a:lnTo>
                    <a:pt x="2090137" y="12700"/>
                  </a:lnTo>
                  <a:lnTo>
                    <a:pt x="12700" y="12700"/>
                  </a:lnTo>
                  <a:lnTo>
                    <a:pt x="12700" y="2374649"/>
                  </a:lnTo>
                  <a:close/>
                </a:path>
              </a:pathLst>
            </a:custGeom>
            <a:solidFill>
              <a:srgbClr val="244DB6"/>
            </a:solidFill>
          </p:spPr>
          <p:txBody>
            <a:bodyPr/>
            <a:lstStyle/>
            <a:p>
              <a:endParaRPr lang="zh-TW" altLang="en-US"/>
            </a:p>
          </p:txBody>
        </p:sp>
      </p:grpSp>
      <p:grpSp>
        <p:nvGrpSpPr>
          <p:cNvPr id="17" name="Group 17"/>
          <p:cNvGrpSpPr/>
          <p:nvPr/>
        </p:nvGrpSpPr>
        <p:grpSpPr>
          <a:xfrm>
            <a:off x="2057400" y="3600911"/>
            <a:ext cx="3583627" cy="883716"/>
            <a:chOff x="0" y="0"/>
            <a:chExt cx="2005384" cy="516086"/>
          </a:xfrm>
        </p:grpSpPr>
        <p:sp>
          <p:nvSpPr>
            <p:cNvPr id="18" name="Freeform 18"/>
            <p:cNvSpPr/>
            <p:nvPr/>
          </p:nvSpPr>
          <p:spPr>
            <a:xfrm>
              <a:off x="48260" y="48260"/>
              <a:ext cx="1957124" cy="467826"/>
            </a:xfrm>
            <a:custGeom>
              <a:avLst/>
              <a:gdLst/>
              <a:ahLst/>
              <a:cxnLst/>
              <a:rect l="l" t="t" r="r" b="b"/>
              <a:pathLst>
                <a:path w="1957124" h="467826">
                  <a:moveTo>
                    <a:pt x="0" y="0"/>
                  </a:moveTo>
                  <a:lnTo>
                    <a:pt x="1957124" y="0"/>
                  </a:lnTo>
                  <a:lnTo>
                    <a:pt x="1957124" y="467826"/>
                  </a:lnTo>
                  <a:lnTo>
                    <a:pt x="0" y="467826"/>
                  </a:lnTo>
                  <a:close/>
                </a:path>
              </a:pathLst>
            </a:custGeom>
            <a:solidFill>
              <a:srgbClr val="244DB6"/>
            </a:solidFill>
          </p:spPr>
          <p:txBody>
            <a:bodyPr/>
            <a:lstStyle/>
            <a:p>
              <a:endParaRPr lang="zh-TW" altLang="en-US"/>
            </a:p>
          </p:txBody>
        </p:sp>
        <p:sp>
          <p:nvSpPr>
            <p:cNvPr id="19" name="Freeform 19"/>
            <p:cNvSpPr/>
            <p:nvPr/>
          </p:nvSpPr>
          <p:spPr>
            <a:xfrm>
              <a:off x="6350" y="6350"/>
              <a:ext cx="1957124" cy="467826"/>
            </a:xfrm>
            <a:custGeom>
              <a:avLst/>
              <a:gdLst/>
              <a:ahLst/>
              <a:cxnLst/>
              <a:rect l="l" t="t" r="r" b="b"/>
              <a:pathLst>
                <a:path w="1957124" h="467826">
                  <a:moveTo>
                    <a:pt x="0" y="0"/>
                  </a:moveTo>
                  <a:lnTo>
                    <a:pt x="1957124" y="0"/>
                  </a:lnTo>
                  <a:lnTo>
                    <a:pt x="1957124" y="467826"/>
                  </a:lnTo>
                  <a:lnTo>
                    <a:pt x="0" y="467826"/>
                  </a:lnTo>
                  <a:close/>
                </a:path>
              </a:pathLst>
            </a:custGeom>
            <a:solidFill>
              <a:srgbClr val="FFFCF4"/>
            </a:solidFill>
          </p:spPr>
          <p:txBody>
            <a:bodyPr/>
            <a:lstStyle/>
            <a:p>
              <a:endParaRPr lang="zh-TW" altLang="en-US"/>
            </a:p>
          </p:txBody>
        </p:sp>
        <p:sp>
          <p:nvSpPr>
            <p:cNvPr id="20" name="Freeform 20"/>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solidFill>
              <a:srgbClr val="244DB6"/>
            </a:solidFill>
          </p:spPr>
          <p:txBody>
            <a:bodyPr/>
            <a:lstStyle/>
            <a:p>
              <a:endParaRPr lang="zh-TW" altLang="en-US"/>
            </a:p>
          </p:txBody>
        </p:sp>
      </p:grpSp>
      <p:grpSp>
        <p:nvGrpSpPr>
          <p:cNvPr id="21" name="Group 21"/>
          <p:cNvGrpSpPr/>
          <p:nvPr/>
        </p:nvGrpSpPr>
        <p:grpSpPr>
          <a:xfrm>
            <a:off x="6749044" y="4411950"/>
            <a:ext cx="4882663" cy="4190599"/>
            <a:chOff x="0" y="0"/>
            <a:chExt cx="2138397" cy="2422909"/>
          </a:xfrm>
        </p:grpSpPr>
        <p:sp>
          <p:nvSpPr>
            <p:cNvPr id="22" name="Freeform 22"/>
            <p:cNvSpPr/>
            <p:nvPr/>
          </p:nvSpPr>
          <p:spPr>
            <a:xfrm>
              <a:off x="48260" y="48260"/>
              <a:ext cx="2090137" cy="2374649"/>
            </a:xfrm>
            <a:custGeom>
              <a:avLst/>
              <a:gdLst/>
              <a:ahLst/>
              <a:cxnLst/>
              <a:rect l="l" t="t" r="r" b="b"/>
              <a:pathLst>
                <a:path w="2090137" h="2374649">
                  <a:moveTo>
                    <a:pt x="0" y="0"/>
                  </a:moveTo>
                  <a:lnTo>
                    <a:pt x="2090137" y="0"/>
                  </a:lnTo>
                  <a:lnTo>
                    <a:pt x="2090137" y="2374649"/>
                  </a:lnTo>
                  <a:lnTo>
                    <a:pt x="0" y="2374649"/>
                  </a:lnTo>
                  <a:close/>
                </a:path>
              </a:pathLst>
            </a:custGeom>
            <a:solidFill>
              <a:srgbClr val="244DB6"/>
            </a:solidFill>
          </p:spPr>
          <p:txBody>
            <a:bodyPr/>
            <a:lstStyle/>
            <a:p>
              <a:endParaRPr lang="zh-TW" altLang="en-US"/>
            </a:p>
          </p:txBody>
        </p:sp>
        <p:sp>
          <p:nvSpPr>
            <p:cNvPr id="23" name="Freeform 23"/>
            <p:cNvSpPr/>
            <p:nvPr/>
          </p:nvSpPr>
          <p:spPr>
            <a:xfrm>
              <a:off x="6350" y="6350"/>
              <a:ext cx="2090137" cy="2374649"/>
            </a:xfrm>
            <a:custGeom>
              <a:avLst/>
              <a:gdLst/>
              <a:ahLst/>
              <a:cxnLst/>
              <a:rect l="l" t="t" r="r" b="b"/>
              <a:pathLst>
                <a:path w="2090137" h="2374649">
                  <a:moveTo>
                    <a:pt x="0" y="0"/>
                  </a:moveTo>
                  <a:lnTo>
                    <a:pt x="2090137" y="0"/>
                  </a:lnTo>
                  <a:lnTo>
                    <a:pt x="2090137" y="2374649"/>
                  </a:lnTo>
                  <a:lnTo>
                    <a:pt x="0" y="2374649"/>
                  </a:lnTo>
                  <a:close/>
                </a:path>
              </a:pathLst>
            </a:custGeom>
            <a:solidFill>
              <a:srgbClr val="FFFCF4"/>
            </a:solidFill>
          </p:spPr>
          <p:txBody>
            <a:bodyPr/>
            <a:lstStyle/>
            <a:p>
              <a:endParaRPr lang="zh-TW" altLang="en-US"/>
            </a:p>
          </p:txBody>
        </p:sp>
        <p:sp>
          <p:nvSpPr>
            <p:cNvPr id="24" name="Freeform 24"/>
            <p:cNvSpPr/>
            <p:nvPr/>
          </p:nvSpPr>
          <p:spPr>
            <a:xfrm>
              <a:off x="0" y="0"/>
              <a:ext cx="2102837" cy="2387349"/>
            </a:xfrm>
            <a:custGeom>
              <a:avLst/>
              <a:gdLst/>
              <a:ahLst/>
              <a:cxnLst/>
              <a:rect l="l" t="t" r="r" b="b"/>
              <a:pathLst>
                <a:path w="2102837" h="2387349">
                  <a:moveTo>
                    <a:pt x="2102837" y="2387349"/>
                  </a:moveTo>
                  <a:lnTo>
                    <a:pt x="0" y="2387349"/>
                  </a:lnTo>
                  <a:lnTo>
                    <a:pt x="0" y="0"/>
                  </a:lnTo>
                  <a:lnTo>
                    <a:pt x="2102837" y="0"/>
                  </a:lnTo>
                  <a:lnTo>
                    <a:pt x="2102837" y="2387349"/>
                  </a:lnTo>
                  <a:close/>
                  <a:moveTo>
                    <a:pt x="12700" y="2374649"/>
                  </a:moveTo>
                  <a:lnTo>
                    <a:pt x="2090137" y="2374649"/>
                  </a:lnTo>
                  <a:lnTo>
                    <a:pt x="2090137" y="12700"/>
                  </a:lnTo>
                  <a:lnTo>
                    <a:pt x="12700" y="12700"/>
                  </a:lnTo>
                  <a:lnTo>
                    <a:pt x="12700" y="2374649"/>
                  </a:lnTo>
                  <a:close/>
                </a:path>
              </a:pathLst>
            </a:custGeom>
            <a:solidFill>
              <a:srgbClr val="244DB6"/>
            </a:solidFill>
          </p:spPr>
          <p:txBody>
            <a:bodyPr/>
            <a:lstStyle/>
            <a:p>
              <a:endParaRPr lang="zh-TW" altLang="en-US"/>
            </a:p>
          </p:txBody>
        </p:sp>
      </p:grpSp>
      <p:grpSp>
        <p:nvGrpSpPr>
          <p:cNvPr id="25" name="Group 25"/>
          <p:cNvGrpSpPr/>
          <p:nvPr/>
        </p:nvGrpSpPr>
        <p:grpSpPr>
          <a:xfrm>
            <a:off x="7427611" y="3600911"/>
            <a:ext cx="3411665" cy="938238"/>
            <a:chOff x="0" y="0"/>
            <a:chExt cx="2005384" cy="516086"/>
          </a:xfrm>
        </p:grpSpPr>
        <p:sp>
          <p:nvSpPr>
            <p:cNvPr id="26" name="Freeform 26"/>
            <p:cNvSpPr/>
            <p:nvPr/>
          </p:nvSpPr>
          <p:spPr>
            <a:xfrm>
              <a:off x="48260" y="48260"/>
              <a:ext cx="1957124" cy="467826"/>
            </a:xfrm>
            <a:custGeom>
              <a:avLst/>
              <a:gdLst/>
              <a:ahLst/>
              <a:cxnLst/>
              <a:rect l="l" t="t" r="r" b="b"/>
              <a:pathLst>
                <a:path w="1957124" h="467826">
                  <a:moveTo>
                    <a:pt x="0" y="0"/>
                  </a:moveTo>
                  <a:lnTo>
                    <a:pt x="1957124" y="0"/>
                  </a:lnTo>
                  <a:lnTo>
                    <a:pt x="1957124" y="467826"/>
                  </a:lnTo>
                  <a:lnTo>
                    <a:pt x="0" y="467826"/>
                  </a:lnTo>
                  <a:close/>
                </a:path>
              </a:pathLst>
            </a:custGeom>
            <a:solidFill>
              <a:srgbClr val="244DB6"/>
            </a:solidFill>
          </p:spPr>
          <p:txBody>
            <a:bodyPr/>
            <a:lstStyle/>
            <a:p>
              <a:endParaRPr lang="zh-TW" altLang="en-US"/>
            </a:p>
          </p:txBody>
        </p:sp>
        <p:sp>
          <p:nvSpPr>
            <p:cNvPr id="27" name="Freeform 27"/>
            <p:cNvSpPr/>
            <p:nvPr/>
          </p:nvSpPr>
          <p:spPr>
            <a:xfrm>
              <a:off x="6350" y="6350"/>
              <a:ext cx="1957124" cy="467826"/>
            </a:xfrm>
            <a:custGeom>
              <a:avLst/>
              <a:gdLst/>
              <a:ahLst/>
              <a:cxnLst/>
              <a:rect l="l" t="t" r="r" b="b"/>
              <a:pathLst>
                <a:path w="1957124" h="467826">
                  <a:moveTo>
                    <a:pt x="0" y="0"/>
                  </a:moveTo>
                  <a:lnTo>
                    <a:pt x="1957124" y="0"/>
                  </a:lnTo>
                  <a:lnTo>
                    <a:pt x="1957124" y="467826"/>
                  </a:lnTo>
                  <a:lnTo>
                    <a:pt x="0" y="467826"/>
                  </a:lnTo>
                  <a:close/>
                </a:path>
              </a:pathLst>
            </a:custGeom>
            <a:solidFill>
              <a:srgbClr val="FFFCF4"/>
            </a:solidFill>
          </p:spPr>
          <p:txBody>
            <a:bodyPr/>
            <a:lstStyle/>
            <a:p>
              <a:endParaRPr lang="zh-TW" altLang="en-US"/>
            </a:p>
          </p:txBody>
        </p:sp>
        <p:sp>
          <p:nvSpPr>
            <p:cNvPr id="28" name="Freeform 28"/>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solidFill>
              <a:srgbClr val="244DB6"/>
            </a:solidFill>
          </p:spPr>
          <p:txBody>
            <a:bodyPr/>
            <a:lstStyle/>
            <a:p>
              <a:endParaRPr lang="zh-TW" altLang="en-US"/>
            </a:p>
          </p:txBody>
        </p:sp>
      </p:grpSp>
      <p:grpSp>
        <p:nvGrpSpPr>
          <p:cNvPr id="29" name="Group 29"/>
          <p:cNvGrpSpPr/>
          <p:nvPr/>
        </p:nvGrpSpPr>
        <p:grpSpPr>
          <a:xfrm>
            <a:off x="12202689" y="4396182"/>
            <a:ext cx="4806463" cy="4206368"/>
            <a:chOff x="0" y="0"/>
            <a:chExt cx="2138397" cy="2422909"/>
          </a:xfrm>
        </p:grpSpPr>
        <p:sp>
          <p:nvSpPr>
            <p:cNvPr id="30" name="Freeform 30"/>
            <p:cNvSpPr/>
            <p:nvPr/>
          </p:nvSpPr>
          <p:spPr>
            <a:xfrm>
              <a:off x="48260" y="48260"/>
              <a:ext cx="2090137" cy="2374649"/>
            </a:xfrm>
            <a:custGeom>
              <a:avLst/>
              <a:gdLst/>
              <a:ahLst/>
              <a:cxnLst/>
              <a:rect l="l" t="t" r="r" b="b"/>
              <a:pathLst>
                <a:path w="2090137" h="2374649">
                  <a:moveTo>
                    <a:pt x="0" y="0"/>
                  </a:moveTo>
                  <a:lnTo>
                    <a:pt x="2090137" y="0"/>
                  </a:lnTo>
                  <a:lnTo>
                    <a:pt x="2090137" y="2374649"/>
                  </a:lnTo>
                  <a:lnTo>
                    <a:pt x="0" y="2374649"/>
                  </a:lnTo>
                  <a:close/>
                </a:path>
              </a:pathLst>
            </a:custGeom>
            <a:solidFill>
              <a:srgbClr val="244DB6"/>
            </a:solidFill>
          </p:spPr>
          <p:txBody>
            <a:bodyPr/>
            <a:lstStyle/>
            <a:p>
              <a:endParaRPr lang="zh-TW" altLang="en-US"/>
            </a:p>
          </p:txBody>
        </p:sp>
        <p:sp>
          <p:nvSpPr>
            <p:cNvPr id="31" name="Freeform 31"/>
            <p:cNvSpPr/>
            <p:nvPr/>
          </p:nvSpPr>
          <p:spPr>
            <a:xfrm>
              <a:off x="6350" y="6350"/>
              <a:ext cx="2090137" cy="2374649"/>
            </a:xfrm>
            <a:custGeom>
              <a:avLst/>
              <a:gdLst/>
              <a:ahLst/>
              <a:cxnLst/>
              <a:rect l="l" t="t" r="r" b="b"/>
              <a:pathLst>
                <a:path w="2090137" h="2374649">
                  <a:moveTo>
                    <a:pt x="0" y="0"/>
                  </a:moveTo>
                  <a:lnTo>
                    <a:pt x="2090137" y="0"/>
                  </a:lnTo>
                  <a:lnTo>
                    <a:pt x="2090137" y="2374649"/>
                  </a:lnTo>
                  <a:lnTo>
                    <a:pt x="0" y="2374649"/>
                  </a:lnTo>
                  <a:close/>
                </a:path>
              </a:pathLst>
            </a:custGeom>
            <a:solidFill>
              <a:srgbClr val="FFFCF4"/>
            </a:solidFill>
          </p:spPr>
          <p:txBody>
            <a:bodyPr/>
            <a:lstStyle/>
            <a:p>
              <a:endParaRPr lang="zh-TW" altLang="en-US"/>
            </a:p>
          </p:txBody>
        </p:sp>
        <p:sp>
          <p:nvSpPr>
            <p:cNvPr id="32" name="Freeform 32"/>
            <p:cNvSpPr/>
            <p:nvPr/>
          </p:nvSpPr>
          <p:spPr>
            <a:xfrm>
              <a:off x="0" y="0"/>
              <a:ext cx="2102837" cy="2387349"/>
            </a:xfrm>
            <a:custGeom>
              <a:avLst/>
              <a:gdLst/>
              <a:ahLst/>
              <a:cxnLst/>
              <a:rect l="l" t="t" r="r" b="b"/>
              <a:pathLst>
                <a:path w="2102837" h="2387349">
                  <a:moveTo>
                    <a:pt x="2102837" y="2387349"/>
                  </a:moveTo>
                  <a:lnTo>
                    <a:pt x="0" y="2387349"/>
                  </a:lnTo>
                  <a:lnTo>
                    <a:pt x="0" y="0"/>
                  </a:lnTo>
                  <a:lnTo>
                    <a:pt x="2102837" y="0"/>
                  </a:lnTo>
                  <a:lnTo>
                    <a:pt x="2102837" y="2387349"/>
                  </a:lnTo>
                  <a:close/>
                  <a:moveTo>
                    <a:pt x="12700" y="2374649"/>
                  </a:moveTo>
                  <a:lnTo>
                    <a:pt x="2090137" y="2374649"/>
                  </a:lnTo>
                  <a:lnTo>
                    <a:pt x="2090137" y="12700"/>
                  </a:lnTo>
                  <a:lnTo>
                    <a:pt x="12700" y="12700"/>
                  </a:lnTo>
                  <a:lnTo>
                    <a:pt x="12700" y="2374649"/>
                  </a:lnTo>
                  <a:close/>
                </a:path>
              </a:pathLst>
            </a:custGeom>
            <a:solidFill>
              <a:srgbClr val="244DB6"/>
            </a:solidFill>
          </p:spPr>
          <p:txBody>
            <a:bodyPr/>
            <a:lstStyle/>
            <a:p>
              <a:endParaRPr lang="zh-TW" altLang="en-US"/>
            </a:p>
          </p:txBody>
        </p:sp>
      </p:grpSp>
      <p:grpSp>
        <p:nvGrpSpPr>
          <p:cNvPr id="33" name="Group 33"/>
          <p:cNvGrpSpPr/>
          <p:nvPr/>
        </p:nvGrpSpPr>
        <p:grpSpPr>
          <a:xfrm>
            <a:off x="12934525" y="3611784"/>
            <a:ext cx="3483818" cy="930471"/>
            <a:chOff x="0" y="0"/>
            <a:chExt cx="2005384" cy="516086"/>
          </a:xfrm>
        </p:grpSpPr>
        <p:sp>
          <p:nvSpPr>
            <p:cNvPr id="34" name="Freeform 34"/>
            <p:cNvSpPr/>
            <p:nvPr/>
          </p:nvSpPr>
          <p:spPr>
            <a:xfrm>
              <a:off x="48260" y="48260"/>
              <a:ext cx="1957124" cy="467826"/>
            </a:xfrm>
            <a:custGeom>
              <a:avLst/>
              <a:gdLst/>
              <a:ahLst/>
              <a:cxnLst/>
              <a:rect l="l" t="t" r="r" b="b"/>
              <a:pathLst>
                <a:path w="1957124" h="467826">
                  <a:moveTo>
                    <a:pt x="0" y="0"/>
                  </a:moveTo>
                  <a:lnTo>
                    <a:pt x="1957124" y="0"/>
                  </a:lnTo>
                  <a:lnTo>
                    <a:pt x="1957124" y="467826"/>
                  </a:lnTo>
                  <a:lnTo>
                    <a:pt x="0" y="467826"/>
                  </a:lnTo>
                  <a:close/>
                </a:path>
              </a:pathLst>
            </a:custGeom>
            <a:solidFill>
              <a:srgbClr val="244DB6"/>
            </a:solidFill>
          </p:spPr>
          <p:txBody>
            <a:bodyPr/>
            <a:lstStyle/>
            <a:p>
              <a:endParaRPr lang="zh-TW" altLang="en-US"/>
            </a:p>
          </p:txBody>
        </p:sp>
        <p:sp>
          <p:nvSpPr>
            <p:cNvPr id="35" name="Freeform 35"/>
            <p:cNvSpPr/>
            <p:nvPr/>
          </p:nvSpPr>
          <p:spPr>
            <a:xfrm>
              <a:off x="6350" y="6350"/>
              <a:ext cx="1957124" cy="467826"/>
            </a:xfrm>
            <a:custGeom>
              <a:avLst/>
              <a:gdLst/>
              <a:ahLst/>
              <a:cxnLst/>
              <a:rect l="l" t="t" r="r" b="b"/>
              <a:pathLst>
                <a:path w="1957124" h="467826">
                  <a:moveTo>
                    <a:pt x="0" y="0"/>
                  </a:moveTo>
                  <a:lnTo>
                    <a:pt x="1957124" y="0"/>
                  </a:lnTo>
                  <a:lnTo>
                    <a:pt x="1957124" y="467826"/>
                  </a:lnTo>
                  <a:lnTo>
                    <a:pt x="0" y="467826"/>
                  </a:lnTo>
                  <a:close/>
                </a:path>
              </a:pathLst>
            </a:custGeom>
            <a:solidFill>
              <a:srgbClr val="FFFCF4"/>
            </a:solidFill>
          </p:spPr>
          <p:txBody>
            <a:bodyPr/>
            <a:lstStyle/>
            <a:p>
              <a:endParaRPr lang="zh-TW" altLang="en-US" dirty="0"/>
            </a:p>
          </p:txBody>
        </p:sp>
        <p:sp>
          <p:nvSpPr>
            <p:cNvPr id="36" name="Freeform 36"/>
            <p:cNvSpPr/>
            <p:nvPr/>
          </p:nvSpPr>
          <p:spPr>
            <a:xfrm>
              <a:off x="0" y="0"/>
              <a:ext cx="1969824" cy="480526"/>
            </a:xfrm>
            <a:custGeom>
              <a:avLst/>
              <a:gdLst/>
              <a:ahLst/>
              <a:cxnLst/>
              <a:rect l="l" t="t" r="r" b="b"/>
              <a:pathLst>
                <a:path w="1969824" h="480526">
                  <a:moveTo>
                    <a:pt x="1969824" y="480526"/>
                  </a:moveTo>
                  <a:lnTo>
                    <a:pt x="0" y="480526"/>
                  </a:lnTo>
                  <a:lnTo>
                    <a:pt x="0" y="0"/>
                  </a:lnTo>
                  <a:lnTo>
                    <a:pt x="1969824" y="0"/>
                  </a:lnTo>
                  <a:lnTo>
                    <a:pt x="1969824" y="480526"/>
                  </a:lnTo>
                  <a:close/>
                  <a:moveTo>
                    <a:pt x="12700" y="467826"/>
                  </a:moveTo>
                  <a:lnTo>
                    <a:pt x="1957124" y="467826"/>
                  </a:lnTo>
                  <a:lnTo>
                    <a:pt x="1957124" y="12700"/>
                  </a:lnTo>
                  <a:lnTo>
                    <a:pt x="12700" y="12700"/>
                  </a:lnTo>
                  <a:lnTo>
                    <a:pt x="12700" y="467826"/>
                  </a:lnTo>
                  <a:close/>
                </a:path>
              </a:pathLst>
            </a:custGeom>
            <a:solidFill>
              <a:srgbClr val="244DB6"/>
            </a:solidFill>
          </p:spPr>
          <p:txBody>
            <a:bodyPr/>
            <a:lstStyle/>
            <a:p>
              <a:endParaRPr lang="zh-TW" altLang="en-US"/>
            </a:p>
          </p:txBody>
        </p:sp>
      </p:grpSp>
      <p:sp>
        <p:nvSpPr>
          <p:cNvPr id="39" name="TextBox 39"/>
          <p:cNvSpPr txBox="1"/>
          <p:nvPr/>
        </p:nvSpPr>
        <p:spPr>
          <a:xfrm>
            <a:off x="1940125" y="4412860"/>
            <a:ext cx="3862848" cy="4530023"/>
          </a:xfrm>
          <a:prstGeom prst="rect">
            <a:avLst/>
          </a:prstGeom>
        </p:spPr>
        <p:txBody>
          <a:bodyPr wrap="square" lIns="0" tIns="0" rIns="0" bIns="0" rtlCol="0" anchor="t">
            <a:spAutoFit/>
          </a:bodyPr>
          <a:lstStyle/>
          <a:p>
            <a:pPr marL="457200" indent="-457200" algn="l">
              <a:lnSpc>
                <a:spcPct val="15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適用於小樣本、高維度的回歸任務</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l">
              <a:lnSpc>
                <a:spcPct val="150000"/>
              </a:lnSpc>
              <a:spcAft>
                <a:spcPts val="600"/>
              </a:spcAft>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利用核函數處理非線性關係</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spcAft>
                <a:spcPts val="600"/>
              </a:spcAft>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在大規模資料下訓練效率較低</a:t>
            </a:r>
          </a:p>
          <a:p>
            <a:pPr marL="457200" indent="-457200" algn="l">
              <a:lnSpc>
                <a:spcPts val="4200"/>
              </a:lnSpc>
              <a:spcAft>
                <a:spcPts val="600"/>
              </a:spcAft>
              <a:buFont typeface="Arial" panose="020B0604020202020204" pitchFamily="34" charset="0"/>
              <a:buChar char="•"/>
            </a:pP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42" name="TextBox 42"/>
          <p:cNvSpPr txBox="1"/>
          <p:nvPr/>
        </p:nvSpPr>
        <p:spPr>
          <a:xfrm>
            <a:off x="2099620" y="3800156"/>
            <a:ext cx="3348427" cy="436017"/>
          </a:xfrm>
          <a:prstGeom prst="rect">
            <a:avLst/>
          </a:prstGeom>
        </p:spPr>
        <p:txBody>
          <a:bodyPr wrap="square" lIns="0" tIns="0" rIns="0" bIns="0" rtlCol="0" anchor="t">
            <a:spAutoFit/>
          </a:bodyPr>
          <a:lstStyle/>
          <a:p>
            <a:pPr algn="ctr">
              <a:lnSpc>
                <a:spcPts val="3391"/>
              </a:lnSpc>
            </a:pP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SVR</a:t>
            </a:r>
            <a:endParaRPr 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43" name="TextBox 43"/>
          <p:cNvSpPr txBox="1"/>
          <p:nvPr/>
        </p:nvSpPr>
        <p:spPr>
          <a:xfrm>
            <a:off x="7468521" y="3803798"/>
            <a:ext cx="3257423" cy="436017"/>
          </a:xfrm>
          <a:prstGeom prst="rect">
            <a:avLst/>
          </a:prstGeom>
        </p:spPr>
        <p:txBody>
          <a:bodyPr wrap="square" lIns="0" tIns="0" rIns="0" bIns="0" rtlCol="0" anchor="t">
            <a:spAutoFit/>
          </a:bodyPr>
          <a:lstStyle/>
          <a:p>
            <a:pPr algn="ctr">
              <a:lnSpc>
                <a:spcPts val="3391"/>
              </a:lnSpc>
            </a:pP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Random Forest</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46" name="TextBox 46"/>
          <p:cNvSpPr txBox="1"/>
          <p:nvPr/>
        </p:nvSpPr>
        <p:spPr>
          <a:xfrm>
            <a:off x="4311958" y="985728"/>
            <a:ext cx="9776369" cy="555280"/>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機器學習方法介紹</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56" name="投影片編號版面配置區 55">
            <a:extLst>
              <a:ext uri="{FF2B5EF4-FFF2-40B4-BE49-F238E27FC236}">
                <a16:creationId xmlns:a16="http://schemas.microsoft.com/office/drawing/2014/main" id="{E62DEB7A-A094-9A59-CC3D-B3C8E7C82FF4}"/>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3" name="TextBox 39">
            <a:extLst>
              <a:ext uri="{FF2B5EF4-FFF2-40B4-BE49-F238E27FC236}">
                <a16:creationId xmlns:a16="http://schemas.microsoft.com/office/drawing/2014/main" id="{D6C507CD-B133-B986-32F0-263AA9D3486F}"/>
              </a:ext>
            </a:extLst>
          </p:cNvPr>
          <p:cNvSpPr txBox="1"/>
          <p:nvPr/>
        </p:nvSpPr>
        <p:spPr>
          <a:xfrm>
            <a:off x="6968164" y="4397215"/>
            <a:ext cx="4490123" cy="3798860"/>
          </a:xfrm>
          <a:prstGeom prst="rect">
            <a:avLst/>
          </a:prstGeom>
        </p:spPr>
        <p:txBody>
          <a:bodyPr wrap="square" lIns="0" tIns="0" rIns="0" bIns="0" rtlCol="0" anchor="t">
            <a:spAutoFit/>
          </a:bodyPr>
          <a:lstStyle/>
          <a:p>
            <a:pPr marL="457200" indent="-457200" algn="l">
              <a:lnSpc>
                <a:spcPct val="15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基於集成學習的回歸演算法</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具備抗過擬合能力，適合處理多樣化資料</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l">
              <a:lnSpc>
                <a:spcPct val="15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適合大規模、高維度與多樣特徵的資料集</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4" name="TextBox 39">
            <a:extLst>
              <a:ext uri="{FF2B5EF4-FFF2-40B4-BE49-F238E27FC236}">
                <a16:creationId xmlns:a16="http://schemas.microsoft.com/office/drawing/2014/main" id="{F2903CEB-2F39-092C-48EF-B3DA6A19CECC}"/>
              </a:ext>
            </a:extLst>
          </p:cNvPr>
          <p:cNvSpPr txBox="1"/>
          <p:nvPr/>
        </p:nvSpPr>
        <p:spPr>
          <a:xfrm>
            <a:off x="12474987" y="4396182"/>
            <a:ext cx="4402894" cy="4127668"/>
          </a:xfrm>
          <a:prstGeom prst="rect">
            <a:avLst/>
          </a:prstGeom>
        </p:spPr>
        <p:txBody>
          <a:bodyPr wrap="square" lIns="0" tIns="0" rIns="0" bIns="0" rtlCol="0" anchor="t">
            <a:spAutoFit/>
          </a:bodyPr>
          <a:lstStyle/>
          <a:p>
            <a:pPr marL="457200" indent="-457200" algn="l">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基於梯度提升的集成回歸演算法</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具備樹剪枝與稀疏處理機制，提升訓練效率</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150000"/>
              </a:lnSpc>
              <a:buFont typeface="Arial" panose="020B0604020202020204" pitchFamily="34" charset="0"/>
              <a:buChar char="•"/>
            </a:pPr>
            <a:r>
              <a:rPr lang="zh-TW" altLang="en-US"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在大規模資料上具備高計算效率，並廣泛應用於各類任務</a:t>
            </a:r>
            <a:endParaRPr lang="en-US" altLang="zh-TW" sz="2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5" name="TextBox 43">
            <a:extLst>
              <a:ext uri="{FF2B5EF4-FFF2-40B4-BE49-F238E27FC236}">
                <a16:creationId xmlns:a16="http://schemas.microsoft.com/office/drawing/2014/main" id="{F807207B-BCF4-C724-F77C-7936072AC3F8}"/>
              </a:ext>
            </a:extLst>
          </p:cNvPr>
          <p:cNvSpPr txBox="1"/>
          <p:nvPr/>
        </p:nvSpPr>
        <p:spPr>
          <a:xfrm>
            <a:off x="13090078" y="3832970"/>
            <a:ext cx="3287217" cy="436017"/>
          </a:xfrm>
          <a:prstGeom prst="rect">
            <a:avLst/>
          </a:prstGeom>
        </p:spPr>
        <p:txBody>
          <a:bodyPr wrap="square" lIns="0" tIns="0" rIns="0" bIns="0" rtlCol="0" anchor="t">
            <a:spAutoFit/>
          </a:bodyPr>
          <a:lstStyle/>
          <a:p>
            <a:pPr algn="ctr">
              <a:lnSpc>
                <a:spcPts val="3391"/>
              </a:lnSpc>
            </a:pPr>
            <a:r>
              <a:rPr lang="en-US" altLang="zh-TW" sz="32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XGBoost</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 name="TextBox 39">
            <a:extLst>
              <a:ext uri="{FF2B5EF4-FFF2-40B4-BE49-F238E27FC236}">
                <a16:creationId xmlns:a16="http://schemas.microsoft.com/office/drawing/2014/main" id="{9983DBDE-E00B-82E7-6B2F-81CDFA3AE5ED}"/>
              </a:ext>
            </a:extLst>
          </p:cNvPr>
          <p:cNvSpPr txBox="1"/>
          <p:nvPr/>
        </p:nvSpPr>
        <p:spPr>
          <a:xfrm>
            <a:off x="1358776" y="1751670"/>
            <a:ext cx="15650376" cy="1077218"/>
          </a:xfrm>
          <a:prstGeom prst="rect">
            <a:avLst/>
          </a:prstGeom>
        </p:spPr>
        <p:txBody>
          <a:bodyPr wrap="square" lIns="0" tIns="0" rIns="0" bIns="0" rtlCol="0" anchor="t">
            <a:spAutoFit/>
          </a:bodyPr>
          <a:lstStyle/>
          <a:p>
            <a:pPr algn="just"/>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採用三種文獻中常見的機器學習模型 </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 SVR</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支援向量回歸</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Random Forest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隨機森林</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與</a:t>
            </a:r>
            <a:r>
              <a:rPr lang="en-US" altLang="zh-TW" sz="34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XGBoost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極限梯度提升</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，用於延遲預測的比較分析。</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7" name="資料庫圖表 6">
            <a:extLst>
              <a:ext uri="{FF2B5EF4-FFF2-40B4-BE49-F238E27FC236}">
                <a16:creationId xmlns:a16="http://schemas.microsoft.com/office/drawing/2014/main" id="{A5A5A990-D89D-D5F2-20A3-45805DC5F25E}"/>
              </a:ext>
            </a:extLst>
          </p:cNvPr>
          <p:cNvGraphicFramePr/>
          <p:nvPr>
            <p:extLst>
              <p:ext uri="{D42A27DB-BD31-4B8C-83A1-F6EECF244321}">
                <p14:modId xmlns:p14="http://schemas.microsoft.com/office/powerpoint/2010/main" val="1975307110"/>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442567315"/>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ED61D-4B6D-322F-13A2-D3261BB95455}"/>
            </a:ext>
          </a:extLst>
        </p:cNvPr>
        <p:cNvGrpSpPr/>
        <p:nvPr/>
      </p:nvGrpSpPr>
      <p:grpSpPr>
        <a:xfrm>
          <a:off x="0" y="0"/>
          <a:ext cx="0" cy="0"/>
          <a:chOff x="0" y="0"/>
          <a:chExt cx="0" cy="0"/>
        </a:xfrm>
      </p:grpSpPr>
      <p:sp>
        <p:nvSpPr>
          <p:cNvPr id="2" name="Freeform 16">
            <a:extLst>
              <a:ext uri="{FF2B5EF4-FFF2-40B4-BE49-F238E27FC236}">
                <a16:creationId xmlns:a16="http://schemas.microsoft.com/office/drawing/2014/main" id="{4E2AB0B7-332C-5745-38C4-DF0DA7E9440B}"/>
              </a:ext>
            </a:extLst>
          </p:cNvPr>
          <p:cNvSpPr/>
          <p:nvPr/>
        </p:nvSpPr>
        <p:spPr>
          <a:xfrm>
            <a:off x="2628900" y="1775112"/>
            <a:ext cx="13030200" cy="702598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1" name="Freeform 11">
            <a:extLst>
              <a:ext uri="{FF2B5EF4-FFF2-40B4-BE49-F238E27FC236}">
                <a16:creationId xmlns:a16="http://schemas.microsoft.com/office/drawing/2014/main" id="{23692B7D-BE0A-801F-4C38-433BC4DD3AA6}"/>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966F1EA6-DA59-A289-9B36-2788280CADDF}"/>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4C16E708-6A27-793E-3AEB-1D4EB504610A}"/>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3" name="TextBox 53">
            <a:extLst>
              <a:ext uri="{FF2B5EF4-FFF2-40B4-BE49-F238E27FC236}">
                <a16:creationId xmlns:a16="http://schemas.microsoft.com/office/drawing/2014/main" id="{07AB4AEA-C7FD-7DFD-B0BF-7E88623B0BF5}"/>
              </a:ext>
            </a:extLst>
          </p:cNvPr>
          <p:cNvSpPr txBox="1"/>
          <p:nvPr/>
        </p:nvSpPr>
        <p:spPr>
          <a:xfrm>
            <a:off x="4597037" y="1028700"/>
            <a:ext cx="9093925"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模型訓練條件</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54" name="TextBox 54">
            <a:extLst>
              <a:ext uri="{FF2B5EF4-FFF2-40B4-BE49-F238E27FC236}">
                <a16:creationId xmlns:a16="http://schemas.microsoft.com/office/drawing/2014/main" id="{165DF938-C061-28BE-4D1C-9AEECB7BF294}"/>
              </a:ext>
            </a:extLst>
          </p:cNvPr>
          <p:cNvSpPr txBox="1"/>
          <p:nvPr/>
        </p:nvSpPr>
        <p:spPr>
          <a:xfrm>
            <a:off x="2781300" y="1544052"/>
            <a:ext cx="12687300" cy="5368970"/>
          </a:xfrm>
          <a:prstGeom prst="rect">
            <a:avLst/>
          </a:prstGeom>
        </p:spPr>
        <p:txBody>
          <a:bodyPr wrap="square" lIns="0" tIns="0" rIns="0" bIns="0" rtlCol="0" anchor="t">
            <a:spAutoFit/>
          </a:bodyPr>
          <a:lstStyle/>
          <a:p>
            <a:pPr marL="4572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以相同觀測資料建立</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81</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濃縮</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與</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308</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展開</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，作為模型輸入以比較不同特徵結構對預測效能的影響。</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資料集切分比例為</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80%</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訓練集、</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驗證集、</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15%</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測試集</a:t>
            </a:r>
            <a:r>
              <a:rPr lang="en-US" altLang="zh-TW" sz="1400" b="1" dirty="0">
                <a:latin typeface="微軟正黑體" panose="020B0604030504040204" pitchFamily="34" charset="-120"/>
                <a:ea typeface="微軟正黑體" panose="020B0604030504040204" pitchFamily="34" charset="-120"/>
                <a:cs typeface="Times New Roman" panose="02020603050405020304" pitchFamily="18" charset="0"/>
              </a:rPr>
              <a:t>[4,5,6]</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20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各模型皆使用相同資料分割與評估方式，以確保結果的公平與可比較性。</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6" name="投影片編號版面配置區 65">
            <a:extLst>
              <a:ext uri="{FF2B5EF4-FFF2-40B4-BE49-F238E27FC236}">
                <a16:creationId xmlns:a16="http://schemas.microsoft.com/office/drawing/2014/main" id="{2436A050-3760-B4B5-7A44-56F5A5ADDE16}"/>
              </a:ext>
            </a:extLst>
          </p:cNvPr>
          <p:cNvSpPr>
            <a:spLocks noGrp="1"/>
          </p:cNvSpPr>
          <p:nvPr>
            <p:ph type="sldNum" sz="quarter" idx="12"/>
          </p:nvPr>
        </p:nvSpPr>
        <p:spPr/>
        <p:txBody>
          <a:bodyPr/>
          <a:lstStyle/>
          <a:p>
            <a:fld id="{B6F15528-21DE-4FAA-801E-634DDDAF4B2B}" type="slidenum">
              <a:rPr lang="en-US" smtClean="0"/>
              <a:pPr/>
              <a:t>25</a:t>
            </a:fld>
            <a:endParaRPr lang="en-US"/>
          </a:p>
        </p:txBody>
      </p:sp>
      <p:graphicFrame>
        <p:nvGraphicFramePr>
          <p:cNvPr id="5" name="資料庫圖表 4">
            <a:extLst>
              <a:ext uri="{FF2B5EF4-FFF2-40B4-BE49-F238E27FC236}">
                <a16:creationId xmlns:a16="http://schemas.microsoft.com/office/drawing/2014/main" id="{20387155-8925-2C83-F71A-E046036E3859}"/>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文字方塊 8">
            <a:extLst>
              <a:ext uri="{FF2B5EF4-FFF2-40B4-BE49-F238E27FC236}">
                <a16:creationId xmlns:a16="http://schemas.microsoft.com/office/drawing/2014/main" id="{456A59F1-995B-E0C2-C437-4F171C4EB8EB}"/>
              </a:ext>
            </a:extLst>
          </p:cNvPr>
          <p:cNvSpPr txBox="1"/>
          <p:nvPr/>
        </p:nvSpPr>
        <p:spPr>
          <a:xfrm>
            <a:off x="2773062" y="7647516"/>
            <a:ext cx="12496800" cy="890115"/>
          </a:xfrm>
          <a:prstGeom prst="rect">
            <a:avLst/>
          </a:prstGeom>
          <a:noFill/>
        </p:spPr>
        <p:txBody>
          <a:bodyPr wrap="square">
            <a:spAutoFit/>
          </a:bodyPr>
          <a:lstStyle/>
          <a:p>
            <a:pPr>
              <a:lnSpc>
                <a:spcPct val="150000"/>
              </a:lnSpc>
            </a:pPr>
            <a:r>
              <a:rPr lang="en-US" altLang="zh-TW" sz="1200" dirty="0">
                <a:effectLst/>
                <a:latin typeface="Times New Roman" panose="02020603050405020304" pitchFamily="18" charset="0"/>
                <a:ea typeface="新細明體" panose="02020500000000000000" pitchFamily="18" charset="-120"/>
              </a:rPr>
              <a:t>[4] H. Mohamed and O. El-Gayar, "End-to-end latency prediction of microservices workflow on </a:t>
            </a:r>
            <a:r>
              <a:rPr lang="en-US" altLang="zh-TW" sz="1200" dirty="0" err="1">
                <a:effectLst/>
                <a:latin typeface="Times New Roman" panose="02020603050405020304" pitchFamily="18" charset="0"/>
                <a:ea typeface="新細明體" panose="02020500000000000000" pitchFamily="18" charset="-120"/>
              </a:rPr>
              <a:t>kubernetes</a:t>
            </a:r>
            <a:r>
              <a:rPr lang="zh-TW" altLang="zh-TW" sz="1200" dirty="0">
                <a:effectLst/>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1200" dirty="0">
                <a:effectLst/>
                <a:latin typeface="Times New Roman" panose="02020603050405020304" pitchFamily="18" charset="0"/>
                <a:ea typeface="新細明體" panose="02020500000000000000" pitchFamily="18" charset="-120"/>
              </a:rPr>
              <a:t> A comparative evaluation of machine learning models and resource metrics," 2021.</a:t>
            </a:r>
          </a:p>
          <a:p>
            <a:pPr>
              <a:lnSpc>
                <a:spcPct val="150000"/>
              </a:lnSpc>
            </a:pPr>
            <a:r>
              <a:rPr lang="en-US" altLang="zh-TW" sz="1200" dirty="0">
                <a:latin typeface="Times New Roman" panose="02020603050405020304" pitchFamily="18" charset="0"/>
              </a:rPr>
              <a:t>[5] L. M. Al Qassem, T. </a:t>
            </a:r>
            <a:r>
              <a:rPr lang="en-US" altLang="zh-TW" sz="1200" dirty="0" err="1">
                <a:latin typeface="Times New Roman" panose="02020603050405020304" pitchFamily="18" charset="0"/>
              </a:rPr>
              <a:t>Stouraitis</a:t>
            </a:r>
            <a:r>
              <a:rPr lang="en-US" altLang="zh-TW" sz="1200" dirty="0">
                <a:latin typeface="Times New Roman" panose="02020603050405020304" pitchFamily="18" charset="0"/>
              </a:rPr>
              <a:t>, E. Damiani, and I. A. M. </a:t>
            </a:r>
            <a:r>
              <a:rPr lang="en-US" altLang="zh-TW" sz="1200" dirty="0" err="1">
                <a:latin typeface="Times New Roman" panose="02020603050405020304" pitchFamily="18" charset="0"/>
              </a:rPr>
              <a:t>Elfadel</a:t>
            </a:r>
            <a:r>
              <a:rPr lang="en-US" altLang="zh-TW" sz="1200" dirty="0">
                <a:latin typeface="Times New Roman" panose="02020603050405020304" pitchFamily="18" charset="0"/>
              </a:rPr>
              <a:t>, "Proactive random-forest </a:t>
            </a:r>
            <a:r>
              <a:rPr lang="en-US" altLang="zh-TW" sz="1200" dirty="0" err="1">
                <a:latin typeface="Times New Roman" panose="02020603050405020304" pitchFamily="18" charset="0"/>
              </a:rPr>
              <a:t>autoscaler</a:t>
            </a:r>
            <a:r>
              <a:rPr lang="en-US" altLang="zh-TW" sz="1200" dirty="0">
                <a:latin typeface="Times New Roman" panose="02020603050405020304" pitchFamily="18" charset="0"/>
              </a:rPr>
              <a:t> for microservice resource allocation," </a:t>
            </a:r>
            <a:r>
              <a:rPr lang="en-US" altLang="zh-TW" sz="1200" i="1" dirty="0">
                <a:latin typeface="Times New Roman" panose="02020603050405020304" pitchFamily="18" charset="0"/>
              </a:rPr>
              <a:t>IEEE Access, </a:t>
            </a:r>
            <a:r>
              <a:rPr lang="en-US" altLang="zh-TW" sz="1200" dirty="0">
                <a:latin typeface="Times New Roman" panose="02020603050405020304" pitchFamily="18" charset="0"/>
              </a:rPr>
              <a:t>vol. 11, pp. 2570–2585, 2023.</a:t>
            </a:r>
            <a:endParaRPr lang="zh-TW" altLang="en-US" sz="1200" dirty="0"/>
          </a:p>
          <a:p>
            <a:pPr>
              <a:lnSpc>
                <a:spcPct val="150000"/>
              </a:lnSpc>
            </a:pPr>
            <a:r>
              <a:rPr lang="en-US" altLang="zh-TW" sz="1200" dirty="0">
                <a:latin typeface="Times New Roman" panose="02020603050405020304" pitchFamily="18" charset="0"/>
                <a:cs typeface="Times New Roman" panose="02020603050405020304" pitchFamily="18" charset="0"/>
              </a:rPr>
              <a:t>[6] A. Goli, N. Mahmoudi, H. Khazaei, and O. </a:t>
            </a:r>
            <a:r>
              <a:rPr lang="en-US" altLang="zh-TW" sz="1200" dirty="0" err="1">
                <a:latin typeface="Times New Roman" panose="02020603050405020304" pitchFamily="18" charset="0"/>
                <a:cs typeface="Times New Roman" panose="02020603050405020304" pitchFamily="18" charset="0"/>
              </a:rPr>
              <a:t>Ardakanian</a:t>
            </a:r>
            <a:r>
              <a:rPr lang="en-US" altLang="zh-TW" sz="1200" dirty="0">
                <a:latin typeface="Times New Roman" panose="02020603050405020304" pitchFamily="18" charset="0"/>
                <a:cs typeface="Times New Roman" panose="02020603050405020304" pitchFamily="18" charset="0"/>
              </a:rPr>
              <a:t>, "A Holistic Machine Learning-based Autoscaling Approach for Microservice Applications," </a:t>
            </a:r>
            <a:r>
              <a:rPr lang="en-US" altLang="zh-TW" sz="1200" i="1" dirty="0">
                <a:latin typeface="Times New Roman" panose="02020603050405020304" pitchFamily="18" charset="0"/>
                <a:cs typeface="Times New Roman" panose="02020603050405020304" pitchFamily="18" charset="0"/>
              </a:rPr>
              <a:t>Closer, </a:t>
            </a:r>
            <a:r>
              <a:rPr lang="en-US" altLang="zh-TW" sz="1200" dirty="0">
                <a:latin typeface="Times New Roman" panose="02020603050405020304" pitchFamily="18" charset="0"/>
                <a:cs typeface="Times New Roman" panose="02020603050405020304" pitchFamily="18" charset="0"/>
              </a:rPr>
              <a:t>vol. 1, pp. 190–198, 2021</a:t>
            </a:r>
            <a:endParaRPr lang="en-US" altLang="zh-TW" sz="1200" b="1" dirty="0">
              <a:solidFill>
                <a:srgbClr val="5576CB"/>
              </a:solidFill>
              <a:latin typeface="Times New Roman" panose="02020603050405020304" pitchFamily="18" charset="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314186489"/>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4" name="Group 14"/>
          <p:cNvGrpSpPr/>
          <p:nvPr/>
        </p:nvGrpSpPr>
        <p:grpSpPr>
          <a:xfrm>
            <a:off x="2556169" y="2148636"/>
            <a:ext cx="13175662" cy="7344164"/>
            <a:chOff x="0" y="0"/>
            <a:chExt cx="5662802" cy="3156468"/>
          </a:xfrm>
        </p:grpSpPr>
        <p:sp>
          <p:nvSpPr>
            <p:cNvPr id="15" name="Freeform 15"/>
            <p:cNvSpPr/>
            <p:nvPr/>
          </p:nvSpPr>
          <p:spPr>
            <a:xfrm>
              <a:off x="48260" y="4826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244DB6"/>
            </a:solidFill>
          </p:spPr>
          <p:txBody>
            <a:bodyPr/>
            <a:lstStyle/>
            <a:p>
              <a:endParaRPr lang="zh-TW" altLang="en-US"/>
            </a:p>
          </p:txBody>
        </p:sp>
        <p:sp>
          <p:nvSpPr>
            <p:cNvPr id="16" name="Freeform 16"/>
            <p:cNvSpPr/>
            <p:nvPr/>
          </p:nvSpPr>
          <p:spPr>
            <a:xfrm>
              <a:off x="6350" y="635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a:p>
          </p:txBody>
        </p:sp>
        <p:sp>
          <p:nvSpPr>
            <p:cNvPr id="17" name="Freeform 17"/>
            <p:cNvSpPr/>
            <p:nvPr/>
          </p:nvSpPr>
          <p:spPr>
            <a:xfrm>
              <a:off x="0" y="0"/>
              <a:ext cx="5627242" cy="3120908"/>
            </a:xfrm>
            <a:custGeom>
              <a:avLst/>
              <a:gdLst/>
              <a:ahLst/>
              <a:cxnLst/>
              <a:rect l="l" t="t" r="r" b="b"/>
              <a:pathLst>
                <a:path w="5627242" h="3120908">
                  <a:moveTo>
                    <a:pt x="5627242" y="3120908"/>
                  </a:moveTo>
                  <a:lnTo>
                    <a:pt x="0" y="3120908"/>
                  </a:lnTo>
                  <a:lnTo>
                    <a:pt x="0" y="0"/>
                  </a:lnTo>
                  <a:lnTo>
                    <a:pt x="5627242" y="0"/>
                  </a:lnTo>
                  <a:lnTo>
                    <a:pt x="5627242" y="3120908"/>
                  </a:lnTo>
                  <a:close/>
                  <a:moveTo>
                    <a:pt x="12700" y="3108208"/>
                  </a:moveTo>
                  <a:lnTo>
                    <a:pt x="5614542" y="3108208"/>
                  </a:lnTo>
                  <a:lnTo>
                    <a:pt x="5614542" y="12700"/>
                  </a:lnTo>
                  <a:lnTo>
                    <a:pt x="12700" y="12700"/>
                  </a:lnTo>
                  <a:lnTo>
                    <a:pt x="12700" y="3108208"/>
                  </a:lnTo>
                  <a:close/>
                </a:path>
              </a:pathLst>
            </a:custGeom>
            <a:solidFill>
              <a:srgbClr val="244DB6"/>
            </a:solidFill>
          </p:spPr>
          <p:txBody>
            <a:bodyPr/>
            <a:lstStyle/>
            <a:p>
              <a:endParaRPr lang="zh-TW" altLang="en-US"/>
            </a:p>
          </p:txBody>
        </p:sp>
      </p:grpSp>
      <p:sp>
        <p:nvSpPr>
          <p:cNvPr id="27" name="TextBox 27"/>
          <p:cNvSpPr txBox="1"/>
          <p:nvPr/>
        </p:nvSpPr>
        <p:spPr>
          <a:xfrm>
            <a:off x="4953000" y="1043454"/>
            <a:ext cx="7983663" cy="545214"/>
          </a:xfrm>
          <a:prstGeom prst="rect">
            <a:avLst/>
          </a:prstGeom>
        </p:spPr>
        <p:txBody>
          <a:bodyPr wrap="square" lIns="0" tIns="0" rIns="0" bIns="0" rtlCol="0" anchor="t">
            <a:spAutoFit/>
          </a:bodyPr>
          <a:lstStyle>
            <a:defPPr>
              <a:defRPr lang="en-US"/>
            </a:defPPr>
            <a:lvl1pPr algn="ctr">
              <a:lnSpc>
                <a:spcPts val="4239"/>
              </a:lnSpc>
              <a:defRPr sz="4800" b="1" spc="187">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defRPr>
            </a:lvl1pPr>
          </a:lstStyle>
          <a:p>
            <a:r>
              <a:rPr lang="en-US" altLang="zh-TW" dirty="0" err="1">
                <a:sym typeface="Blink Twice"/>
              </a:rPr>
              <a:t>Optuna</a:t>
            </a:r>
            <a:r>
              <a:rPr lang="zh-TW" altLang="en-US" dirty="0">
                <a:sym typeface="Blink Twice"/>
              </a:rPr>
              <a:t>超參數搜尋框架</a:t>
            </a:r>
            <a:endParaRPr lang="en-US" dirty="0">
              <a:sym typeface="Blink Twice"/>
            </a:endParaRPr>
          </a:p>
        </p:txBody>
      </p:sp>
      <p:sp>
        <p:nvSpPr>
          <p:cNvPr id="29" name="TextBox 29"/>
          <p:cNvSpPr txBox="1"/>
          <p:nvPr/>
        </p:nvSpPr>
        <p:spPr>
          <a:xfrm>
            <a:off x="2972866" y="2544770"/>
            <a:ext cx="12454554" cy="5520550"/>
          </a:xfrm>
          <a:prstGeom prst="rect">
            <a:avLst/>
          </a:prstGeom>
        </p:spPr>
        <p:txBody>
          <a:bodyPr wrap="square" lIns="0" tIns="0" rIns="0" bIns="0" rtlCol="0" anchor="t">
            <a:spAutoFit/>
          </a:bodyPr>
          <a:lstStyle/>
          <a:p>
            <a:pPr>
              <a:lnSpc>
                <a:spcPct val="200000"/>
              </a:lnSpc>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採用</a:t>
            </a:r>
            <a:r>
              <a:rPr lang="en-US" altLang="zh-TW" sz="32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Optuna</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框架自動化搜尋各模型於不同特徵版本下的最佳參數組合，提升效能表現並確保訓練結果一致性。</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l">
              <a:lnSpc>
                <a:spcPct val="200000"/>
              </a:lnSpc>
              <a:buFont typeface="Arial" panose="020B0604020202020204" pitchFamily="34" charset="0"/>
              <a:buChar char="•"/>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整合多種搜尋方法，自動執行多組試驗</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200000"/>
              </a:lnSpc>
              <a:buFont typeface="Arial" panose="020B0604020202020204" pitchFamily="34" charset="0"/>
              <a:buChar char="•"/>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可針對不同模型或特徵版本，快速調整搜尋範圍與策略，操作上更直覺</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nSpc>
                <a:spcPct val="200000"/>
              </a:lnSpc>
              <a:buFont typeface="Arial" panose="020B0604020202020204" pitchFamily="34" charset="0"/>
              <a:buChar char="•"/>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每次試驗結果都會自動保存，方便比較不同參數組合的效果</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nSpc>
                <a:spcPct val="200000"/>
              </a:lnSpc>
              <a:buFont typeface="Arial" panose="020B0604020202020204" pitchFamily="34" charset="0"/>
              <a:buChar char="•"/>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可即時觀察訓練進度並提前終止不佳試驗，節省整體搜尋時間</a:t>
            </a:r>
            <a:endParaRPr 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39" name="投影片編號版面配置區 38">
            <a:extLst>
              <a:ext uri="{FF2B5EF4-FFF2-40B4-BE49-F238E27FC236}">
                <a16:creationId xmlns:a16="http://schemas.microsoft.com/office/drawing/2014/main" id="{14A5E9B9-9A7C-DB0C-C503-14D6C02D89B6}"/>
              </a:ext>
            </a:extLst>
          </p:cNvPr>
          <p:cNvSpPr>
            <a:spLocks noGrp="1"/>
          </p:cNvSpPr>
          <p:nvPr>
            <p:ph type="sldNum" sz="quarter" idx="12"/>
          </p:nvPr>
        </p:nvSpPr>
        <p:spPr/>
        <p:txBody>
          <a:bodyPr/>
          <a:lstStyle/>
          <a:p>
            <a:fld id="{B6F15528-21DE-4FAA-801E-634DDDAF4B2B}" type="slidenum">
              <a:rPr lang="en-US" smtClean="0"/>
              <a:pPr/>
              <a:t>26</a:t>
            </a:fld>
            <a:endParaRPr lang="en-US"/>
          </a:p>
        </p:txBody>
      </p:sp>
      <p:graphicFrame>
        <p:nvGraphicFramePr>
          <p:cNvPr id="2" name="資料庫圖表 1">
            <a:extLst>
              <a:ext uri="{FF2B5EF4-FFF2-40B4-BE49-F238E27FC236}">
                <a16:creationId xmlns:a16="http://schemas.microsoft.com/office/drawing/2014/main" id="{FE7805AC-5276-B7EE-636A-EDA4E3C3DB64}"/>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908563301"/>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B606B-660E-482D-2306-AF5BAB2CB363}"/>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E260E91B-14D7-25FD-7DE7-DF7021F1ED43}"/>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494EE9C3-3813-881A-97B5-C46824BA9A38}"/>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8038F045-14D4-7DF6-EB7F-210686B345EC}"/>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4" name="Group 14">
            <a:extLst>
              <a:ext uri="{FF2B5EF4-FFF2-40B4-BE49-F238E27FC236}">
                <a16:creationId xmlns:a16="http://schemas.microsoft.com/office/drawing/2014/main" id="{F3FF42C7-BA32-CC43-ADA1-9B56BB44909E}"/>
              </a:ext>
            </a:extLst>
          </p:cNvPr>
          <p:cNvGrpSpPr/>
          <p:nvPr/>
        </p:nvGrpSpPr>
        <p:grpSpPr>
          <a:xfrm>
            <a:off x="2556169" y="2148636"/>
            <a:ext cx="13175662" cy="6881064"/>
            <a:chOff x="0" y="0"/>
            <a:chExt cx="5662802" cy="3156468"/>
          </a:xfrm>
        </p:grpSpPr>
        <p:sp>
          <p:nvSpPr>
            <p:cNvPr id="15" name="Freeform 15">
              <a:extLst>
                <a:ext uri="{FF2B5EF4-FFF2-40B4-BE49-F238E27FC236}">
                  <a16:creationId xmlns:a16="http://schemas.microsoft.com/office/drawing/2014/main" id="{01A22A29-B4C7-7998-D7CD-8414C87C99C6}"/>
                </a:ext>
              </a:extLst>
            </p:cNvPr>
            <p:cNvSpPr/>
            <p:nvPr/>
          </p:nvSpPr>
          <p:spPr>
            <a:xfrm>
              <a:off x="48260" y="4826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244DB6"/>
            </a:solidFill>
          </p:spPr>
          <p:txBody>
            <a:bodyPr/>
            <a:lstStyle/>
            <a:p>
              <a:endParaRPr lang="zh-TW" altLang="en-US"/>
            </a:p>
          </p:txBody>
        </p:sp>
        <p:sp>
          <p:nvSpPr>
            <p:cNvPr id="16" name="Freeform 16">
              <a:extLst>
                <a:ext uri="{FF2B5EF4-FFF2-40B4-BE49-F238E27FC236}">
                  <a16:creationId xmlns:a16="http://schemas.microsoft.com/office/drawing/2014/main" id="{73422774-A411-BB39-DC5B-20CF5C0E816F}"/>
                </a:ext>
              </a:extLst>
            </p:cNvPr>
            <p:cNvSpPr/>
            <p:nvPr/>
          </p:nvSpPr>
          <p:spPr>
            <a:xfrm>
              <a:off x="6350" y="635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a:p>
          </p:txBody>
        </p:sp>
        <p:sp>
          <p:nvSpPr>
            <p:cNvPr id="17" name="Freeform 17">
              <a:extLst>
                <a:ext uri="{FF2B5EF4-FFF2-40B4-BE49-F238E27FC236}">
                  <a16:creationId xmlns:a16="http://schemas.microsoft.com/office/drawing/2014/main" id="{3B1B7FD6-3CE8-CAF4-EE42-B814678C5AEF}"/>
                </a:ext>
              </a:extLst>
            </p:cNvPr>
            <p:cNvSpPr/>
            <p:nvPr/>
          </p:nvSpPr>
          <p:spPr>
            <a:xfrm>
              <a:off x="0" y="0"/>
              <a:ext cx="5627242" cy="3120908"/>
            </a:xfrm>
            <a:custGeom>
              <a:avLst/>
              <a:gdLst/>
              <a:ahLst/>
              <a:cxnLst/>
              <a:rect l="l" t="t" r="r" b="b"/>
              <a:pathLst>
                <a:path w="5627242" h="3120908">
                  <a:moveTo>
                    <a:pt x="5627242" y="3120908"/>
                  </a:moveTo>
                  <a:lnTo>
                    <a:pt x="0" y="3120908"/>
                  </a:lnTo>
                  <a:lnTo>
                    <a:pt x="0" y="0"/>
                  </a:lnTo>
                  <a:lnTo>
                    <a:pt x="5627242" y="0"/>
                  </a:lnTo>
                  <a:lnTo>
                    <a:pt x="5627242" y="3120908"/>
                  </a:lnTo>
                  <a:close/>
                  <a:moveTo>
                    <a:pt x="12700" y="3108208"/>
                  </a:moveTo>
                  <a:lnTo>
                    <a:pt x="5614542" y="3108208"/>
                  </a:lnTo>
                  <a:lnTo>
                    <a:pt x="5614542" y="12700"/>
                  </a:lnTo>
                  <a:lnTo>
                    <a:pt x="12700" y="12700"/>
                  </a:lnTo>
                  <a:lnTo>
                    <a:pt x="12700" y="3108208"/>
                  </a:lnTo>
                  <a:close/>
                </a:path>
              </a:pathLst>
            </a:custGeom>
            <a:solidFill>
              <a:srgbClr val="244DB6"/>
            </a:solidFill>
          </p:spPr>
          <p:txBody>
            <a:bodyPr/>
            <a:lstStyle/>
            <a:p>
              <a:endParaRPr lang="zh-TW" altLang="en-US"/>
            </a:p>
          </p:txBody>
        </p:sp>
      </p:grpSp>
      <p:sp>
        <p:nvSpPr>
          <p:cNvPr id="27" name="TextBox 27">
            <a:extLst>
              <a:ext uri="{FF2B5EF4-FFF2-40B4-BE49-F238E27FC236}">
                <a16:creationId xmlns:a16="http://schemas.microsoft.com/office/drawing/2014/main" id="{09717291-84B1-B2C6-B4BA-94E8DF00CCB4}"/>
              </a:ext>
            </a:extLst>
          </p:cNvPr>
          <p:cNvSpPr txBox="1"/>
          <p:nvPr/>
        </p:nvSpPr>
        <p:spPr>
          <a:xfrm>
            <a:off x="2095500" y="968682"/>
            <a:ext cx="14097000" cy="545214"/>
          </a:xfrm>
          <a:prstGeom prst="rect">
            <a:avLst/>
          </a:prstGeom>
        </p:spPr>
        <p:txBody>
          <a:bodyPr wrap="square" lIns="0" tIns="0" rIns="0" bIns="0" rtlCol="0" anchor="t">
            <a:spAutoFit/>
          </a:bodyPr>
          <a:lstStyle>
            <a:defPPr>
              <a:defRPr lang="en-US"/>
            </a:defPPr>
            <a:lvl1pPr algn="ctr">
              <a:lnSpc>
                <a:spcPts val="4239"/>
              </a:lnSpc>
              <a:defRPr sz="4800" b="1" spc="187">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defRPr>
            </a:lvl1pPr>
          </a:lstStyle>
          <a:p>
            <a:r>
              <a:rPr lang="zh-TW" altLang="en-US" dirty="0"/>
              <a:t>以</a:t>
            </a:r>
            <a:r>
              <a:rPr lang="en-US" altLang="zh-TW" dirty="0"/>
              <a:t>Grid Search</a:t>
            </a:r>
            <a:r>
              <a:rPr lang="zh-TW" altLang="en-US" dirty="0"/>
              <a:t>進行超參數搜尋設定</a:t>
            </a:r>
            <a:endParaRPr lang="en-US" dirty="0">
              <a:sym typeface="Blink Twice"/>
            </a:endParaRPr>
          </a:p>
        </p:txBody>
      </p:sp>
      <p:sp>
        <p:nvSpPr>
          <p:cNvPr id="29" name="TextBox 29">
            <a:extLst>
              <a:ext uri="{FF2B5EF4-FFF2-40B4-BE49-F238E27FC236}">
                <a16:creationId xmlns:a16="http://schemas.microsoft.com/office/drawing/2014/main" id="{204F0746-E5EC-341D-9579-7CAB4BA27F5C}"/>
              </a:ext>
            </a:extLst>
          </p:cNvPr>
          <p:cNvSpPr txBox="1"/>
          <p:nvPr/>
        </p:nvSpPr>
        <p:spPr>
          <a:xfrm>
            <a:off x="2641453" y="2358018"/>
            <a:ext cx="12903347" cy="5757282"/>
          </a:xfrm>
          <a:prstGeom prst="rect">
            <a:avLst/>
          </a:prstGeom>
        </p:spPr>
        <p:txBody>
          <a:bodyPr wrap="square" lIns="0" tIns="0" rIns="0" bIns="0" rtlCol="0" anchor="t">
            <a:spAutoFit/>
          </a:bodyPr>
          <a:lstStyle/>
          <a:p>
            <a:pPr marL="457200" indent="-457200">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選用</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Grid Search</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作為基準搜尋方法，確保搜尋過程可重現且不受演算法隨機性影響，使各模型與特徵版本的結果具一致性與公平性。</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先採用傳統的</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Grid Search</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方式，針對不同模型與特徵維度</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(81</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維與</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312</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進行超參數搜尋。</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超參數的搜尋範圍與初始值依官方文件及文獻建議設定，以確保範圍合理。</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39" name="投影片編號版面配置區 38">
            <a:extLst>
              <a:ext uri="{FF2B5EF4-FFF2-40B4-BE49-F238E27FC236}">
                <a16:creationId xmlns:a16="http://schemas.microsoft.com/office/drawing/2014/main" id="{EA207E02-1CF4-E4BE-4C3C-0B447949DC43}"/>
              </a:ext>
            </a:extLst>
          </p:cNvPr>
          <p:cNvSpPr>
            <a:spLocks noGrp="1"/>
          </p:cNvSpPr>
          <p:nvPr>
            <p:ph type="sldNum" sz="quarter" idx="12"/>
          </p:nvPr>
        </p:nvSpPr>
        <p:spPr/>
        <p:txBody>
          <a:bodyPr/>
          <a:lstStyle/>
          <a:p>
            <a:fld id="{B6F15528-21DE-4FAA-801E-634DDDAF4B2B}" type="slidenum">
              <a:rPr lang="en-US" smtClean="0"/>
              <a:pPr/>
              <a:t>27</a:t>
            </a:fld>
            <a:endParaRPr lang="en-US"/>
          </a:p>
        </p:txBody>
      </p:sp>
      <p:graphicFrame>
        <p:nvGraphicFramePr>
          <p:cNvPr id="2" name="資料庫圖表 1">
            <a:extLst>
              <a:ext uri="{FF2B5EF4-FFF2-40B4-BE49-F238E27FC236}">
                <a16:creationId xmlns:a16="http://schemas.microsoft.com/office/drawing/2014/main" id="{E9AC70FA-4761-FB68-B43E-5EB179561FAB}"/>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033469888"/>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13">
            <a:extLst>
              <a:ext uri="{FF2B5EF4-FFF2-40B4-BE49-F238E27FC236}">
                <a16:creationId xmlns:a16="http://schemas.microsoft.com/office/drawing/2014/main" id="{A02F830D-E3F3-4B49-8DAB-1D2DC6AD416D}"/>
              </a:ext>
            </a:extLst>
          </p:cNvPr>
          <p:cNvGrpSpPr/>
          <p:nvPr/>
        </p:nvGrpSpPr>
        <p:grpSpPr>
          <a:xfrm>
            <a:off x="473221" y="1573914"/>
            <a:ext cx="17367467" cy="7776600"/>
            <a:chOff x="0" y="0"/>
            <a:chExt cx="6762470" cy="3156468"/>
          </a:xfrm>
        </p:grpSpPr>
        <p:sp>
          <p:nvSpPr>
            <p:cNvPr id="22" name="Freeform 14">
              <a:extLst>
                <a:ext uri="{FF2B5EF4-FFF2-40B4-BE49-F238E27FC236}">
                  <a16:creationId xmlns:a16="http://schemas.microsoft.com/office/drawing/2014/main" id="{1AD6EEB5-6F41-4B7E-93F4-ABEBF85BE313}"/>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23" name="Freeform 15">
              <a:extLst>
                <a:ext uri="{FF2B5EF4-FFF2-40B4-BE49-F238E27FC236}">
                  <a16:creationId xmlns:a16="http://schemas.microsoft.com/office/drawing/2014/main" id="{58AA6316-F086-44C7-BA8A-F19594F4D9C7}"/>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a:p>
          </p:txBody>
        </p:sp>
        <p:sp>
          <p:nvSpPr>
            <p:cNvPr id="24" name="Freeform 16">
              <a:extLst>
                <a:ext uri="{FF2B5EF4-FFF2-40B4-BE49-F238E27FC236}">
                  <a16:creationId xmlns:a16="http://schemas.microsoft.com/office/drawing/2014/main" id="{96F73A6C-1C2A-4544-80FB-A9889AA198A7}"/>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3" name="TextBox 25">
            <a:extLst>
              <a:ext uri="{FF2B5EF4-FFF2-40B4-BE49-F238E27FC236}">
                <a16:creationId xmlns:a16="http://schemas.microsoft.com/office/drawing/2014/main" id="{11387F64-A2B5-FF2F-E289-5B5B8A6F818D}"/>
              </a:ext>
            </a:extLst>
          </p:cNvPr>
          <p:cNvSpPr txBox="1"/>
          <p:nvPr/>
        </p:nvSpPr>
        <p:spPr>
          <a:xfrm>
            <a:off x="4145726" y="520203"/>
            <a:ext cx="9996548" cy="545214"/>
          </a:xfrm>
          <a:prstGeom prst="rect">
            <a:avLst/>
          </a:prstGeom>
        </p:spPr>
        <p:txBody>
          <a:bodyPr wrap="square" lIns="0" tIns="0" rIns="0" bIns="0" rtlCol="0" anchor="t">
            <a:spAutoFit/>
          </a:bodyPr>
          <a:lstStyle/>
          <a:p>
            <a:pPr algn="ctr">
              <a:lnSpc>
                <a:spcPts val="4239"/>
              </a:lnSpc>
            </a:pP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SVR</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超參數設定與最佳參數組合</a:t>
            </a:r>
          </a:p>
        </p:txBody>
      </p:sp>
      <p:pic>
        <p:nvPicPr>
          <p:cNvPr id="13" name="圖片 12">
            <a:extLst>
              <a:ext uri="{FF2B5EF4-FFF2-40B4-BE49-F238E27FC236}">
                <a16:creationId xmlns:a16="http://schemas.microsoft.com/office/drawing/2014/main" id="{0255E669-2C24-B241-FF83-D919BF92544D}"/>
              </a:ext>
            </a:extLst>
          </p:cNvPr>
          <p:cNvPicPr>
            <a:picLocks noChangeAspect="1"/>
          </p:cNvPicPr>
          <p:nvPr/>
        </p:nvPicPr>
        <p:blipFill>
          <a:blip r:embed="rId5"/>
          <a:stretch>
            <a:fillRect/>
          </a:stretch>
        </p:blipFill>
        <p:spPr>
          <a:xfrm>
            <a:off x="914400" y="1690051"/>
            <a:ext cx="8093009" cy="4053518"/>
          </a:xfrm>
          <a:prstGeom prst="rect">
            <a:avLst/>
          </a:prstGeom>
        </p:spPr>
      </p:pic>
      <p:pic>
        <p:nvPicPr>
          <p:cNvPr id="14" name="圖片 13">
            <a:extLst>
              <a:ext uri="{FF2B5EF4-FFF2-40B4-BE49-F238E27FC236}">
                <a16:creationId xmlns:a16="http://schemas.microsoft.com/office/drawing/2014/main" id="{4CABB372-4F71-97DA-FEBC-66A3DC0145EA}"/>
              </a:ext>
            </a:extLst>
          </p:cNvPr>
          <p:cNvPicPr>
            <a:picLocks noChangeAspect="1"/>
          </p:cNvPicPr>
          <p:nvPr/>
        </p:nvPicPr>
        <p:blipFill>
          <a:blip r:embed="rId6"/>
          <a:stretch>
            <a:fillRect/>
          </a:stretch>
        </p:blipFill>
        <p:spPr>
          <a:xfrm>
            <a:off x="993946" y="5397190"/>
            <a:ext cx="7959901" cy="3986849"/>
          </a:xfrm>
          <a:prstGeom prst="rect">
            <a:avLst/>
          </a:prstGeom>
        </p:spPr>
      </p:pic>
      <p:pic>
        <p:nvPicPr>
          <p:cNvPr id="15" name="圖片 14">
            <a:extLst>
              <a:ext uri="{FF2B5EF4-FFF2-40B4-BE49-F238E27FC236}">
                <a16:creationId xmlns:a16="http://schemas.microsoft.com/office/drawing/2014/main" id="{C17CFDE5-F966-946D-E618-01187706E6C0}"/>
              </a:ext>
            </a:extLst>
          </p:cNvPr>
          <p:cNvPicPr>
            <a:picLocks noChangeAspect="1"/>
          </p:cNvPicPr>
          <p:nvPr/>
        </p:nvPicPr>
        <p:blipFill>
          <a:blip r:embed="rId7"/>
          <a:stretch>
            <a:fillRect/>
          </a:stretch>
        </p:blipFill>
        <p:spPr>
          <a:xfrm>
            <a:off x="9397819" y="1690051"/>
            <a:ext cx="7955692" cy="3984740"/>
          </a:xfrm>
          <a:prstGeom prst="rect">
            <a:avLst/>
          </a:prstGeom>
        </p:spPr>
      </p:pic>
      <p:pic>
        <p:nvPicPr>
          <p:cNvPr id="16" name="圖片 15">
            <a:extLst>
              <a:ext uri="{FF2B5EF4-FFF2-40B4-BE49-F238E27FC236}">
                <a16:creationId xmlns:a16="http://schemas.microsoft.com/office/drawing/2014/main" id="{A4122BB2-0F84-ACB9-9BE9-34C22A4E52F8}"/>
              </a:ext>
            </a:extLst>
          </p:cNvPr>
          <p:cNvPicPr>
            <a:picLocks noChangeAspect="1"/>
          </p:cNvPicPr>
          <p:nvPr/>
        </p:nvPicPr>
        <p:blipFill>
          <a:blip r:embed="rId8"/>
          <a:stretch>
            <a:fillRect/>
          </a:stretch>
        </p:blipFill>
        <p:spPr>
          <a:xfrm>
            <a:off x="9547514" y="5397190"/>
            <a:ext cx="7842440" cy="3928016"/>
          </a:xfrm>
          <a:prstGeom prst="rect">
            <a:avLst/>
          </a:prstGeom>
        </p:spPr>
      </p:pic>
      <p:sp>
        <p:nvSpPr>
          <p:cNvPr id="17" name="文字方塊 16">
            <a:extLst>
              <a:ext uri="{FF2B5EF4-FFF2-40B4-BE49-F238E27FC236}">
                <a16:creationId xmlns:a16="http://schemas.microsoft.com/office/drawing/2014/main" id="{1578B570-59E3-68AD-AA70-6F13A4D34E23}"/>
              </a:ext>
            </a:extLst>
          </p:cNvPr>
          <p:cNvSpPr txBox="1"/>
          <p:nvPr/>
        </p:nvSpPr>
        <p:spPr>
          <a:xfrm>
            <a:off x="9296947" y="5340466"/>
            <a:ext cx="1675853" cy="584775"/>
          </a:xfrm>
          <a:prstGeom prst="rect">
            <a:avLst/>
          </a:prstGeom>
          <a:solidFill>
            <a:schemeClr val="bg1"/>
          </a:solidFill>
          <a:ln>
            <a:solidFill>
              <a:schemeClr val="accent2"/>
            </a:solidFill>
          </a:ln>
        </p:spPr>
        <p:txBody>
          <a:bodyPr wrap="square" rtlCol="0">
            <a:spAutoFit/>
          </a:bodyPr>
          <a:lstStyle/>
          <a:p>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SVR-US</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32C0E717-822C-E647-168C-A8DB64D887DE}"/>
              </a:ext>
            </a:extLst>
          </p:cNvPr>
          <p:cNvSpPr txBox="1"/>
          <p:nvPr/>
        </p:nvSpPr>
        <p:spPr>
          <a:xfrm>
            <a:off x="776868" y="5340465"/>
            <a:ext cx="1675853" cy="584775"/>
          </a:xfrm>
          <a:prstGeom prst="rect">
            <a:avLst/>
          </a:prstGeom>
          <a:solidFill>
            <a:schemeClr val="bg1"/>
          </a:solidFill>
          <a:ln>
            <a:solidFill>
              <a:schemeClr val="accent2"/>
            </a:solidFill>
          </a:ln>
        </p:spPr>
        <p:txBody>
          <a:bodyPr wrap="square" rtlCol="0">
            <a:spAutoFit/>
          </a:bodyPr>
          <a:lstStyle/>
          <a:p>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SVR-NS</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E11FAE9F-F0CF-E778-AA2C-8AF35E0BFAE2}"/>
              </a:ext>
            </a:extLst>
          </p:cNvPr>
          <p:cNvSpPr txBox="1"/>
          <p:nvPr/>
        </p:nvSpPr>
        <p:spPr>
          <a:xfrm>
            <a:off x="776869" y="1573914"/>
            <a:ext cx="1675853" cy="584775"/>
          </a:xfrm>
          <a:prstGeom prst="rect">
            <a:avLst/>
          </a:prstGeom>
          <a:solidFill>
            <a:schemeClr val="bg1"/>
          </a:solidFill>
          <a:ln>
            <a:solidFill>
              <a:schemeClr val="accent2"/>
            </a:solidFill>
          </a:ln>
        </p:spPr>
        <p:txBody>
          <a:bodyPr wrap="square" rtlCol="0">
            <a:spAutoFit/>
          </a:bodyPr>
          <a:lstStyle/>
          <a:p>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SVR-NF</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6C5A5FF7-BE3B-D158-0FAC-5902FD68BC2C}"/>
              </a:ext>
            </a:extLst>
          </p:cNvPr>
          <p:cNvSpPr txBox="1"/>
          <p:nvPr/>
        </p:nvSpPr>
        <p:spPr>
          <a:xfrm>
            <a:off x="9254961" y="1589559"/>
            <a:ext cx="1675853" cy="584775"/>
          </a:xfrm>
          <a:prstGeom prst="rect">
            <a:avLst/>
          </a:prstGeom>
          <a:solidFill>
            <a:schemeClr val="bg1"/>
          </a:solidFill>
          <a:ln>
            <a:solidFill>
              <a:schemeClr val="accent2"/>
            </a:solidFill>
          </a:ln>
        </p:spPr>
        <p:txBody>
          <a:bodyPr wrap="square" rtlCol="0">
            <a:spAutoFit/>
          </a:bodyPr>
          <a:lstStyle/>
          <a:p>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SVR-UF</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4C667591-537D-308B-2579-3577A57F5371}"/>
              </a:ext>
            </a:extLst>
          </p:cNvPr>
          <p:cNvSpPr txBox="1"/>
          <p:nvPr/>
        </p:nvSpPr>
        <p:spPr>
          <a:xfrm>
            <a:off x="0" y="1049921"/>
            <a:ext cx="1814206" cy="646331"/>
          </a:xfrm>
          <a:prstGeom prst="rect">
            <a:avLst/>
          </a:prstGeom>
          <a:noFill/>
        </p:spPr>
        <p:txBody>
          <a:bodyPr wrap="square">
            <a:spAutoFit/>
          </a:bodyPr>
          <a:lstStyle/>
          <a:p>
            <a:r>
              <a:rPr lang="zh-TW" altLang="en-US" sz="36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標準化</a:t>
            </a:r>
            <a:endParaRPr lang="zh-TW" altLang="en-US" sz="3600" dirty="0"/>
          </a:p>
        </p:txBody>
      </p:sp>
      <p:sp>
        <p:nvSpPr>
          <p:cNvPr id="6" name="文字方塊 5">
            <a:extLst>
              <a:ext uri="{FF2B5EF4-FFF2-40B4-BE49-F238E27FC236}">
                <a16:creationId xmlns:a16="http://schemas.microsoft.com/office/drawing/2014/main" id="{510B95B7-9A57-2863-4895-51D9131917EE}"/>
              </a:ext>
            </a:extLst>
          </p:cNvPr>
          <p:cNvSpPr txBox="1"/>
          <p:nvPr/>
        </p:nvSpPr>
        <p:spPr>
          <a:xfrm>
            <a:off x="8875418" y="1043260"/>
            <a:ext cx="2097382" cy="646331"/>
          </a:xfrm>
          <a:prstGeom prst="rect">
            <a:avLst/>
          </a:prstGeom>
          <a:noFill/>
        </p:spPr>
        <p:txBody>
          <a:bodyPr wrap="square">
            <a:spAutoFit/>
          </a:bodyPr>
          <a:lstStyle/>
          <a:p>
            <a:r>
              <a:rPr lang="zh-TW" altLang="en-US" sz="36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非標準化</a:t>
            </a:r>
            <a:endParaRPr lang="zh-TW" altLang="en-US" sz="3600" dirty="0"/>
          </a:p>
        </p:txBody>
      </p:sp>
      <p:sp>
        <p:nvSpPr>
          <p:cNvPr id="2" name="矩形 1">
            <a:extLst>
              <a:ext uri="{FF2B5EF4-FFF2-40B4-BE49-F238E27FC236}">
                <a16:creationId xmlns:a16="http://schemas.microsoft.com/office/drawing/2014/main" id="{B185626B-79B1-BC32-7086-F74337EAC660}"/>
              </a:ext>
            </a:extLst>
          </p:cNvPr>
          <p:cNvSpPr/>
          <p:nvPr/>
        </p:nvSpPr>
        <p:spPr>
          <a:xfrm>
            <a:off x="7772400" y="1696252"/>
            <a:ext cx="1165139" cy="3697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矩形 3">
            <a:extLst>
              <a:ext uri="{FF2B5EF4-FFF2-40B4-BE49-F238E27FC236}">
                <a16:creationId xmlns:a16="http://schemas.microsoft.com/office/drawing/2014/main" id="{A040E041-A43C-7F87-4A63-79F2B6B79D0F}"/>
              </a:ext>
            </a:extLst>
          </p:cNvPr>
          <p:cNvSpPr/>
          <p:nvPr/>
        </p:nvSpPr>
        <p:spPr>
          <a:xfrm>
            <a:off x="16119555" y="1720692"/>
            <a:ext cx="1165139" cy="3697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EF71FA90-7313-A376-EF8C-77DD8D479551}"/>
              </a:ext>
            </a:extLst>
          </p:cNvPr>
          <p:cNvSpPr/>
          <p:nvPr/>
        </p:nvSpPr>
        <p:spPr>
          <a:xfrm>
            <a:off x="7750192" y="5497223"/>
            <a:ext cx="1165139" cy="33800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EB9714FD-53E3-8340-8099-F5ECFDB07174}"/>
              </a:ext>
            </a:extLst>
          </p:cNvPr>
          <p:cNvSpPr/>
          <p:nvPr/>
        </p:nvSpPr>
        <p:spPr>
          <a:xfrm>
            <a:off x="16119555" y="5524500"/>
            <a:ext cx="1165139" cy="33800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資料庫圖表 8">
            <a:extLst>
              <a:ext uri="{FF2B5EF4-FFF2-40B4-BE49-F238E27FC236}">
                <a16:creationId xmlns:a16="http://schemas.microsoft.com/office/drawing/2014/main" id="{06BE7936-2C07-E781-126C-AFE836088680}"/>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88217002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a:extLst>
              <a:ext uri="{FF2B5EF4-FFF2-40B4-BE49-F238E27FC236}">
                <a16:creationId xmlns:a16="http://schemas.microsoft.com/office/drawing/2014/main" id="{F0E8E4B1-3CD9-40AD-9A80-ED3C21D238B6}"/>
              </a:ext>
            </a:extLst>
          </p:cNvPr>
          <p:cNvGrpSpPr/>
          <p:nvPr/>
        </p:nvGrpSpPr>
        <p:grpSpPr>
          <a:xfrm>
            <a:off x="167188" y="1666226"/>
            <a:ext cx="18120812" cy="8620774"/>
            <a:chOff x="0" y="0"/>
            <a:chExt cx="6762470" cy="3156468"/>
          </a:xfrm>
        </p:grpSpPr>
        <p:sp>
          <p:nvSpPr>
            <p:cNvPr id="14" name="Freeform 14">
              <a:extLst>
                <a:ext uri="{FF2B5EF4-FFF2-40B4-BE49-F238E27FC236}">
                  <a16:creationId xmlns:a16="http://schemas.microsoft.com/office/drawing/2014/main" id="{7381A6CF-1FA9-4450-9FE2-D7B06A557954}"/>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4CEEA6E5-4DE1-4BA4-BEE4-AA3EFC9764FB}"/>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a:p>
          </p:txBody>
        </p:sp>
        <p:sp>
          <p:nvSpPr>
            <p:cNvPr id="16" name="Freeform 16">
              <a:extLst>
                <a:ext uri="{FF2B5EF4-FFF2-40B4-BE49-F238E27FC236}">
                  <a16:creationId xmlns:a16="http://schemas.microsoft.com/office/drawing/2014/main" id="{2C2E7B79-61DF-4618-8179-3DF8A472F2BB}"/>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a:xfrm>
            <a:off x="16078200" y="9655175"/>
            <a:ext cx="2133600" cy="365125"/>
          </a:xfrm>
        </p:spPr>
        <p:txBody>
          <a:bodyPr/>
          <a:lstStyle/>
          <a:p>
            <a:fld id="{B6F15528-21DE-4FAA-801E-634DDDAF4B2B}" type="slidenum">
              <a:rPr lang="en-US" smtClean="0"/>
              <a:pPr/>
              <a:t>29</a:t>
            </a:fld>
            <a:endParaRPr lang="en-US" dirty="0"/>
          </a:p>
        </p:txBody>
      </p:sp>
      <p:sp>
        <p:nvSpPr>
          <p:cNvPr id="3" name="TextBox 25">
            <a:extLst>
              <a:ext uri="{FF2B5EF4-FFF2-40B4-BE49-F238E27FC236}">
                <a16:creationId xmlns:a16="http://schemas.microsoft.com/office/drawing/2014/main" id="{11387F64-A2B5-FF2F-E289-5B5B8A6F818D}"/>
              </a:ext>
            </a:extLst>
          </p:cNvPr>
          <p:cNvSpPr txBox="1"/>
          <p:nvPr/>
        </p:nvSpPr>
        <p:spPr>
          <a:xfrm>
            <a:off x="2742592" y="881277"/>
            <a:ext cx="12389894" cy="545214"/>
          </a:xfrm>
          <a:prstGeom prst="rect">
            <a:avLst/>
          </a:prstGeom>
        </p:spPr>
        <p:txBody>
          <a:bodyPr wrap="square" lIns="0" tIns="0" rIns="0" bIns="0" rtlCol="0" anchor="t">
            <a:spAutoFit/>
          </a:bodyPr>
          <a:lstStyle/>
          <a:p>
            <a:pPr algn="ctr">
              <a:lnSpc>
                <a:spcPts val="4239"/>
              </a:lnSpc>
            </a:pP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Random Forest</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超參數設定與最佳參數組合</a:t>
            </a:r>
          </a:p>
        </p:txBody>
      </p:sp>
      <p:sp>
        <p:nvSpPr>
          <p:cNvPr id="18" name="文字方塊 17">
            <a:extLst>
              <a:ext uri="{FF2B5EF4-FFF2-40B4-BE49-F238E27FC236}">
                <a16:creationId xmlns:a16="http://schemas.microsoft.com/office/drawing/2014/main" id="{32C0E717-822C-E647-168C-A8DB64D887DE}"/>
              </a:ext>
            </a:extLst>
          </p:cNvPr>
          <p:cNvSpPr txBox="1"/>
          <p:nvPr/>
        </p:nvSpPr>
        <p:spPr>
          <a:xfrm>
            <a:off x="13411200" y="1740430"/>
            <a:ext cx="1219200" cy="584775"/>
          </a:xfrm>
          <a:prstGeom prst="rect">
            <a:avLst/>
          </a:prstGeom>
          <a:solidFill>
            <a:schemeClr val="bg1"/>
          </a:solidFill>
          <a:ln>
            <a:solidFill>
              <a:schemeClr val="accent2"/>
            </a:solidFill>
          </a:ln>
        </p:spPr>
        <p:txBody>
          <a:bodyPr wrap="square" rtlCol="0">
            <a:spAutoFit/>
          </a:bodyPr>
          <a:lstStyle/>
          <a:p>
            <a:pPr algn="ctr"/>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RF-S</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E11FAE9F-F0CF-E778-AA2C-8AF35E0BFAE2}"/>
              </a:ext>
            </a:extLst>
          </p:cNvPr>
          <p:cNvSpPr txBox="1"/>
          <p:nvPr/>
        </p:nvSpPr>
        <p:spPr>
          <a:xfrm>
            <a:off x="4021812" y="1737785"/>
            <a:ext cx="1219200" cy="584775"/>
          </a:xfrm>
          <a:prstGeom prst="rect">
            <a:avLst/>
          </a:prstGeom>
          <a:solidFill>
            <a:schemeClr val="bg1"/>
          </a:solidFill>
          <a:ln>
            <a:solidFill>
              <a:schemeClr val="accent2"/>
            </a:solidFill>
          </a:ln>
        </p:spPr>
        <p:txBody>
          <a:bodyPr wrap="square" rtlCol="0">
            <a:spAutoFit/>
          </a:bodyPr>
          <a:lstStyle/>
          <a:p>
            <a:pPr algn="ctr"/>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RF-F</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70BDCA22-B2DA-5153-3578-A2F6EB19D1EB}"/>
              </a:ext>
            </a:extLst>
          </p:cNvPr>
          <p:cNvPicPr>
            <a:picLocks noChangeAspect="1"/>
          </p:cNvPicPr>
          <p:nvPr/>
        </p:nvPicPr>
        <p:blipFill>
          <a:blip r:embed="rId5"/>
          <a:stretch>
            <a:fillRect/>
          </a:stretch>
        </p:blipFill>
        <p:spPr>
          <a:xfrm>
            <a:off x="228600" y="2368565"/>
            <a:ext cx="8783283" cy="5975335"/>
          </a:xfrm>
          <a:prstGeom prst="rect">
            <a:avLst/>
          </a:prstGeom>
        </p:spPr>
      </p:pic>
      <p:pic>
        <p:nvPicPr>
          <p:cNvPr id="10" name="圖片 9">
            <a:extLst>
              <a:ext uri="{FF2B5EF4-FFF2-40B4-BE49-F238E27FC236}">
                <a16:creationId xmlns:a16="http://schemas.microsoft.com/office/drawing/2014/main" id="{79FD0C28-6A9B-F51D-9D3F-76BCD5867DD2}"/>
              </a:ext>
            </a:extLst>
          </p:cNvPr>
          <p:cNvPicPr>
            <a:picLocks noChangeAspect="1"/>
          </p:cNvPicPr>
          <p:nvPr/>
        </p:nvPicPr>
        <p:blipFill>
          <a:blip r:embed="rId6"/>
          <a:stretch>
            <a:fillRect/>
          </a:stretch>
        </p:blipFill>
        <p:spPr>
          <a:xfrm>
            <a:off x="9276119" y="2368565"/>
            <a:ext cx="8843086" cy="5964483"/>
          </a:xfrm>
          <a:prstGeom prst="rect">
            <a:avLst/>
          </a:prstGeom>
        </p:spPr>
      </p:pic>
      <p:sp>
        <p:nvSpPr>
          <p:cNvPr id="2" name="矩形 1">
            <a:extLst>
              <a:ext uri="{FF2B5EF4-FFF2-40B4-BE49-F238E27FC236}">
                <a16:creationId xmlns:a16="http://schemas.microsoft.com/office/drawing/2014/main" id="{E7B0053E-AD80-AF6F-2DF0-D19261A21EB6}"/>
              </a:ext>
            </a:extLst>
          </p:cNvPr>
          <p:cNvSpPr/>
          <p:nvPr/>
        </p:nvSpPr>
        <p:spPr>
          <a:xfrm>
            <a:off x="7772400" y="2445940"/>
            <a:ext cx="1165139" cy="54724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矩形 3">
            <a:extLst>
              <a:ext uri="{FF2B5EF4-FFF2-40B4-BE49-F238E27FC236}">
                <a16:creationId xmlns:a16="http://schemas.microsoft.com/office/drawing/2014/main" id="{A74C1080-247A-C481-78F2-D22DA6E3B863}"/>
              </a:ext>
            </a:extLst>
          </p:cNvPr>
          <p:cNvSpPr/>
          <p:nvPr/>
        </p:nvSpPr>
        <p:spPr>
          <a:xfrm>
            <a:off x="16875782" y="2449029"/>
            <a:ext cx="1165139" cy="54724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aphicFrame>
        <p:nvGraphicFramePr>
          <p:cNvPr id="5" name="資料庫圖表 4">
            <a:extLst>
              <a:ext uri="{FF2B5EF4-FFF2-40B4-BE49-F238E27FC236}">
                <a16:creationId xmlns:a16="http://schemas.microsoft.com/office/drawing/2014/main" id="{2DB64E23-3A50-0969-C3D6-C7D0FB265D09}"/>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07559986"/>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3">
            <a:extLst>
              <a:ext uri="{FF2B5EF4-FFF2-40B4-BE49-F238E27FC236}">
                <a16:creationId xmlns:a16="http://schemas.microsoft.com/office/drawing/2014/main" id="{2894A492-7ACC-4818-BB4F-3EE2D705013A}"/>
              </a:ext>
            </a:extLst>
          </p:cNvPr>
          <p:cNvGrpSpPr/>
          <p:nvPr/>
        </p:nvGrpSpPr>
        <p:grpSpPr>
          <a:xfrm>
            <a:off x="167188" y="1666226"/>
            <a:ext cx="18120812" cy="8620774"/>
            <a:chOff x="0" y="0"/>
            <a:chExt cx="6762470" cy="3156468"/>
          </a:xfrm>
        </p:grpSpPr>
        <p:sp>
          <p:nvSpPr>
            <p:cNvPr id="16" name="Freeform 14">
              <a:extLst>
                <a:ext uri="{FF2B5EF4-FFF2-40B4-BE49-F238E27FC236}">
                  <a16:creationId xmlns:a16="http://schemas.microsoft.com/office/drawing/2014/main" id="{36613A0F-D168-484E-9FFD-031CBBCD8239}"/>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7" name="Freeform 15">
              <a:extLst>
                <a:ext uri="{FF2B5EF4-FFF2-40B4-BE49-F238E27FC236}">
                  <a16:creationId xmlns:a16="http://schemas.microsoft.com/office/drawing/2014/main" id="{6E114BA3-2948-4BD4-A47C-91813FA81071}"/>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a:p>
          </p:txBody>
        </p:sp>
        <p:sp>
          <p:nvSpPr>
            <p:cNvPr id="20" name="Freeform 16">
              <a:extLst>
                <a:ext uri="{FF2B5EF4-FFF2-40B4-BE49-F238E27FC236}">
                  <a16:creationId xmlns:a16="http://schemas.microsoft.com/office/drawing/2014/main" id="{8A9750B2-25CC-4352-9FD4-B65CCF9180A7}"/>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a:xfrm>
            <a:off x="16078200" y="9715500"/>
            <a:ext cx="2133600" cy="365125"/>
          </a:xfrm>
        </p:spPr>
        <p:txBody>
          <a:bodyPr/>
          <a:lstStyle/>
          <a:p>
            <a:fld id="{B6F15528-21DE-4FAA-801E-634DDDAF4B2B}" type="slidenum">
              <a:rPr lang="en-US" smtClean="0"/>
              <a:pPr/>
              <a:t>30</a:t>
            </a:fld>
            <a:endParaRPr lang="en-US" dirty="0"/>
          </a:p>
        </p:txBody>
      </p:sp>
      <p:sp>
        <p:nvSpPr>
          <p:cNvPr id="3" name="TextBox 25">
            <a:extLst>
              <a:ext uri="{FF2B5EF4-FFF2-40B4-BE49-F238E27FC236}">
                <a16:creationId xmlns:a16="http://schemas.microsoft.com/office/drawing/2014/main" id="{11387F64-A2B5-FF2F-E289-5B5B8A6F818D}"/>
              </a:ext>
            </a:extLst>
          </p:cNvPr>
          <p:cNvSpPr txBox="1"/>
          <p:nvPr/>
        </p:nvSpPr>
        <p:spPr>
          <a:xfrm>
            <a:off x="3842180" y="922979"/>
            <a:ext cx="10675539" cy="545214"/>
          </a:xfrm>
          <a:prstGeom prst="rect">
            <a:avLst/>
          </a:prstGeom>
        </p:spPr>
        <p:txBody>
          <a:bodyPr wrap="square" lIns="0" tIns="0" rIns="0" bIns="0" rtlCol="0" anchor="t">
            <a:spAutoFit/>
          </a:bodyPr>
          <a:lstStyle/>
          <a:p>
            <a:pPr algn="ctr">
              <a:lnSpc>
                <a:spcPts val="4239"/>
              </a:lnSpc>
            </a:pPr>
            <a:r>
              <a:rPr lang="en-US" altLang="zh-TW"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XGBoost</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超參數設定與最佳參數組合</a:t>
            </a:r>
          </a:p>
        </p:txBody>
      </p:sp>
      <p:sp>
        <p:nvSpPr>
          <p:cNvPr id="18" name="文字方塊 17">
            <a:extLst>
              <a:ext uri="{FF2B5EF4-FFF2-40B4-BE49-F238E27FC236}">
                <a16:creationId xmlns:a16="http://schemas.microsoft.com/office/drawing/2014/main" id="{32C0E717-822C-E647-168C-A8DB64D887DE}"/>
              </a:ext>
            </a:extLst>
          </p:cNvPr>
          <p:cNvSpPr txBox="1"/>
          <p:nvPr/>
        </p:nvSpPr>
        <p:spPr>
          <a:xfrm>
            <a:off x="13411344" y="1895767"/>
            <a:ext cx="1540787" cy="584775"/>
          </a:xfrm>
          <a:prstGeom prst="rect">
            <a:avLst/>
          </a:prstGeom>
          <a:solidFill>
            <a:schemeClr val="bg1"/>
          </a:solidFill>
          <a:ln>
            <a:solidFill>
              <a:schemeClr val="accent2"/>
            </a:solidFill>
          </a:ln>
        </p:spPr>
        <p:txBody>
          <a:bodyPr wrap="square" rtlCol="0">
            <a:spAutoFit/>
          </a:bodyPr>
          <a:lstStyle/>
          <a:p>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XGB-S</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E11FAE9F-F0CF-E778-AA2C-8AF35E0BFAE2}"/>
              </a:ext>
            </a:extLst>
          </p:cNvPr>
          <p:cNvSpPr txBox="1"/>
          <p:nvPr/>
        </p:nvSpPr>
        <p:spPr>
          <a:xfrm>
            <a:off x="4021812" y="1895767"/>
            <a:ext cx="1540788" cy="584775"/>
          </a:xfrm>
          <a:prstGeom prst="rect">
            <a:avLst/>
          </a:prstGeom>
          <a:solidFill>
            <a:schemeClr val="bg1"/>
          </a:solidFill>
          <a:ln>
            <a:solidFill>
              <a:schemeClr val="accent2"/>
            </a:solidFill>
          </a:ln>
        </p:spPr>
        <p:txBody>
          <a:bodyPr wrap="square" rtlCol="0">
            <a:spAutoFit/>
          </a:bodyPr>
          <a:lstStyle/>
          <a:p>
            <a:r>
              <a:rPr lang="en-US" altLang="zh-TW" sz="3200" dirty="0">
                <a:solidFill>
                  <a:schemeClr val="accent1">
                    <a:lumMod val="75000"/>
                  </a:schemeClr>
                </a:solidFill>
                <a:latin typeface="Times New Roman" panose="02020603050405020304" pitchFamily="18" charset="0"/>
                <a:cs typeface="Times New Roman" panose="02020603050405020304" pitchFamily="18" charset="0"/>
              </a:rPr>
              <a:t>XGB-F</a:t>
            </a:r>
            <a:endParaRPr lang="zh-TW" alt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51902BB-30F6-0448-F7C9-9C5D1ED8D44B}"/>
              </a:ext>
            </a:extLst>
          </p:cNvPr>
          <p:cNvPicPr>
            <a:picLocks noChangeAspect="1"/>
          </p:cNvPicPr>
          <p:nvPr/>
        </p:nvPicPr>
        <p:blipFill>
          <a:blip r:embed="rId5"/>
          <a:stretch>
            <a:fillRect/>
          </a:stretch>
        </p:blipFill>
        <p:spPr>
          <a:xfrm>
            <a:off x="514121" y="2720898"/>
            <a:ext cx="8593585" cy="5979765"/>
          </a:xfrm>
          <a:prstGeom prst="rect">
            <a:avLst/>
          </a:prstGeom>
        </p:spPr>
      </p:pic>
      <p:pic>
        <p:nvPicPr>
          <p:cNvPr id="5" name="圖片 4">
            <a:extLst>
              <a:ext uri="{FF2B5EF4-FFF2-40B4-BE49-F238E27FC236}">
                <a16:creationId xmlns:a16="http://schemas.microsoft.com/office/drawing/2014/main" id="{7C17BCD6-D9B4-22E2-33AD-43A98067F771}"/>
              </a:ext>
            </a:extLst>
          </p:cNvPr>
          <p:cNvPicPr>
            <a:picLocks noChangeAspect="1"/>
          </p:cNvPicPr>
          <p:nvPr/>
        </p:nvPicPr>
        <p:blipFill>
          <a:blip r:embed="rId6"/>
          <a:stretch>
            <a:fillRect/>
          </a:stretch>
        </p:blipFill>
        <p:spPr>
          <a:xfrm>
            <a:off x="9296400" y="2720898"/>
            <a:ext cx="8734894" cy="6078093"/>
          </a:xfrm>
          <a:prstGeom prst="rect">
            <a:avLst/>
          </a:prstGeom>
        </p:spPr>
      </p:pic>
      <p:sp>
        <p:nvSpPr>
          <p:cNvPr id="2" name="矩形 1">
            <a:extLst>
              <a:ext uri="{FF2B5EF4-FFF2-40B4-BE49-F238E27FC236}">
                <a16:creationId xmlns:a16="http://schemas.microsoft.com/office/drawing/2014/main" id="{3C7FC368-B39D-49EC-4B74-7822D9386A40}"/>
              </a:ext>
            </a:extLst>
          </p:cNvPr>
          <p:cNvSpPr/>
          <p:nvPr/>
        </p:nvSpPr>
        <p:spPr>
          <a:xfrm>
            <a:off x="7848600" y="2781300"/>
            <a:ext cx="1165139" cy="54724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矩形 5">
            <a:extLst>
              <a:ext uri="{FF2B5EF4-FFF2-40B4-BE49-F238E27FC236}">
                <a16:creationId xmlns:a16="http://schemas.microsoft.com/office/drawing/2014/main" id="{AB6A81B5-C0A9-3EE0-48AA-F744BC715D4E}"/>
              </a:ext>
            </a:extLst>
          </p:cNvPr>
          <p:cNvSpPr/>
          <p:nvPr/>
        </p:nvSpPr>
        <p:spPr>
          <a:xfrm>
            <a:off x="16767676" y="2857500"/>
            <a:ext cx="1165139" cy="54724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aphicFrame>
        <p:nvGraphicFramePr>
          <p:cNvPr id="7" name="資料庫圖表 6">
            <a:extLst>
              <a:ext uri="{FF2B5EF4-FFF2-40B4-BE49-F238E27FC236}">
                <a16:creationId xmlns:a16="http://schemas.microsoft.com/office/drawing/2014/main" id="{D413141A-C397-495C-FDA7-803CF4A894BC}"/>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89377759"/>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6" name="投影片編號版面配置區 25">
            <a:extLst>
              <a:ext uri="{FF2B5EF4-FFF2-40B4-BE49-F238E27FC236}">
                <a16:creationId xmlns:a16="http://schemas.microsoft.com/office/drawing/2014/main" id="{B5A55885-CB54-4B83-4C0D-9AAEB522E90B}"/>
              </a:ext>
            </a:extLst>
          </p:cNvPr>
          <p:cNvSpPr>
            <a:spLocks noGrp="1"/>
          </p:cNvSpPr>
          <p:nvPr>
            <p:ph type="sldNum" sz="quarter" idx="12"/>
          </p:nvPr>
        </p:nvSpPr>
        <p:spPr/>
        <p:txBody>
          <a:bodyPr/>
          <a:lstStyle/>
          <a:p>
            <a:fld id="{B6F15528-21DE-4FAA-801E-634DDDAF4B2B}" type="slidenum">
              <a:rPr lang="en-US" smtClean="0"/>
              <a:pPr/>
              <a:t>31</a:t>
            </a:fld>
            <a:endParaRPr lang="en-US"/>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3CBAAFFF-0E4C-5FE9-CDD0-47DF96A9A164}"/>
                  </a:ext>
                </a:extLst>
              </p:cNvPr>
              <p:cNvGraphicFramePr>
                <a:graphicFrameLocks noGrp="1"/>
              </p:cNvGraphicFramePr>
              <p:nvPr>
                <p:extLst>
                  <p:ext uri="{D42A27DB-BD31-4B8C-83A1-F6EECF244321}">
                    <p14:modId xmlns:p14="http://schemas.microsoft.com/office/powerpoint/2010/main" val="2248586766"/>
                  </p:ext>
                </p:extLst>
              </p:nvPr>
            </p:nvGraphicFramePr>
            <p:xfrm>
              <a:off x="985741" y="1818697"/>
              <a:ext cx="16540259" cy="6072125"/>
            </p:xfrm>
            <a:graphic>
              <a:graphicData uri="http://schemas.openxmlformats.org/drawingml/2006/table">
                <a:tbl>
                  <a:tblPr firstRow="1" bandRow="1">
                    <a:tableStyleId>{5C22544A-7EE6-4342-B048-85BDC9FD1C3A}</a:tableStyleId>
                  </a:tblPr>
                  <a:tblGrid>
                    <a:gridCol w="2443259">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gridCol w="7467600">
                      <a:extLst>
                        <a:ext uri="{9D8B030D-6E8A-4147-A177-3AD203B41FA5}">
                          <a16:colId xmlns:a16="http://schemas.microsoft.com/office/drawing/2014/main" val="20002"/>
                        </a:ext>
                      </a:extLst>
                    </a:gridCol>
                  </a:tblGrid>
                  <a:tr h="583184">
                    <a:tc>
                      <a:txBody>
                        <a:bodyPr/>
                        <a:lstStyle/>
                        <a:p>
                          <a:pPr algn="ctr"/>
                          <a:r>
                            <a:rPr sz="3200" dirty="0" err="1">
                              <a:latin typeface="微軟正黑體" panose="020B0604030504040204" pitchFamily="34" charset="-120"/>
                              <a:ea typeface="微軟正黑體" panose="020B0604030504040204" pitchFamily="34" charset="-120"/>
                              <a:cs typeface="Times New Roman" panose="02020603050405020304" pitchFamily="18" charset="0"/>
                            </a:rPr>
                            <a:t>指標</a:t>
                          </a:r>
                          <a:endParaRPr sz="3200" dirty="0">
                            <a:latin typeface="微軟正黑體" panose="020B0604030504040204" pitchFamily="34" charset="-120"/>
                            <a:ea typeface="微軟正黑體" panose="020B0604030504040204" pitchFamily="34" charset="-120"/>
                            <a:cs typeface="Times New Roman" panose="02020603050405020304" pitchFamily="18" charset="0"/>
                          </a:endParaRPr>
                        </a:p>
                      </a:txBody>
                      <a:tcPr/>
                    </a:tc>
                    <a:tc>
                      <a:txBody>
                        <a:bodyPr/>
                        <a:lstStyle/>
                        <a:p>
                          <a:pPr algn="ctr"/>
                          <a:r>
                            <a:rPr sz="3200">
                              <a:latin typeface="微軟正黑體" panose="020B0604030504040204" pitchFamily="34" charset="-120"/>
                              <a:ea typeface="微軟正黑體" panose="020B0604030504040204" pitchFamily="34" charset="-120"/>
                              <a:cs typeface="Times New Roman" panose="02020603050405020304" pitchFamily="18" charset="0"/>
                            </a:rPr>
                            <a:t>公式</a:t>
                          </a:r>
                        </a:p>
                      </a:txBody>
                      <a:tcPr/>
                    </a:tc>
                    <a:tc>
                      <a:txBody>
                        <a:bodyPr/>
                        <a:lstStyle/>
                        <a:p>
                          <a:pPr algn="ctr"/>
                          <a:r>
                            <a:rPr lang="zh-TW" altLang="en-US" sz="3200" dirty="0">
                              <a:latin typeface="微軟正黑體" panose="020B0604030504040204" pitchFamily="34" charset="-120"/>
                              <a:ea typeface="微軟正黑體" panose="020B0604030504040204" pitchFamily="34" charset="-120"/>
                              <a:cs typeface="Times New Roman" panose="02020603050405020304" pitchFamily="18" charset="0"/>
                            </a:rPr>
                            <a:t>說明</a:t>
                          </a:r>
                          <a:endParaRPr sz="3200" dirty="0">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0"/>
                      </a:ext>
                    </a:extLst>
                  </a:tr>
                  <a:tr h="874777">
                    <a:tc>
                      <a:txBody>
                        <a:bodyPr/>
                        <a:lstStyle/>
                        <a:p>
                          <a:r>
                            <a:rPr sz="3200" dirty="0">
                              <a:latin typeface="Times New Roman" panose="02020603050405020304" pitchFamily="18" charset="0"/>
                              <a:ea typeface="微軟正黑體" panose="020B0604030504040204" pitchFamily="34" charset="-120"/>
                              <a:cs typeface="Times New Roman" panose="02020603050405020304" pitchFamily="18" charset="0"/>
                            </a:rPr>
                            <a:t>RMSE</a:t>
                          </a:r>
                        </a:p>
                      </a:txBody>
                      <a:tcPr/>
                    </a:tc>
                    <a:tc>
                      <a:txBody>
                        <a:bodyPr/>
                        <a:lstStyle/>
                        <a:p>
                          <a:pPr/>
                          <a14:m>
                            <m:oMathPara xmlns:m="http://schemas.openxmlformats.org/officeDocument/2006/math">
                              <m:oMathParaPr>
                                <m:jc m:val="centerGroup"/>
                              </m:oMathParaPr>
                              <m:oMath xmlns:m="http://schemas.openxmlformats.org/officeDocument/2006/math">
                                <m:rad>
                                  <m:radPr>
                                    <m:degHide m:val="on"/>
                                    <m:ctrlPr>
                                      <a:rPr lang="zh-TW" altLang="zh-TW" sz="2000" b="1" i="1" u="none" kern="1200">
                                        <a:solidFill>
                                          <a:schemeClr val="dk1"/>
                                        </a:solidFill>
                                        <a:effectLst/>
                                        <a:latin typeface="Cambria Math" panose="02040503050406030204" pitchFamily="18" charset="0"/>
                                        <a:ea typeface="+mn-ea"/>
                                        <a:cs typeface="+mn-cs"/>
                                      </a:rPr>
                                    </m:ctrlPr>
                                  </m:radPr>
                                  <m:deg/>
                                  <m:e>
                                    <m:f>
                                      <m:fPr>
                                        <m:ctrlPr>
                                          <a:rPr lang="zh-TW" altLang="zh-TW" sz="2000" b="1" i="1" u="none" kern="1200">
                                            <a:solidFill>
                                              <a:schemeClr val="dk1"/>
                                            </a:solidFill>
                                            <a:effectLst/>
                                            <a:latin typeface="Cambria Math" panose="02040503050406030204" pitchFamily="18" charset="0"/>
                                            <a:ea typeface="+mn-ea"/>
                                            <a:cs typeface="+mn-cs"/>
                                          </a:rPr>
                                        </m:ctrlPr>
                                      </m:fPr>
                                      <m:num>
                                        <m:r>
                                          <a:rPr lang="en-US" altLang="zh-TW" sz="2000" b="1" i="0" u="none" kern="1200">
                                            <a:solidFill>
                                              <a:schemeClr val="dk1"/>
                                            </a:solidFill>
                                            <a:effectLst/>
                                            <a:latin typeface="Cambria Math" panose="02040503050406030204" pitchFamily="18" charset="0"/>
                                            <a:ea typeface="+mn-ea"/>
                                            <a:cs typeface="+mn-cs"/>
                                          </a:rPr>
                                          <m:t>𝟏</m:t>
                                        </m:r>
                                      </m:num>
                                      <m:den>
                                        <m:r>
                                          <a:rPr lang="en-US" altLang="zh-TW" sz="2000" b="1" i="0" u="none" kern="1200">
                                            <a:solidFill>
                                              <a:schemeClr val="dk1"/>
                                            </a:solidFill>
                                            <a:effectLst/>
                                            <a:latin typeface="Cambria Math" panose="02040503050406030204" pitchFamily="18" charset="0"/>
                                            <a:ea typeface="+mn-ea"/>
                                            <a:cs typeface="+mn-cs"/>
                                          </a:rPr>
                                          <m:t>𝐧</m:t>
                                        </m:r>
                                      </m:den>
                                    </m:f>
                                    <m:nary>
                                      <m:naryPr>
                                        <m:chr m:val="∑"/>
                                        <m:limLoc m:val="subSup"/>
                                        <m:ctrlPr>
                                          <a:rPr lang="zh-TW" altLang="zh-TW" sz="2000" b="1" i="1" u="none" kern="1200">
                                            <a:solidFill>
                                              <a:schemeClr val="dk1"/>
                                            </a:solidFill>
                                            <a:effectLst/>
                                            <a:latin typeface="Cambria Math" panose="02040503050406030204" pitchFamily="18" charset="0"/>
                                            <a:ea typeface="+mn-ea"/>
                                            <a:cs typeface="+mn-cs"/>
                                          </a:rPr>
                                        </m:ctrlPr>
                                      </m:naryPr>
                                      <m:sub>
                                        <m:r>
                                          <a:rPr lang="en-US" altLang="zh-TW" sz="2000" b="1" i="0" u="none" kern="1200">
                                            <a:solidFill>
                                              <a:schemeClr val="dk1"/>
                                            </a:solidFill>
                                            <a:effectLst/>
                                            <a:latin typeface="Cambria Math" panose="02040503050406030204" pitchFamily="18" charset="0"/>
                                            <a:ea typeface="+mn-ea"/>
                                            <a:cs typeface="+mn-cs"/>
                                          </a:rPr>
                                          <m:t>𝐢</m:t>
                                        </m:r>
                                        <m:r>
                                          <a:rPr lang="en-US" altLang="zh-TW" sz="2000" b="1" i="0" u="none" kern="1200">
                                            <a:solidFill>
                                              <a:schemeClr val="dk1"/>
                                            </a:solidFill>
                                            <a:effectLst/>
                                            <a:latin typeface="Cambria Math" panose="02040503050406030204" pitchFamily="18" charset="0"/>
                                            <a:ea typeface="+mn-ea"/>
                                            <a:cs typeface="+mn-cs"/>
                                          </a:rPr>
                                          <m:t>=</m:t>
                                        </m:r>
                                        <m:r>
                                          <a:rPr lang="en-US" altLang="zh-TW" sz="2000" b="1" i="0" u="none" kern="1200">
                                            <a:solidFill>
                                              <a:schemeClr val="dk1"/>
                                            </a:solidFill>
                                            <a:effectLst/>
                                            <a:latin typeface="Cambria Math" panose="02040503050406030204" pitchFamily="18" charset="0"/>
                                            <a:ea typeface="+mn-ea"/>
                                            <a:cs typeface="+mn-cs"/>
                                          </a:rPr>
                                          <m:t>𝟏</m:t>
                                        </m:r>
                                      </m:sub>
                                      <m:sup>
                                        <m:r>
                                          <a:rPr lang="en-US" altLang="zh-TW" sz="2000" b="1" i="0" u="none" kern="1200">
                                            <a:solidFill>
                                              <a:schemeClr val="dk1"/>
                                            </a:solidFill>
                                            <a:effectLst/>
                                            <a:latin typeface="Cambria Math" panose="02040503050406030204" pitchFamily="18" charset="0"/>
                                            <a:ea typeface="+mn-ea"/>
                                            <a:cs typeface="+mn-cs"/>
                                          </a:rPr>
                                          <m:t>𝐧</m:t>
                                        </m:r>
                                      </m:sup>
                                      <m:e>
                                        <m:sSup>
                                          <m:sSupPr>
                                            <m:ctrlPr>
                                              <a:rPr lang="zh-TW" altLang="zh-TW" sz="2000" b="1" i="1" u="none" kern="1200">
                                                <a:solidFill>
                                                  <a:schemeClr val="dk1"/>
                                                </a:solidFill>
                                                <a:effectLst/>
                                                <a:latin typeface="Cambria Math" panose="02040503050406030204" pitchFamily="18" charset="0"/>
                                                <a:ea typeface="+mn-ea"/>
                                                <a:cs typeface="+mn-cs"/>
                                              </a:rPr>
                                            </m:ctrlPr>
                                          </m:sSupPr>
                                          <m:e>
                                            <m:d>
                                              <m:dPr>
                                                <m:ctrlPr>
                                                  <a:rPr lang="zh-TW" altLang="zh-TW" sz="2000" b="1" i="1" u="none" kern="1200">
                                                    <a:solidFill>
                                                      <a:schemeClr val="dk1"/>
                                                    </a:solidFill>
                                                    <a:effectLst/>
                                                    <a:latin typeface="Cambria Math" panose="02040503050406030204" pitchFamily="18" charset="0"/>
                                                    <a:ea typeface="+mn-ea"/>
                                                    <a:cs typeface="+mn-cs"/>
                                                  </a:rPr>
                                                </m:ctrlPr>
                                              </m:dPr>
                                              <m:e>
                                                <m:sSub>
                                                  <m:sSubPr>
                                                    <m:ctrlPr>
                                                      <a:rPr lang="zh-TW" altLang="zh-TW" sz="2000" b="1" i="1" u="none" kern="1200">
                                                        <a:solidFill>
                                                          <a:schemeClr val="dk1"/>
                                                        </a:solidFill>
                                                        <a:effectLst/>
                                                        <a:latin typeface="Cambria Math" panose="02040503050406030204" pitchFamily="18" charset="0"/>
                                                        <a:ea typeface="+mn-ea"/>
                                                        <a:cs typeface="+mn-cs"/>
                                                      </a:rPr>
                                                    </m:ctrlPr>
                                                  </m:sSubPr>
                                                  <m:e>
                                                    <m:r>
                                                      <a:rPr lang="en-US" altLang="zh-TW" sz="2000" b="1" i="0" u="none" kern="1200">
                                                        <a:solidFill>
                                                          <a:schemeClr val="dk1"/>
                                                        </a:solidFill>
                                                        <a:effectLst/>
                                                        <a:latin typeface="Cambria Math" panose="02040503050406030204" pitchFamily="18" charset="0"/>
                                                        <a:ea typeface="+mn-ea"/>
                                                        <a:cs typeface="+mn-cs"/>
                                                      </a:rPr>
                                                      <m:t>𝐲</m:t>
                                                    </m:r>
                                                  </m:e>
                                                  <m:sub>
                                                    <m:r>
                                                      <a:rPr lang="en-US" altLang="zh-TW" sz="2000" b="1" i="0" u="none" kern="1200">
                                                        <a:solidFill>
                                                          <a:schemeClr val="dk1"/>
                                                        </a:solidFill>
                                                        <a:effectLst/>
                                                        <a:latin typeface="Cambria Math" panose="02040503050406030204" pitchFamily="18" charset="0"/>
                                                        <a:ea typeface="+mn-ea"/>
                                                        <a:cs typeface="+mn-cs"/>
                                                      </a:rPr>
                                                      <m:t>𝐢</m:t>
                                                    </m:r>
                                                  </m:sub>
                                                </m:sSub>
                                                <m:r>
                                                  <a:rPr lang="en-US" altLang="zh-TW" sz="2000" b="1" i="0" u="none" kern="1200">
                                                    <a:solidFill>
                                                      <a:schemeClr val="dk1"/>
                                                    </a:solidFill>
                                                    <a:effectLst/>
                                                    <a:latin typeface="Cambria Math" panose="02040503050406030204" pitchFamily="18" charset="0"/>
                                                    <a:ea typeface="+mn-ea"/>
                                                    <a:cs typeface="+mn-cs"/>
                                                  </a:rPr>
                                                  <m:t>−</m:t>
                                                </m:r>
                                                <m:sSub>
                                                  <m:sSubPr>
                                                    <m:ctrlPr>
                                                      <a:rPr lang="zh-TW" altLang="zh-TW" sz="2000" b="1" i="1" u="none" kern="1200">
                                                        <a:solidFill>
                                                          <a:schemeClr val="dk1"/>
                                                        </a:solidFill>
                                                        <a:effectLst/>
                                                        <a:latin typeface="Cambria Math" panose="02040503050406030204" pitchFamily="18" charset="0"/>
                                                        <a:ea typeface="+mn-ea"/>
                                                        <a:cs typeface="+mn-cs"/>
                                                      </a:rPr>
                                                    </m:ctrlPr>
                                                  </m:sSubPr>
                                                  <m:e>
                                                    <m:acc>
                                                      <m:accPr>
                                                        <m:chr m:val="̂"/>
                                                        <m:ctrlPr>
                                                          <a:rPr lang="zh-TW" altLang="zh-TW" sz="2000" b="1" i="1" u="none" kern="1200">
                                                            <a:solidFill>
                                                              <a:schemeClr val="dk1"/>
                                                            </a:solidFill>
                                                            <a:effectLst/>
                                                            <a:latin typeface="Cambria Math" panose="02040503050406030204" pitchFamily="18" charset="0"/>
                                                            <a:ea typeface="+mn-ea"/>
                                                            <a:cs typeface="+mn-cs"/>
                                                          </a:rPr>
                                                        </m:ctrlPr>
                                                      </m:accPr>
                                                      <m:e>
                                                        <m:r>
                                                          <a:rPr lang="en-US" altLang="zh-TW" sz="2000" b="1" i="0" u="none" kern="1200">
                                                            <a:solidFill>
                                                              <a:schemeClr val="dk1"/>
                                                            </a:solidFill>
                                                            <a:effectLst/>
                                                            <a:latin typeface="Cambria Math" panose="02040503050406030204" pitchFamily="18" charset="0"/>
                                                            <a:ea typeface="+mn-ea"/>
                                                            <a:cs typeface="+mn-cs"/>
                                                          </a:rPr>
                                                          <m:t>𝐲</m:t>
                                                        </m:r>
                                                      </m:e>
                                                    </m:acc>
                                                  </m:e>
                                                  <m:sub>
                                                    <m:r>
                                                      <a:rPr lang="en-US" altLang="zh-TW" sz="2000" b="1" i="0" u="none" kern="1200">
                                                        <a:solidFill>
                                                          <a:schemeClr val="dk1"/>
                                                        </a:solidFill>
                                                        <a:effectLst/>
                                                        <a:latin typeface="Cambria Math" panose="02040503050406030204" pitchFamily="18" charset="0"/>
                                                        <a:ea typeface="+mn-ea"/>
                                                        <a:cs typeface="+mn-cs"/>
                                                      </a:rPr>
                                                      <m:t>𝐢</m:t>
                                                    </m:r>
                                                  </m:sub>
                                                </m:sSub>
                                              </m:e>
                                            </m:d>
                                          </m:e>
                                          <m:sup>
                                            <m:r>
                                              <a:rPr lang="en-US" altLang="zh-TW" sz="2000" b="1" i="0" u="none" kern="1200">
                                                <a:solidFill>
                                                  <a:schemeClr val="dk1"/>
                                                </a:solidFill>
                                                <a:effectLst/>
                                                <a:latin typeface="Cambria Math" panose="02040503050406030204" pitchFamily="18" charset="0"/>
                                                <a:ea typeface="+mn-ea"/>
                                                <a:cs typeface="+mn-cs"/>
                                              </a:rPr>
                                              <m:t>𝟐</m:t>
                                            </m:r>
                                          </m:sup>
                                        </m:sSup>
                                      </m:e>
                                    </m:nary>
                                  </m:e>
                                </m:rad>
                              </m:oMath>
                            </m:oMathPara>
                          </a14:m>
                          <a:endParaRPr sz="2000" b="1" i="0" u="none" dirty="0">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tc>
                    <a:tc>
                      <a:txBody>
                        <a:bodyPr/>
                        <a:lstStyle/>
                        <a:p>
                          <a:pPr algn="just">
                            <a:lnSpc>
                              <a:spcPct val="150000"/>
                            </a:lnSpc>
                          </a:pPr>
                          <a:r>
                            <a:rPr lang="zh-TW" altLang="en-US" sz="2600" dirty="0">
                              <a:latin typeface="微軟正黑體" panose="020B0604030504040204" pitchFamily="34" charset="-120"/>
                              <a:ea typeface="微軟正黑體" panose="020B0604030504040204" pitchFamily="34" charset="-120"/>
                            </a:rPr>
                            <a:t>衡量平均平方誤差；對大誤差敏感，反映整體偏差</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1"/>
                      </a:ext>
                    </a:extLst>
                  </a:tr>
                  <a:tr h="874777">
                    <a:tc>
                      <a:txBody>
                        <a:bodyPr/>
                        <a:lstStyle/>
                        <a:p>
                          <a:r>
                            <a:rPr sz="3200" dirty="0">
                              <a:latin typeface="Times New Roman" panose="02020603050405020304" pitchFamily="18" charset="0"/>
                              <a:ea typeface="微軟正黑體" panose="020B0604030504040204" pitchFamily="34" charset="-120"/>
                              <a:cs typeface="Times New Roman" panose="02020603050405020304" pitchFamily="18" charset="0"/>
                            </a:rPr>
                            <a:t>MAE</a:t>
                          </a:r>
                        </a:p>
                      </a:txBody>
                      <a:tcPr/>
                    </a:tc>
                    <a:tc>
                      <a:txBody>
                        <a:bodyPr/>
                        <a:lstStyle/>
                        <a:p>
                          <a:pPr/>
                          <a14:m>
                            <m:oMathPara xmlns:m="http://schemas.openxmlformats.org/officeDocument/2006/math">
                              <m:oMathParaPr>
                                <m:jc m:val="centerGroup"/>
                              </m:oMathParaPr>
                              <m:oMath xmlns:m="http://schemas.openxmlformats.org/officeDocument/2006/math">
                                <m:f>
                                  <m:fPr>
                                    <m:ctrlPr>
                                      <a:rPr lang="zh-TW" altLang="zh-TW" sz="2000" b="1" i="1" u="none" kern="1200" smtClean="0">
                                        <a:solidFill>
                                          <a:schemeClr val="dk1"/>
                                        </a:solidFill>
                                        <a:effectLst/>
                                        <a:latin typeface="Cambria Math" panose="02040503050406030204" pitchFamily="18" charset="0"/>
                                        <a:ea typeface="+mn-ea"/>
                                        <a:cs typeface="+mn-cs"/>
                                      </a:rPr>
                                    </m:ctrlPr>
                                  </m:fPr>
                                  <m:num>
                                    <m:r>
                                      <a:rPr lang="en-US" altLang="zh-TW" sz="2000" b="1" i="1" u="none" kern="1200">
                                        <a:solidFill>
                                          <a:schemeClr val="dk1"/>
                                        </a:solidFill>
                                        <a:effectLst/>
                                        <a:latin typeface="Cambria Math" panose="02040503050406030204" pitchFamily="18" charset="0"/>
                                        <a:ea typeface="+mn-ea"/>
                                        <a:cs typeface="+mn-cs"/>
                                      </a:rPr>
                                      <m:t>𝟏</m:t>
                                    </m:r>
                                  </m:num>
                                  <m:den>
                                    <m:r>
                                      <a:rPr lang="en-US" altLang="zh-TW" sz="2000" b="1" i="1" u="none" kern="1200">
                                        <a:solidFill>
                                          <a:schemeClr val="dk1"/>
                                        </a:solidFill>
                                        <a:effectLst/>
                                        <a:latin typeface="Cambria Math" panose="02040503050406030204" pitchFamily="18" charset="0"/>
                                        <a:ea typeface="+mn-ea"/>
                                        <a:cs typeface="+mn-cs"/>
                                      </a:rPr>
                                      <m:t>𝒏</m:t>
                                    </m:r>
                                  </m:den>
                                </m:f>
                                <m:nary>
                                  <m:naryPr>
                                    <m:chr m:val="∑"/>
                                    <m:limLoc m:val="subSup"/>
                                    <m:ctrlPr>
                                      <a:rPr lang="zh-TW" altLang="zh-TW" sz="2000" b="1" i="1" u="none" kern="1200">
                                        <a:solidFill>
                                          <a:schemeClr val="dk1"/>
                                        </a:solidFill>
                                        <a:effectLst/>
                                        <a:latin typeface="Cambria Math" panose="02040503050406030204" pitchFamily="18" charset="0"/>
                                        <a:ea typeface="+mn-ea"/>
                                        <a:cs typeface="+mn-cs"/>
                                      </a:rPr>
                                    </m:ctrlPr>
                                  </m:naryPr>
                                  <m:sub>
                                    <m:r>
                                      <a:rPr lang="en-US" altLang="zh-TW" sz="2000" b="1" i="1" u="none" kern="1200">
                                        <a:solidFill>
                                          <a:schemeClr val="dk1"/>
                                        </a:solidFill>
                                        <a:effectLst/>
                                        <a:latin typeface="Cambria Math" panose="02040503050406030204" pitchFamily="18" charset="0"/>
                                        <a:ea typeface="+mn-ea"/>
                                        <a:cs typeface="+mn-cs"/>
                                      </a:rPr>
                                      <m:t>𝒊</m:t>
                                    </m:r>
                                    <m:r>
                                      <a:rPr lang="en-US" altLang="zh-TW" sz="2000" b="1" i="1" u="none" kern="1200">
                                        <a:solidFill>
                                          <a:schemeClr val="dk1"/>
                                        </a:solidFill>
                                        <a:effectLst/>
                                        <a:latin typeface="Cambria Math" panose="02040503050406030204" pitchFamily="18" charset="0"/>
                                        <a:ea typeface="+mn-ea"/>
                                        <a:cs typeface="+mn-cs"/>
                                      </a:rPr>
                                      <m:t>=</m:t>
                                    </m:r>
                                    <m:r>
                                      <a:rPr lang="en-US" altLang="zh-TW" sz="2000" b="1" i="1" u="none" kern="1200">
                                        <a:solidFill>
                                          <a:schemeClr val="dk1"/>
                                        </a:solidFill>
                                        <a:effectLst/>
                                        <a:latin typeface="Cambria Math" panose="02040503050406030204" pitchFamily="18" charset="0"/>
                                        <a:ea typeface="+mn-ea"/>
                                        <a:cs typeface="+mn-cs"/>
                                      </a:rPr>
                                      <m:t>𝟏</m:t>
                                    </m:r>
                                  </m:sub>
                                  <m:sup>
                                    <m:r>
                                      <a:rPr lang="en-US" altLang="zh-TW" sz="2000" b="1" i="1" u="none" kern="1200">
                                        <a:solidFill>
                                          <a:schemeClr val="dk1"/>
                                        </a:solidFill>
                                        <a:effectLst/>
                                        <a:latin typeface="Cambria Math" panose="02040503050406030204" pitchFamily="18" charset="0"/>
                                        <a:ea typeface="+mn-ea"/>
                                        <a:cs typeface="+mn-cs"/>
                                      </a:rPr>
                                      <m:t>𝒏</m:t>
                                    </m:r>
                                  </m:sup>
                                  <m:e>
                                    <m:d>
                                      <m:dPr>
                                        <m:begChr m:val="|"/>
                                        <m:endChr m:val="|"/>
                                        <m:ctrlPr>
                                          <a:rPr lang="zh-TW" altLang="zh-TW" sz="2000" b="1" i="1" u="none" kern="1200">
                                            <a:solidFill>
                                              <a:schemeClr val="dk1"/>
                                            </a:solidFill>
                                            <a:effectLst/>
                                            <a:latin typeface="Cambria Math" panose="02040503050406030204" pitchFamily="18" charset="0"/>
                                            <a:ea typeface="+mn-ea"/>
                                            <a:cs typeface="+mn-cs"/>
                                          </a:rPr>
                                        </m:ctrlPr>
                                      </m:dPr>
                                      <m:e>
                                        <m:sSub>
                                          <m:sSubPr>
                                            <m:ctrlPr>
                                              <a:rPr lang="zh-TW" altLang="zh-TW" sz="2000" b="1" i="1" u="none" kern="1200">
                                                <a:solidFill>
                                                  <a:schemeClr val="dk1"/>
                                                </a:solidFill>
                                                <a:effectLst/>
                                                <a:latin typeface="Cambria Math" panose="02040503050406030204" pitchFamily="18" charset="0"/>
                                                <a:ea typeface="+mn-ea"/>
                                                <a:cs typeface="+mn-cs"/>
                                              </a:rPr>
                                            </m:ctrlPr>
                                          </m:sSubPr>
                                          <m:e>
                                            <m:r>
                                              <a:rPr lang="en-US" altLang="zh-TW" sz="2000" b="1" i="1" u="none" kern="1200">
                                                <a:solidFill>
                                                  <a:schemeClr val="dk1"/>
                                                </a:solidFill>
                                                <a:effectLst/>
                                                <a:latin typeface="Cambria Math" panose="02040503050406030204" pitchFamily="18" charset="0"/>
                                                <a:ea typeface="+mn-ea"/>
                                                <a:cs typeface="+mn-cs"/>
                                              </a:rPr>
                                              <m:t>𝒚</m:t>
                                            </m:r>
                                          </m:e>
                                          <m:sub>
                                            <m:r>
                                              <a:rPr lang="en-US" altLang="zh-TW" sz="2000" b="1" i="1" u="none" kern="1200">
                                                <a:solidFill>
                                                  <a:schemeClr val="dk1"/>
                                                </a:solidFill>
                                                <a:effectLst/>
                                                <a:latin typeface="Cambria Math" panose="02040503050406030204" pitchFamily="18" charset="0"/>
                                                <a:ea typeface="+mn-ea"/>
                                                <a:cs typeface="+mn-cs"/>
                                              </a:rPr>
                                              <m:t>𝒊</m:t>
                                            </m:r>
                                          </m:sub>
                                        </m:sSub>
                                        <m:r>
                                          <m:rPr>
                                            <m:nor/>
                                          </m:rPr>
                                          <a:rPr lang="zh-TW" altLang="en-US" sz="2000" smtClean="0"/>
                                          <m:t>−</m:t>
                                        </m:r>
                                        <m:sSub>
                                          <m:sSubPr>
                                            <m:ctrlPr>
                                              <a:rPr lang="zh-TW" altLang="zh-TW" sz="2000" b="1" i="1" u="none" kern="1200">
                                                <a:solidFill>
                                                  <a:schemeClr val="dk1"/>
                                                </a:solidFill>
                                                <a:effectLst/>
                                                <a:latin typeface="Cambria Math" panose="02040503050406030204" pitchFamily="18" charset="0"/>
                                                <a:ea typeface="+mn-ea"/>
                                                <a:cs typeface="+mn-cs"/>
                                              </a:rPr>
                                            </m:ctrlPr>
                                          </m:sSubPr>
                                          <m:e>
                                            <m:acc>
                                              <m:accPr>
                                                <m:chr m:val="̂"/>
                                                <m:ctrlPr>
                                                  <a:rPr lang="zh-TW" altLang="zh-TW" sz="2000" b="1" i="1" u="none" kern="1200">
                                                    <a:solidFill>
                                                      <a:schemeClr val="dk1"/>
                                                    </a:solidFill>
                                                    <a:effectLst/>
                                                    <a:latin typeface="Cambria Math" panose="02040503050406030204" pitchFamily="18" charset="0"/>
                                                    <a:ea typeface="+mn-ea"/>
                                                    <a:cs typeface="+mn-cs"/>
                                                  </a:rPr>
                                                </m:ctrlPr>
                                              </m:accPr>
                                              <m:e>
                                                <m:r>
                                                  <a:rPr lang="en-US" altLang="zh-TW" sz="2000" b="1" i="1" u="none" kern="1200">
                                                    <a:solidFill>
                                                      <a:schemeClr val="dk1"/>
                                                    </a:solidFill>
                                                    <a:effectLst/>
                                                    <a:latin typeface="Cambria Math" panose="02040503050406030204" pitchFamily="18" charset="0"/>
                                                    <a:ea typeface="+mn-ea"/>
                                                    <a:cs typeface="+mn-cs"/>
                                                  </a:rPr>
                                                  <m:t>𝒚</m:t>
                                                </m:r>
                                              </m:e>
                                            </m:acc>
                                          </m:e>
                                          <m:sub>
                                            <m:r>
                                              <a:rPr lang="en-US" altLang="zh-TW" sz="2000" b="1" i="1" u="none" kern="1200">
                                                <a:solidFill>
                                                  <a:schemeClr val="dk1"/>
                                                </a:solidFill>
                                                <a:effectLst/>
                                                <a:latin typeface="Cambria Math" panose="02040503050406030204" pitchFamily="18" charset="0"/>
                                                <a:ea typeface="+mn-ea"/>
                                                <a:cs typeface="+mn-cs"/>
                                              </a:rPr>
                                              <m:t>𝒊</m:t>
                                            </m:r>
                                          </m:sub>
                                        </m:sSub>
                                      </m:e>
                                    </m:d>
                                  </m:e>
                                </m:nary>
                              </m:oMath>
                            </m:oMathPara>
                          </a14:m>
                          <a:endParaRPr sz="2000" b="1" u="none" dirty="0">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tc>
                    <a:tc>
                      <a:txBody>
                        <a:bodyPr/>
                        <a:lstStyle/>
                        <a:p>
                          <a:pPr>
                            <a:lnSpc>
                              <a:spcPct val="150000"/>
                            </a:lnSpc>
                          </a:pPr>
                          <a:r>
                            <a:rPr lang="zh-TW" altLang="en-US" sz="2600" dirty="0">
                              <a:latin typeface="微軟正黑體" panose="020B0604030504040204" pitchFamily="34" charset="-120"/>
                              <a:ea typeface="微軟正黑體" panose="020B0604030504040204" pitchFamily="34" charset="-120"/>
                            </a:rPr>
                            <a:t>衡量平均絕對誤差；較穩健，不易受極端值影響</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2"/>
                      </a:ext>
                    </a:extLst>
                  </a:tr>
                  <a:tr h="874777">
                    <a:tc>
                      <a:txBody>
                        <a:bodyPr/>
                        <a:lstStyle/>
                        <a:p>
                          <a:r>
                            <a:rPr sz="3200" dirty="0">
                              <a:latin typeface="Times New Roman" panose="02020603050405020304" pitchFamily="18" charset="0"/>
                              <a:ea typeface="微軟正黑體" panose="020B0604030504040204" pitchFamily="34" charset="-120"/>
                              <a:cs typeface="Times New Roman" panose="02020603050405020304" pitchFamily="18" charset="0"/>
                            </a:rPr>
                            <a:t>MAPE</a:t>
                          </a:r>
                        </a:p>
                      </a:txBody>
                      <a:tcPr/>
                    </a:tc>
                    <a:tc>
                      <a:txBody>
                        <a:bodyPr/>
                        <a:lstStyle/>
                        <a:p>
                          <a:pPr/>
                          <a14:m>
                            <m:oMathPara xmlns:m="http://schemas.openxmlformats.org/officeDocument/2006/math">
                              <m:oMathParaPr>
                                <m:jc m:val="centerGroup"/>
                              </m:oMathParaPr>
                              <m:oMath xmlns:m="http://schemas.openxmlformats.org/officeDocument/2006/math">
                                <m:r>
                                  <m:rPr>
                                    <m:nor/>
                                  </m:rPr>
                                  <a:rPr lang="en-US" altLang="zh-TW" sz="2000" b="1" u="none" kern="1200" smtClean="0">
                                    <a:solidFill>
                                      <a:schemeClr val="dk1"/>
                                    </a:solidFill>
                                    <a:effectLst/>
                                    <a:latin typeface="+mn-lt"/>
                                    <a:ea typeface="+mn-ea"/>
                                    <a:cs typeface="+mn-cs"/>
                                  </a:rPr>
                                  <m:t>100%</m:t>
                                </m:r>
                                <m:r>
                                  <m:rPr>
                                    <m:nor/>
                                  </m:rPr>
                                  <a:rPr lang="en-US" altLang="zh-TW" sz="2000" b="1" u="none" kern="1200" smtClean="0">
                                    <a:solidFill>
                                      <a:schemeClr val="dk1"/>
                                    </a:solidFill>
                                    <a:effectLst/>
                                    <a:latin typeface="+mn-lt"/>
                                    <a:ea typeface="+mn-ea"/>
                                    <a:cs typeface="+mn-cs"/>
                                  </a:rPr>
                                  <m:t>×</m:t>
                                </m:r>
                                <m:f>
                                  <m:fPr>
                                    <m:ctrlPr>
                                      <a:rPr lang="zh-TW" altLang="zh-TW" sz="2000" b="1" i="1" u="none" kern="1200">
                                        <a:solidFill>
                                          <a:schemeClr val="dk1"/>
                                        </a:solidFill>
                                        <a:effectLst/>
                                        <a:latin typeface="Cambria Math" panose="02040503050406030204" pitchFamily="18" charset="0"/>
                                        <a:ea typeface="+mn-ea"/>
                                        <a:cs typeface="+mn-cs"/>
                                      </a:rPr>
                                    </m:ctrlPr>
                                  </m:fPr>
                                  <m:num>
                                    <m:r>
                                      <a:rPr lang="en-US" altLang="zh-TW" sz="2000" b="1" i="1" u="none" kern="1200">
                                        <a:solidFill>
                                          <a:schemeClr val="dk1"/>
                                        </a:solidFill>
                                        <a:effectLst/>
                                        <a:latin typeface="Cambria Math" panose="02040503050406030204" pitchFamily="18" charset="0"/>
                                        <a:ea typeface="+mn-ea"/>
                                        <a:cs typeface="+mn-cs"/>
                                      </a:rPr>
                                      <m:t>𝟏</m:t>
                                    </m:r>
                                  </m:num>
                                  <m:den>
                                    <m:r>
                                      <a:rPr lang="en-US" altLang="zh-TW" sz="2000" b="1" i="1" u="none" kern="1200">
                                        <a:solidFill>
                                          <a:schemeClr val="dk1"/>
                                        </a:solidFill>
                                        <a:effectLst/>
                                        <a:latin typeface="Cambria Math" panose="02040503050406030204" pitchFamily="18" charset="0"/>
                                        <a:ea typeface="+mn-ea"/>
                                        <a:cs typeface="+mn-cs"/>
                                      </a:rPr>
                                      <m:t>𝒏</m:t>
                                    </m:r>
                                  </m:den>
                                </m:f>
                                <m:nary>
                                  <m:naryPr>
                                    <m:chr m:val="∑"/>
                                    <m:limLoc m:val="subSup"/>
                                    <m:ctrlPr>
                                      <a:rPr lang="zh-TW" altLang="zh-TW" sz="2000" b="1" i="1" u="none" kern="1200">
                                        <a:solidFill>
                                          <a:schemeClr val="dk1"/>
                                        </a:solidFill>
                                        <a:effectLst/>
                                        <a:latin typeface="Cambria Math" panose="02040503050406030204" pitchFamily="18" charset="0"/>
                                        <a:ea typeface="+mn-ea"/>
                                        <a:cs typeface="+mn-cs"/>
                                      </a:rPr>
                                    </m:ctrlPr>
                                  </m:naryPr>
                                  <m:sub>
                                    <m:r>
                                      <a:rPr lang="en-US" altLang="zh-TW" sz="2000" b="1" i="1" u="none" kern="1200">
                                        <a:solidFill>
                                          <a:schemeClr val="dk1"/>
                                        </a:solidFill>
                                        <a:effectLst/>
                                        <a:latin typeface="Cambria Math" panose="02040503050406030204" pitchFamily="18" charset="0"/>
                                        <a:ea typeface="+mn-ea"/>
                                        <a:cs typeface="+mn-cs"/>
                                      </a:rPr>
                                      <m:t>𝒊</m:t>
                                    </m:r>
                                    <m:r>
                                      <a:rPr lang="en-US" altLang="zh-TW" sz="2000" b="1" i="1" u="none" kern="1200">
                                        <a:solidFill>
                                          <a:schemeClr val="dk1"/>
                                        </a:solidFill>
                                        <a:effectLst/>
                                        <a:latin typeface="Cambria Math" panose="02040503050406030204" pitchFamily="18" charset="0"/>
                                        <a:ea typeface="+mn-ea"/>
                                        <a:cs typeface="+mn-cs"/>
                                      </a:rPr>
                                      <m:t>=</m:t>
                                    </m:r>
                                    <m:r>
                                      <a:rPr lang="en-US" altLang="zh-TW" sz="2000" b="1" i="1" u="none" kern="1200">
                                        <a:solidFill>
                                          <a:schemeClr val="dk1"/>
                                        </a:solidFill>
                                        <a:effectLst/>
                                        <a:latin typeface="Cambria Math" panose="02040503050406030204" pitchFamily="18" charset="0"/>
                                        <a:ea typeface="+mn-ea"/>
                                        <a:cs typeface="+mn-cs"/>
                                      </a:rPr>
                                      <m:t>𝟏</m:t>
                                    </m:r>
                                  </m:sub>
                                  <m:sup>
                                    <m:r>
                                      <a:rPr lang="en-US" altLang="zh-TW" sz="2000" b="1" i="1" u="none" kern="1200">
                                        <a:solidFill>
                                          <a:schemeClr val="dk1"/>
                                        </a:solidFill>
                                        <a:effectLst/>
                                        <a:latin typeface="Cambria Math" panose="02040503050406030204" pitchFamily="18" charset="0"/>
                                        <a:ea typeface="+mn-ea"/>
                                        <a:cs typeface="+mn-cs"/>
                                      </a:rPr>
                                      <m:t>𝒏</m:t>
                                    </m:r>
                                  </m:sup>
                                  <m:e>
                                    <m:d>
                                      <m:dPr>
                                        <m:begChr m:val="|"/>
                                        <m:endChr m:val="|"/>
                                        <m:ctrlPr>
                                          <a:rPr lang="zh-TW" altLang="zh-TW" sz="2000" b="1" i="1" u="none" kern="1200">
                                            <a:solidFill>
                                              <a:schemeClr val="dk1"/>
                                            </a:solidFill>
                                            <a:effectLst/>
                                            <a:latin typeface="Cambria Math" panose="02040503050406030204" pitchFamily="18" charset="0"/>
                                            <a:ea typeface="+mn-ea"/>
                                            <a:cs typeface="+mn-cs"/>
                                          </a:rPr>
                                        </m:ctrlPr>
                                      </m:dPr>
                                      <m:e>
                                        <m:f>
                                          <m:fPr>
                                            <m:ctrlPr>
                                              <a:rPr lang="zh-TW" altLang="zh-TW" sz="2000" b="1" i="1" u="none" kern="1200">
                                                <a:solidFill>
                                                  <a:schemeClr val="dk1"/>
                                                </a:solidFill>
                                                <a:effectLst/>
                                                <a:latin typeface="Cambria Math" panose="02040503050406030204" pitchFamily="18" charset="0"/>
                                                <a:ea typeface="+mn-ea"/>
                                                <a:cs typeface="+mn-cs"/>
                                              </a:rPr>
                                            </m:ctrlPr>
                                          </m:fPr>
                                          <m:num>
                                            <m:sSub>
                                              <m:sSubPr>
                                                <m:ctrlPr>
                                                  <a:rPr lang="zh-TW" altLang="zh-TW" sz="2000" b="1" i="1" u="none" kern="1200">
                                                    <a:solidFill>
                                                      <a:schemeClr val="dk1"/>
                                                    </a:solidFill>
                                                    <a:effectLst/>
                                                    <a:latin typeface="Cambria Math" panose="02040503050406030204" pitchFamily="18" charset="0"/>
                                                    <a:ea typeface="+mn-ea"/>
                                                    <a:cs typeface="+mn-cs"/>
                                                  </a:rPr>
                                                </m:ctrlPr>
                                              </m:sSubPr>
                                              <m:e>
                                                <m:r>
                                                  <a:rPr lang="en-US" altLang="zh-TW" sz="2000" b="1" i="1" u="none" kern="1200">
                                                    <a:solidFill>
                                                      <a:schemeClr val="dk1"/>
                                                    </a:solidFill>
                                                    <a:effectLst/>
                                                    <a:latin typeface="Cambria Math" panose="02040503050406030204" pitchFamily="18" charset="0"/>
                                                    <a:ea typeface="+mn-ea"/>
                                                    <a:cs typeface="+mn-cs"/>
                                                  </a:rPr>
                                                  <m:t>𝒚</m:t>
                                                </m:r>
                                              </m:e>
                                              <m:sub>
                                                <m:r>
                                                  <a:rPr lang="en-US" altLang="zh-TW" sz="2000" b="1" i="1" u="none" kern="1200">
                                                    <a:solidFill>
                                                      <a:schemeClr val="dk1"/>
                                                    </a:solidFill>
                                                    <a:effectLst/>
                                                    <a:latin typeface="Cambria Math" panose="02040503050406030204" pitchFamily="18" charset="0"/>
                                                    <a:ea typeface="+mn-ea"/>
                                                    <a:cs typeface="+mn-cs"/>
                                                  </a:rPr>
                                                  <m:t>𝒊</m:t>
                                                </m:r>
                                                <m:r>
                                                  <m:rPr>
                                                    <m:nor/>
                                                  </m:rPr>
                                                  <a:rPr lang="zh-TW" altLang="en-US" sz="2000" smtClean="0"/>
                                                  <m:t>−</m:t>
                                                </m:r>
                                              </m:sub>
                                            </m:sSub>
                                            <m:sSub>
                                              <m:sSubPr>
                                                <m:ctrlPr>
                                                  <a:rPr lang="zh-TW" altLang="zh-TW" sz="2000" b="1" i="1" u="none" kern="1200">
                                                    <a:solidFill>
                                                      <a:schemeClr val="dk1"/>
                                                    </a:solidFill>
                                                    <a:effectLst/>
                                                    <a:latin typeface="Cambria Math" panose="02040503050406030204" pitchFamily="18" charset="0"/>
                                                    <a:ea typeface="+mn-ea"/>
                                                    <a:cs typeface="+mn-cs"/>
                                                  </a:rPr>
                                                </m:ctrlPr>
                                              </m:sSubPr>
                                              <m:e>
                                                <m:acc>
                                                  <m:accPr>
                                                    <m:chr m:val="̂"/>
                                                    <m:ctrlPr>
                                                      <a:rPr lang="zh-TW" altLang="zh-TW" sz="2000" b="1" i="1" u="none" kern="1200">
                                                        <a:solidFill>
                                                          <a:schemeClr val="dk1"/>
                                                        </a:solidFill>
                                                        <a:effectLst/>
                                                        <a:latin typeface="Cambria Math" panose="02040503050406030204" pitchFamily="18" charset="0"/>
                                                        <a:ea typeface="+mn-ea"/>
                                                        <a:cs typeface="+mn-cs"/>
                                                      </a:rPr>
                                                    </m:ctrlPr>
                                                  </m:accPr>
                                                  <m:e>
                                                    <m:r>
                                                      <a:rPr lang="en-US" altLang="zh-TW" sz="2000" b="1" i="1" u="none" kern="1200">
                                                        <a:solidFill>
                                                          <a:schemeClr val="dk1"/>
                                                        </a:solidFill>
                                                        <a:effectLst/>
                                                        <a:latin typeface="Cambria Math" panose="02040503050406030204" pitchFamily="18" charset="0"/>
                                                        <a:ea typeface="+mn-ea"/>
                                                        <a:cs typeface="+mn-cs"/>
                                                      </a:rPr>
                                                      <m:t>𝒚</m:t>
                                                    </m:r>
                                                  </m:e>
                                                </m:acc>
                                              </m:e>
                                              <m:sub>
                                                <m:r>
                                                  <a:rPr lang="en-US" altLang="zh-TW" sz="2000" b="1" i="1" u="none" kern="1200">
                                                    <a:solidFill>
                                                      <a:schemeClr val="dk1"/>
                                                    </a:solidFill>
                                                    <a:effectLst/>
                                                    <a:latin typeface="Cambria Math" panose="02040503050406030204" pitchFamily="18" charset="0"/>
                                                    <a:ea typeface="+mn-ea"/>
                                                    <a:cs typeface="+mn-cs"/>
                                                  </a:rPr>
                                                  <m:t>𝒊</m:t>
                                                </m:r>
                                              </m:sub>
                                            </m:sSub>
                                          </m:num>
                                          <m:den>
                                            <m:sSub>
                                              <m:sSubPr>
                                                <m:ctrlPr>
                                                  <a:rPr lang="zh-TW" altLang="zh-TW" sz="2000" b="1" i="1" u="none" kern="1200">
                                                    <a:solidFill>
                                                      <a:schemeClr val="dk1"/>
                                                    </a:solidFill>
                                                    <a:effectLst/>
                                                    <a:latin typeface="Cambria Math" panose="02040503050406030204" pitchFamily="18" charset="0"/>
                                                    <a:ea typeface="+mn-ea"/>
                                                    <a:cs typeface="+mn-cs"/>
                                                  </a:rPr>
                                                </m:ctrlPr>
                                              </m:sSubPr>
                                              <m:e>
                                                <m:r>
                                                  <a:rPr lang="en-US" altLang="zh-TW" sz="2000" b="1" i="1" u="none" kern="1200">
                                                    <a:solidFill>
                                                      <a:schemeClr val="dk1"/>
                                                    </a:solidFill>
                                                    <a:effectLst/>
                                                    <a:latin typeface="Cambria Math" panose="02040503050406030204" pitchFamily="18" charset="0"/>
                                                    <a:ea typeface="+mn-ea"/>
                                                    <a:cs typeface="+mn-cs"/>
                                                  </a:rPr>
                                                  <m:t>𝒚</m:t>
                                                </m:r>
                                              </m:e>
                                              <m:sub>
                                                <m:r>
                                                  <a:rPr lang="en-US" altLang="zh-TW" sz="2000" b="1" i="1" u="none" kern="1200">
                                                    <a:solidFill>
                                                      <a:schemeClr val="dk1"/>
                                                    </a:solidFill>
                                                    <a:effectLst/>
                                                    <a:latin typeface="Cambria Math" panose="02040503050406030204" pitchFamily="18" charset="0"/>
                                                    <a:ea typeface="+mn-ea"/>
                                                    <a:cs typeface="+mn-cs"/>
                                                  </a:rPr>
                                                  <m:t>𝒊</m:t>
                                                </m:r>
                                              </m:sub>
                                            </m:sSub>
                                          </m:den>
                                        </m:f>
                                      </m:e>
                                    </m:d>
                                  </m:e>
                                </m:nary>
                              </m:oMath>
                            </m:oMathPara>
                          </a14:m>
                          <a:endParaRPr sz="2000" b="1" u="none" dirty="0">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tc>
                    <a:tc>
                      <a:txBody>
                        <a:bodyPr/>
                        <a:lstStyle/>
                        <a:p>
                          <a:pPr>
                            <a:lnSpc>
                              <a:spcPct val="150000"/>
                            </a:lnSpc>
                          </a:pPr>
                          <a:r>
                            <a:rPr lang="zh-TW" altLang="en-US" sz="2600" kern="1200" dirty="0">
                              <a:solidFill>
                                <a:schemeClr val="dk1"/>
                              </a:solidFill>
                              <a:latin typeface="微軟正黑體" panose="020B0604030504040204" pitchFamily="34" charset="-120"/>
                              <a:ea typeface="微軟正黑體" panose="020B0604030504040204" pitchFamily="34" charset="-120"/>
                              <a:cs typeface="+mn-cs"/>
                            </a:rPr>
                            <a:t>以誤差占實際值百分比表示，便於跨服務比較，但當實際值過小時，誤差比例會被放大而失真</a:t>
                          </a:r>
                          <a:endParaRPr sz="2600" kern="1200" dirty="0">
                            <a:solidFill>
                              <a:schemeClr val="dk1"/>
                            </a:solidFill>
                            <a:latin typeface="微軟正黑體" panose="020B0604030504040204" pitchFamily="34" charset="-120"/>
                            <a:ea typeface="微軟正黑體" panose="020B0604030504040204" pitchFamily="34" charset="-120"/>
                            <a:cs typeface="+mn-cs"/>
                          </a:endParaRPr>
                        </a:p>
                      </a:txBody>
                      <a:tcPr/>
                    </a:tc>
                    <a:extLst>
                      <a:ext uri="{0D108BD9-81ED-4DB2-BD59-A6C34878D82A}">
                        <a16:rowId xmlns:a16="http://schemas.microsoft.com/office/drawing/2014/main" val="10003"/>
                      </a:ext>
                    </a:extLst>
                  </a:tr>
                  <a:tr h="874777">
                    <a:tc>
                      <a:txBody>
                        <a:bodyPr/>
                        <a:lstStyle/>
                        <a:p>
                          <a:r>
                            <a:rPr sz="3200" dirty="0" err="1">
                              <a:latin typeface="Times New Roman" panose="02020603050405020304" pitchFamily="18" charset="0"/>
                              <a:ea typeface="微軟正黑體" panose="020B0604030504040204" pitchFamily="34" charset="-120"/>
                              <a:cs typeface="Times New Roman" panose="02020603050405020304" pitchFamily="18" charset="0"/>
                            </a:rPr>
                            <a:t>MaxAE</a:t>
                          </a:r>
                          <a:endParaRPr sz="3200" dirty="0">
                            <a:latin typeface="Times New Roman" panose="02020603050405020304" pitchFamily="18" charset="0"/>
                            <a:ea typeface="微軟正黑體" panose="020B0604030504040204" pitchFamily="34" charset="-12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func>
                                  <m:funcPr>
                                    <m:ctrlPr>
                                      <a:rPr lang="zh-TW" altLang="zh-TW" sz="2400" b="1" i="1" u="none" kern="1200" smtClean="0">
                                        <a:solidFill>
                                          <a:schemeClr val="dk1"/>
                                        </a:solidFill>
                                        <a:effectLst/>
                                        <a:latin typeface="Cambria Math" panose="02040503050406030204" pitchFamily="18" charset="0"/>
                                        <a:ea typeface="+mn-ea"/>
                                        <a:cs typeface="+mn-cs"/>
                                      </a:rPr>
                                    </m:ctrlPr>
                                  </m:funcPr>
                                  <m:fName>
                                    <m:limLow>
                                      <m:limLowPr>
                                        <m:ctrlPr>
                                          <a:rPr lang="zh-TW" altLang="zh-TW" sz="2400" b="1" i="1" u="none" kern="1200">
                                            <a:solidFill>
                                              <a:schemeClr val="dk1"/>
                                            </a:solidFill>
                                            <a:effectLst/>
                                            <a:latin typeface="Cambria Math" panose="02040503050406030204" pitchFamily="18" charset="0"/>
                                            <a:ea typeface="+mn-ea"/>
                                            <a:cs typeface="+mn-cs"/>
                                          </a:rPr>
                                        </m:ctrlPr>
                                      </m:limLowPr>
                                      <m:e>
                                        <m:r>
                                          <a:rPr lang="en-US" altLang="zh-TW" sz="2400" b="1" i="1" u="none" kern="1200">
                                            <a:solidFill>
                                              <a:schemeClr val="dk1"/>
                                            </a:solidFill>
                                            <a:effectLst/>
                                            <a:latin typeface="Cambria Math" panose="02040503050406030204" pitchFamily="18" charset="0"/>
                                            <a:ea typeface="+mn-ea"/>
                                            <a:cs typeface="+mn-cs"/>
                                          </a:rPr>
                                          <m:t>𝒎𝒂𝒙</m:t>
                                        </m:r>
                                      </m:e>
                                      <m:lim>
                                        <m:r>
                                          <a:rPr lang="en-US" altLang="zh-TW" sz="2400" b="1" i="1" u="none" kern="1200">
                                            <a:solidFill>
                                              <a:schemeClr val="dk1"/>
                                            </a:solidFill>
                                            <a:effectLst/>
                                            <a:latin typeface="Cambria Math" panose="02040503050406030204" pitchFamily="18" charset="0"/>
                                            <a:ea typeface="+mn-ea"/>
                                            <a:cs typeface="+mn-cs"/>
                                          </a:rPr>
                                          <m:t>𝒊</m:t>
                                        </m:r>
                                      </m:lim>
                                    </m:limLow>
                                  </m:fName>
                                  <m:e>
                                    <m:d>
                                      <m:dPr>
                                        <m:ctrlPr>
                                          <a:rPr lang="zh-TW" altLang="zh-TW" sz="2400" b="1" i="1" u="none" kern="1200">
                                            <a:solidFill>
                                              <a:schemeClr val="dk1"/>
                                            </a:solidFill>
                                            <a:effectLst/>
                                            <a:latin typeface="Cambria Math" panose="02040503050406030204" pitchFamily="18" charset="0"/>
                                            <a:ea typeface="+mn-ea"/>
                                            <a:cs typeface="+mn-cs"/>
                                          </a:rPr>
                                        </m:ctrlPr>
                                      </m:dPr>
                                      <m:e>
                                        <m:d>
                                          <m:dPr>
                                            <m:begChr m:val="|"/>
                                            <m:endChr m:val="|"/>
                                            <m:ctrlPr>
                                              <a:rPr lang="zh-TW" altLang="zh-TW" sz="2400" b="1" i="1" u="none" kern="1200">
                                                <a:solidFill>
                                                  <a:schemeClr val="dk1"/>
                                                </a:solidFill>
                                                <a:effectLst/>
                                                <a:latin typeface="Cambria Math" panose="02040503050406030204" pitchFamily="18" charset="0"/>
                                                <a:ea typeface="+mn-ea"/>
                                                <a:cs typeface="+mn-cs"/>
                                              </a:rPr>
                                            </m:ctrlPr>
                                          </m:dPr>
                                          <m:e>
                                            <m:sSub>
                                              <m:sSubPr>
                                                <m:ctrlPr>
                                                  <a:rPr lang="zh-TW" altLang="zh-TW" sz="2400" b="1" i="1" u="none" kern="1200">
                                                    <a:solidFill>
                                                      <a:schemeClr val="dk1"/>
                                                    </a:solidFill>
                                                    <a:effectLst/>
                                                    <a:latin typeface="Cambria Math" panose="02040503050406030204" pitchFamily="18" charset="0"/>
                                                    <a:ea typeface="+mn-ea"/>
                                                    <a:cs typeface="+mn-cs"/>
                                                  </a:rPr>
                                                </m:ctrlPr>
                                              </m:sSubPr>
                                              <m:e>
                                                <m:r>
                                                  <a:rPr lang="en-US" altLang="zh-TW" sz="2400" b="1" i="1" u="none" kern="1200">
                                                    <a:solidFill>
                                                      <a:schemeClr val="dk1"/>
                                                    </a:solidFill>
                                                    <a:effectLst/>
                                                    <a:latin typeface="Cambria Math" panose="02040503050406030204" pitchFamily="18" charset="0"/>
                                                    <a:ea typeface="+mn-ea"/>
                                                    <a:cs typeface="+mn-cs"/>
                                                  </a:rPr>
                                                  <m:t>𝒚</m:t>
                                                </m:r>
                                              </m:e>
                                              <m:sub>
                                                <m:r>
                                                  <a:rPr lang="en-US" altLang="zh-TW" sz="2400" b="1" i="1" u="none" kern="1200">
                                                    <a:solidFill>
                                                      <a:schemeClr val="dk1"/>
                                                    </a:solidFill>
                                                    <a:effectLst/>
                                                    <a:latin typeface="Cambria Math" panose="02040503050406030204" pitchFamily="18" charset="0"/>
                                                    <a:ea typeface="+mn-ea"/>
                                                    <a:cs typeface="+mn-cs"/>
                                                  </a:rPr>
                                                  <m:t>𝒊</m:t>
                                                </m:r>
                                              </m:sub>
                                            </m:sSub>
                                            <m:sSub>
                                              <m:sSubPr>
                                                <m:ctrlPr>
                                                  <a:rPr lang="zh-TW" altLang="zh-TW" sz="2400" b="1" i="1" u="none" kern="1200">
                                                    <a:solidFill>
                                                      <a:schemeClr val="dk1"/>
                                                    </a:solidFill>
                                                    <a:effectLst/>
                                                    <a:latin typeface="Cambria Math" panose="02040503050406030204" pitchFamily="18" charset="0"/>
                                                    <a:ea typeface="+mn-ea"/>
                                                    <a:cs typeface="+mn-cs"/>
                                                  </a:rPr>
                                                </m:ctrlPr>
                                              </m:sSubPr>
                                              <m:e>
                                                <m:acc>
                                                  <m:accPr>
                                                    <m:chr m:val="̂"/>
                                                    <m:ctrlPr>
                                                      <a:rPr lang="zh-TW" altLang="zh-TW" sz="2400" b="1" i="1" u="none" kern="1200">
                                                        <a:solidFill>
                                                          <a:schemeClr val="dk1"/>
                                                        </a:solidFill>
                                                        <a:effectLst/>
                                                        <a:latin typeface="Cambria Math" panose="02040503050406030204" pitchFamily="18" charset="0"/>
                                                        <a:ea typeface="+mn-ea"/>
                                                        <a:cs typeface="+mn-cs"/>
                                                      </a:rPr>
                                                    </m:ctrlPr>
                                                  </m:accPr>
                                                  <m:e>
                                                    <m:r>
                                                      <a:rPr lang="en-US" altLang="zh-TW" sz="2400" b="1" i="1" u="none" kern="1200">
                                                        <a:solidFill>
                                                          <a:schemeClr val="dk1"/>
                                                        </a:solidFill>
                                                        <a:effectLst/>
                                                        <a:latin typeface="Cambria Math" panose="02040503050406030204" pitchFamily="18" charset="0"/>
                                                        <a:ea typeface="+mn-ea"/>
                                                        <a:cs typeface="+mn-cs"/>
                                                      </a:rPr>
                                                      <m:t>𝒚</m:t>
                                                    </m:r>
                                                  </m:e>
                                                </m:acc>
                                              </m:e>
                                              <m:sub>
                                                <m:r>
                                                  <a:rPr lang="en-US" altLang="zh-TW" sz="2400" b="1" i="1" u="none" kern="1200">
                                                    <a:solidFill>
                                                      <a:schemeClr val="dk1"/>
                                                    </a:solidFill>
                                                    <a:effectLst/>
                                                    <a:latin typeface="Cambria Math" panose="02040503050406030204" pitchFamily="18" charset="0"/>
                                                    <a:ea typeface="+mn-ea"/>
                                                    <a:cs typeface="+mn-cs"/>
                                                  </a:rPr>
                                                  <m:t>𝒊</m:t>
                                                </m:r>
                                              </m:sub>
                                            </m:sSub>
                                          </m:e>
                                        </m:d>
                                      </m:e>
                                    </m:d>
                                  </m:e>
                                </m:func>
                              </m:oMath>
                            </m:oMathPara>
                          </a14:m>
                          <a:endParaRPr sz="2000" b="1" u="none" dirty="0">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tc>
                    <a:tc>
                      <a:txBody>
                        <a:bodyPr/>
                        <a:lstStyle/>
                        <a:p>
                          <a:pPr>
                            <a:lnSpc>
                              <a:spcPct val="150000"/>
                            </a:lnSpc>
                          </a:pPr>
                          <a:r>
                            <a:rPr lang="zh-TW" altLang="en-US" sz="2600" dirty="0">
                              <a:latin typeface="微軟正黑體" panose="020B0604030504040204" pitchFamily="34" charset="-120"/>
                              <a:ea typeface="微軟正黑體" panose="020B0604030504040204" pitchFamily="34" charset="-120"/>
                            </a:rPr>
                            <a:t>所有樣本中的最大絕對誤差；用來觀察最壞情況下的誤差表現</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4"/>
                      </a:ext>
                    </a:extLst>
                  </a:tr>
                  <a:tr h="874777">
                    <a:tc>
                      <a:txBody>
                        <a:bodyPr/>
                        <a:lstStyle/>
                        <a:p>
                          <a:r>
                            <a:rPr lang="en-US" altLang="zh-TW" sz="3200" dirty="0">
                              <a:latin typeface="Times New Roman" panose="02020603050405020304" pitchFamily="18" charset="0"/>
                              <a:ea typeface="微軟正黑體" panose="020B0604030504040204" pitchFamily="34" charset="-120"/>
                              <a:cs typeface="Times New Roman" panose="02020603050405020304" pitchFamily="18" charset="0"/>
                            </a:rPr>
                            <a:t>RPS</a:t>
                          </a:r>
                          <a:endParaRPr sz="3200" dirty="0">
                            <a:latin typeface="Times New Roman" panose="02020603050405020304" pitchFamily="18" charset="0"/>
                            <a:ea typeface="微軟正黑體" panose="020B0604030504040204" pitchFamily="34" charset="-12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m:rPr>
                                    <m:nor/>
                                  </m:rPr>
                                  <a:rPr lang="en-US" altLang="zh-TW" sz="2400" b="1" u="none" kern="1200" smtClean="0">
                                    <a:solidFill>
                                      <a:schemeClr val="dk1"/>
                                    </a:solidFill>
                                    <a:effectLst/>
                                    <a:latin typeface="+mn-lt"/>
                                    <a:ea typeface="+mn-ea"/>
                                    <a:cs typeface="+mn-cs"/>
                                  </a:rPr>
                                  <m:t> 0.1</m:t>
                                </m:r>
                                <m:r>
                                  <m:rPr>
                                    <m:nor/>
                                  </m:rPr>
                                  <a:rPr lang="en-US" altLang="zh-TW" sz="2400" b="1" i="0" u="none" kern="1200" smtClean="0">
                                    <a:solidFill>
                                      <a:schemeClr val="dk1"/>
                                    </a:solidFill>
                                    <a:effectLst/>
                                    <a:latin typeface="+mn-lt"/>
                                    <a:ea typeface="+mn-ea"/>
                                    <a:cs typeface="+mn-cs"/>
                                  </a:rPr>
                                  <m:t> </m:t>
                                </m:r>
                                <m:r>
                                  <m:rPr>
                                    <m:nor/>
                                  </m:rPr>
                                  <a:rPr lang="en-US" altLang="zh-TW" sz="2400" b="1" u="none" kern="1200" smtClean="0">
                                    <a:solidFill>
                                      <a:schemeClr val="dk1"/>
                                    </a:solidFill>
                                    <a:effectLst/>
                                    <a:latin typeface="+mn-lt"/>
                                    <a:ea typeface="+mn-ea"/>
                                    <a:cs typeface="+mn-cs"/>
                                  </a:rPr>
                                  <m:t>×</m:t>
                                </m:r>
                                <m:r>
                                  <m:rPr>
                                    <m:nor/>
                                  </m:rPr>
                                  <a:rPr lang="en-US" altLang="zh-TW" sz="2400" b="1" i="0" u="none" kern="1200" smtClean="0">
                                    <a:solidFill>
                                      <a:schemeClr val="dk1"/>
                                    </a:solidFill>
                                    <a:effectLst/>
                                    <a:latin typeface="+mn-lt"/>
                                    <a:ea typeface="+mn-ea"/>
                                    <a:cs typeface="+mn-cs"/>
                                  </a:rPr>
                                  <m:t> </m:t>
                                </m:r>
                                <m:sSub>
                                  <m:sSubPr>
                                    <m:ctrlPr>
                                      <a:rPr lang="zh-TW" altLang="zh-TW" sz="2400" b="1" i="1" u="none" kern="1200">
                                        <a:solidFill>
                                          <a:schemeClr val="dk1"/>
                                        </a:solidFill>
                                        <a:effectLst/>
                                        <a:latin typeface="Cambria Math" panose="02040503050406030204" pitchFamily="18" charset="0"/>
                                        <a:ea typeface="+mn-ea"/>
                                        <a:cs typeface="+mn-cs"/>
                                      </a:rPr>
                                    </m:ctrlPr>
                                  </m:sSubPr>
                                  <m:e>
                                    <m:r>
                                      <m:rPr>
                                        <m:nor/>
                                      </m:rPr>
                                      <a:rPr lang="en-US" altLang="zh-TW" sz="2400" b="1" u="none" kern="1200">
                                        <a:solidFill>
                                          <a:schemeClr val="dk1"/>
                                        </a:solidFill>
                                        <a:effectLst/>
                                        <a:latin typeface="+mn-lt"/>
                                        <a:ea typeface="+mn-ea"/>
                                        <a:cs typeface="+mn-cs"/>
                                      </a:rPr>
                                      <m:t>P</m:t>
                                    </m:r>
                                  </m:e>
                                  <m:sub>
                                    <m:r>
                                      <a:rPr lang="en-US" altLang="zh-TW" sz="2400" b="1" i="1" u="none" kern="1200">
                                        <a:solidFill>
                                          <a:schemeClr val="dk1"/>
                                        </a:solidFill>
                                        <a:effectLst/>
                                        <a:latin typeface="Cambria Math" panose="02040503050406030204" pitchFamily="18" charset="0"/>
                                        <a:ea typeface="+mn-ea"/>
                                        <a:cs typeface="+mn-cs"/>
                                      </a:rPr>
                                      <m:t>𝟓𝟎</m:t>
                                    </m:r>
                                  </m:sub>
                                </m:sSub>
                                <m:r>
                                  <a:rPr lang="en-US" altLang="zh-TW" sz="2400" b="1" i="1" u="none" kern="1200">
                                    <a:solidFill>
                                      <a:schemeClr val="dk1"/>
                                    </a:solidFill>
                                    <a:effectLst/>
                                    <a:latin typeface="Cambria Math" panose="02040503050406030204" pitchFamily="18" charset="0"/>
                                    <a:ea typeface="+mn-ea"/>
                                    <a:cs typeface="+mn-cs"/>
                                  </a:rPr>
                                  <m:t>+</m:t>
                                </m:r>
                                <m:r>
                                  <a:rPr lang="en-US" altLang="zh-TW" sz="2400" b="1" i="1" u="none" kern="1200">
                                    <a:solidFill>
                                      <a:schemeClr val="dk1"/>
                                    </a:solidFill>
                                    <a:effectLst/>
                                    <a:latin typeface="Cambria Math" panose="02040503050406030204" pitchFamily="18" charset="0"/>
                                    <a:ea typeface="+mn-ea"/>
                                    <a:cs typeface="+mn-cs"/>
                                  </a:rPr>
                                  <m:t>𝟎</m:t>
                                </m:r>
                                <m:r>
                                  <a:rPr lang="en-US" altLang="zh-TW" sz="2400" b="1" i="1" u="none" kern="1200">
                                    <a:solidFill>
                                      <a:schemeClr val="dk1"/>
                                    </a:solidFill>
                                    <a:effectLst/>
                                    <a:latin typeface="Cambria Math" panose="02040503050406030204" pitchFamily="18" charset="0"/>
                                    <a:ea typeface="+mn-ea"/>
                                    <a:cs typeface="+mn-cs"/>
                                  </a:rPr>
                                  <m:t>.</m:t>
                                </m:r>
                                <m:r>
                                  <a:rPr lang="en-US" altLang="zh-TW" sz="2400" b="1" i="1" u="none" kern="1200">
                                    <a:solidFill>
                                      <a:schemeClr val="dk1"/>
                                    </a:solidFill>
                                    <a:effectLst/>
                                    <a:latin typeface="Cambria Math" panose="02040503050406030204" pitchFamily="18" charset="0"/>
                                    <a:ea typeface="+mn-ea"/>
                                    <a:cs typeface="+mn-cs"/>
                                  </a:rPr>
                                  <m:t>𝟒</m:t>
                                </m:r>
                                <m:r>
                                  <a:rPr lang="en-US" altLang="zh-TW" sz="2400" b="1" i="1" u="none" kern="1200">
                                    <a:solidFill>
                                      <a:schemeClr val="dk1"/>
                                    </a:solidFill>
                                    <a:effectLst/>
                                    <a:latin typeface="Cambria Math" panose="02040503050406030204" pitchFamily="18" charset="0"/>
                                    <a:ea typeface="+mn-ea"/>
                                    <a:cs typeface="+mn-cs"/>
                                  </a:rPr>
                                  <m:t>×</m:t>
                                </m:r>
                                <m:sSub>
                                  <m:sSubPr>
                                    <m:ctrlPr>
                                      <a:rPr lang="zh-TW" altLang="zh-TW" sz="2400" b="1" i="1" u="none" kern="1200">
                                        <a:solidFill>
                                          <a:schemeClr val="dk1"/>
                                        </a:solidFill>
                                        <a:effectLst/>
                                        <a:latin typeface="Cambria Math" panose="02040503050406030204" pitchFamily="18" charset="0"/>
                                        <a:ea typeface="+mn-ea"/>
                                        <a:cs typeface="+mn-cs"/>
                                      </a:rPr>
                                    </m:ctrlPr>
                                  </m:sSubPr>
                                  <m:e>
                                    <m:r>
                                      <m:rPr>
                                        <m:nor/>
                                      </m:rPr>
                                      <a:rPr lang="en-US" altLang="zh-TW" sz="2400" b="1" u="none" kern="1200">
                                        <a:solidFill>
                                          <a:schemeClr val="dk1"/>
                                        </a:solidFill>
                                        <a:effectLst/>
                                        <a:latin typeface="+mn-lt"/>
                                        <a:ea typeface="+mn-ea"/>
                                        <a:cs typeface="+mn-cs"/>
                                      </a:rPr>
                                      <m:t>P</m:t>
                                    </m:r>
                                  </m:e>
                                  <m:sub>
                                    <m:r>
                                      <a:rPr lang="en-US" altLang="zh-TW" sz="2400" b="1" i="1" u="none" kern="1200">
                                        <a:solidFill>
                                          <a:schemeClr val="dk1"/>
                                        </a:solidFill>
                                        <a:effectLst/>
                                        <a:latin typeface="Cambria Math" panose="02040503050406030204" pitchFamily="18" charset="0"/>
                                        <a:ea typeface="+mn-ea"/>
                                        <a:cs typeface="+mn-cs"/>
                                      </a:rPr>
                                      <m:t>𝟗𝟎</m:t>
                                    </m:r>
                                  </m:sub>
                                </m:sSub>
                                <m:r>
                                  <a:rPr lang="en-US" altLang="zh-TW" sz="2400" b="1" i="1" u="none" kern="1200">
                                    <a:solidFill>
                                      <a:schemeClr val="dk1"/>
                                    </a:solidFill>
                                    <a:effectLst/>
                                    <a:latin typeface="Cambria Math" panose="02040503050406030204" pitchFamily="18" charset="0"/>
                                    <a:ea typeface="+mn-ea"/>
                                    <a:cs typeface="+mn-cs"/>
                                  </a:rPr>
                                  <m:t>+</m:t>
                                </m:r>
                                <m:r>
                                  <a:rPr lang="en-US" altLang="zh-TW" sz="2400" b="1" i="1" u="none" kern="1200">
                                    <a:solidFill>
                                      <a:schemeClr val="dk1"/>
                                    </a:solidFill>
                                    <a:effectLst/>
                                    <a:latin typeface="Cambria Math" panose="02040503050406030204" pitchFamily="18" charset="0"/>
                                    <a:ea typeface="+mn-ea"/>
                                    <a:cs typeface="+mn-cs"/>
                                  </a:rPr>
                                  <m:t>𝟎</m:t>
                                </m:r>
                                <m:r>
                                  <a:rPr lang="en-US" altLang="zh-TW" sz="2400" b="1" i="1" u="none" kern="1200">
                                    <a:solidFill>
                                      <a:schemeClr val="dk1"/>
                                    </a:solidFill>
                                    <a:effectLst/>
                                    <a:latin typeface="Cambria Math" panose="02040503050406030204" pitchFamily="18" charset="0"/>
                                    <a:ea typeface="+mn-ea"/>
                                    <a:cs typeface="+mn-cs"/>
                                  </a:rPr>
                                  <m:t>.</m:t>
                                </m:r>
                                <m:r>
                                  <a:rPr lang="en-US" altLang="zh-TW" sz="2400" b="1" i="1" u="none" kern="1200">
                                    <a:solidFill>
                                      <a:schemeClr val="dk1"/>
                                    </a:solidFill>
                                    <a:effectLst/>
                                    <a:latin typeface="Cambria Math" panose="02040503050406030204" pitchFamily="18" charset="0"/>
                                    <a:ea typeface="+mn-ea"/>
                                    <a:cs typeface="+mn-cs"/>
                                  </a:rPr>
                                  <m:t>𝟒</m:t>
                                </m:r>
                                <m:r>
                                  <a:rPr lang="en-US" altLang="zh-TW" sz="2400" b="1" i="1" u="none" kern="1200">
                                    <a:solidFill>
                                      <a:schemeClr val="dk1"/>
                                    </a:solidFill>
                                    <a:effectLst/>
                                    <a:latin typeface="Cambria Math" panose="02040503050406030204" pitchFamily="18" charset="0"/>
                                    <a:ea typeface="+mn-ea"/>
                                    <a:cs typeface="+mn-cs"/>
                                  </a:rPr>
                                  <m:t>×</m:t>
                                </m:r>
                                <m:sSub>
                                  <m:sSubPr>
                                    <m:ctrlPr>
                                      <a:rPr lang="zh-TW" altLang="zh-TW" sz="2400" b="1" i="1" u="none" kern="1200">
                                        <a:solidFill>
                                          <a:schemeClr val="dk1"/>
                                        </a:solidFill>
                                        <a:effectLst/>
                                        <a:latin typeface="Cambria Math" panose="02040503050406030204" pitchFamily="18" charset="0"/>
                                        <a:ea typeface="+mn-ea"/>
                                        <a:cs typeface="+mn-cs"/>
                                      </a:rPr>
                                    </m:ctrlPr>
                                  </m:sSubPr>
                                  <m:e>
                                    <m:r>
                                      <m:rPr>
                                        <m:nor/>
                                      </m:rPr>
                                      <a:rPr lang="en-US" altLang="zh-TW" sz="2400" b="1" u="none" kern="1200">
                                        <a:solidFill>
                                          <a:schemeClr val="dk1"/>
                                        </a:solidFill>
                                        <a:effectLst/>
                                        <a:latin typeface="+mn-lt"/>
                                        <a:ea typeface="+mn-ea"/>
                                        <a:cs typeface="+mn-cs"/>
                                      </a:rPr>
                                      <m:t>P</m:t>
                                    </m:r>
                                  </m:e>
                                  <m:sub>
                                    <m:r>
                                      <a:rPr lang="en-US" altLang="zh-TW" sz="2400" b="1" i="1" u="none" kern="1200">
                                        <a:solidFill>
                                          <a:schemeClr val="dk1"/>
                                        </a:solidFill>
                                        <a:effectLst/>
                                        <a:latin typeface="Cambria Math" panose="02040503050406030204" pitchFamily="18" charset="0"/>
                                        <a:ea typeface="+mn-ea"/>
                                        <a:cs typeface="+mn-cs"/>
                                      </a:rPr>
                                      <m:t>𝟗𝟓</m:t>
                                    </m:r>
                                  </m:sub>
                                </m:sSub>
                                <m:r>
                                  <a:rPr lang="en-US" altLang="zh-TW" sz="2400" b="1" i="1" u="none" kern="1200">
                                    <a:solidFill>
                                      <a:schemeClr val="dk1"/>
                                    </a:solidFill>
                                    <a:effectLst/>
                                    <a:latin typeface="Cambria Math" panose="02040503050406030204" pitchFamily="18" charset="0"/>
                                    <a:ea typeface="+mn-ea"/>
                                    <a:cs typeface="+mn-cs"/>
                                  </a:rPr>
                                  <m:t>+</m:t>
                                </m:r>
                                <m:r>
                                  <a:rPr lang="en-US" altLang="zh-TW" sz="2400" b="1" i="1" u="none" kern="1200">
                                    <a:solidFill>
                                      <a:schemeClr val="dk1"/>
                                    </a:solidFill>
                                    <a:effectLst/>
                                    <a:latin typeface="Cambria Math" panose="02040503050406030204" pitchFamily="18" charset="0"/>
                                    <a:ea typeface="+mn-ea"/>
                                    <a:cs typeface="+mn-cs"/>
                                  </a:rPr>
                                  <m:t>𝟎</m:t>
                                </m:r>
                                <m:r>
                                  <a:rPr lang="en-US" altLang="zh-TW" sz="2400" b="1" i="1" u="none" kern="1200">
                                    <a:solidFill>
                                      <a:schemeClr val="dk1"/>
                                    </a:solidFill>
                                    <a:effectLst/>
                                    <a:latin typeface="Cambria Math" panose="02040503050406030204" pitchFamily="18" charset="0"/>
                                    <a:ea typeface="+mn-ea"/>
                                    <a:cs typeface="+mn-cs"/>
                                  </a:rPr>
                                  <m:t>.</m:t>
                                </m:r>
                                <m:r>
                                  <a:rPr lang="en-US" altLang="zh-TW" sz="2400" b="1" i="1" u="none" kern="1200">
                                    <a:solidFill>
                                      <a:schemeClr val="dk1"/>
                                    </a:solidFill>
                                    <a:effectLst/>
                                    <a:latin typeface="Cambria Math" panose="02040503050406030204" pitchFamily="18" charset="0"/>
                                    <a:ea typeface="+mn-ea"/>
                                    <a:cs typeface="+mn-cs"/>
                                  </a:rPr>
                                  <m:t>𝟏</m:t>
                                </m:r>
                                <m:r>
                                  <a:rPr lang="en-US" altLang="zh-TW" sz="2400" b="1" i="1" u="none" kern="1200">
                                    <a:solidFill>
                                      <a:schemeClr val="dk1"/>
                                    </a:solidFill>
                                    <a:effectLst/>
                                    <a:latin typeface="Cambria Math" panose="02040503050406030204" pitchFamily="18" charset="0"/>
                                    <a:ea typeface="+mn-ea"/>
                                    <a:cs typeface="+mn-cs"/>
                                  </a:rPr>
                                  <m:t>×</m:t>
                                </m:r>
                                <m:sSub>
                                  <m:sSubPr>
                                    <m:ctrlPr>
                                      <a:rPr lang="zh-TW" altLang="zh-TW" sz="2400" b="1" i="1" u="none" kern="1200">
                                        <a:solidFill>
                                          <a:schemeClr val="dk1"/>
                                        </a:solidFill>
                                        <a:effectLst/>
                                        <a:latin typeface="Cambria Math" panose="02040503050406030204" pitchFamily="18" charset="0"/>
                                        <a:ea typeface="+mn-ea"/>
                                        <a:cs typeface="+mn-cs"/>
                                      </a:rPr>
                                    </m:ctrlPr>
                                  </m:sSubPr>
                                  <m:e>
                                    <m:r>
                                      <m:rPr>
                                        <m:nor/>
                                      </m:rPr>
                                      <a:rPr lang="en-US" altLang="zh-TW" sz="2400" b="1" u="none" kern="1200">
                                        <a:solidFill>
                                          <a:schemeClr val="dk1"/>
                                        </a:solidFill>
                                        <a:effectLst/>
                                        <a:latin typeface="+mn-lt"/>
                                        <a:ea typeface="+mn-ea"/>
                                        <a:cs typeface="+mn-cs"/>
                                      </a:rPr>
                                      <m:t>P</m:t>
                                    </m:r>
                                  </m:e>
                                  <m:sub>
                                    <m:r>
                                      <a:rPr lang="en-US" altLang="zh-TW" sz="2400" b="1" i="1" u="none" kern="1200">
                                        <a:solidFill>
                                          <a:schemeClr val="dk1"/>
                                        </a:solidFill>
                                        <a:effectLst/>
                                        <a:latin typeface="Cambria Math" panose="02040503050406030204" pitchFamily="18" charset="0"/>
                                        <a:ea typeface="+mn-ea"/>
                                        <a:cs typeface="+mn-cs"/>
                                      </a:rPr>
                                      <m:t>𝟗𝟗</m:t>
                                    </m:r>
                                  </m:sub>
                                </m:sSub>
                              </m:oMath>
                            </m:oMathPara>
                          </a14:m>
                          <a:endParaRPr sz="2400" b="1" u="none" dirty="0">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tc>
                    <a:tc>
                      <a:txBody>
                        <a:bodyPr/>
                        <a:lstStyle/>
                        <a:p>
                          <a:pPr>
                            <a:lnSpc>
                              <a:spcPct val="150000"/>
                            </a:lnSpc>
                          </a:pPr>
                          <a:r>
                            <a:rPr lang="zh-TW" altLang="en-US" sz="2600" dirty="0">
                              <a:latin typeface="微軟正黑體" panose="020B0604030504040204" pitchFamily="34" charset="-120"/>
                              <a:ea typeface="微軟正黑體" panose="020B0604030504040204" pitchFamily="34" charset="-120"/>
                            </a:rPr>
                            <a:t>多分位數誤差加權，兼顧常態與尾端，是本研究主要比較基準</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2111757086"/>
                      </a:ext>
                    </a:extLst>
                  </a:tr>
                </a:tbl>
              </a:graphicData>
            </a:graphic>
          </p:graphicFrame>
        </mc:Choice>
        <mc:Fallback xmlns="">
          <p:graphicFrame>
            <p:nvGraphicFramePr>
              <p:cNvPr id="3" name="Table 3">
                <a:extLst>
                  <a:ext uri="{FF2B5EF4-FFF2-40B4-BE49-F238E27FC236}">
                    <a16:creationId xmlns:a16="http://schemas.microsoft.com/office/drawing/2014/main" id="{3CBAAFFF-0E4C-5FE9-CDD0-47DF96A9A164}"/>
                  </a:ext>
                </a:extLst>
              </p:cNvPr>
              <p:cNvGraphicFramePr>
                <a:graphicFrameLocks noGrp="1"/>
              </p:cNvGraphicFramePr>
              <p:nvPr>
                <p:extLst>
                  <p:ext uri="{D42A27DB-BD31-4B8C-83A1-F6EECF244321}">
                    <p14:modId xmlns:p14="http://schemas.microsoft.com/office/powerpoint/2010/main" val="2248586766"/>
                  </p:ext>
                </p:extLst>
              </p:nvPr>
            </p:nvGraphicFramePr>
            <p:xfrm>
              <a:off x="985741" y="1818697"/>
              <a:ext cx="16540259" cy="6072125"/>
            </p:xfrm>
            <a:graphic>
              <a:graphicData uri="http://schemas.openxmlformats.org/drawingml/2006/table">
                <a:tbl>
                  <a:tblPr firstRow="1" bandRow="1">
                    <a:tableStyleId>{5C22544A-7EE6-4342-B048-85BDC9FD1C3A}</a:tableStyleId>
                  </a:tblPr>
                  <a:tblGrid>
                    <a:gridCol w="2443259">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gridCol w="7467600">
                      <a:extLst>
                        <a:ext uri="{9D8B030D-6E8A-4147-A177-3AD203B41FA5}">
                          <a16:colId xmlns:a16="http://schemas.microsoft.com/office/drawing/2014/main" val="20002"/>
                        </a:ext>
                      </a:extLst>
                    </a:gridCol>
                  </a:tblGrid>
                  <a:tr h="583184">
                    <a:tc>
                      <a:txBody>
                        <a:bodyPr/>
                        <a:lstStyle/>
                        <a:p>
                          <a:pPr algn="ctr"/>
                          <a:r>
                            <a:rPr sz="3200" dirty="0" err="1">
                              <a:latin typeface="微軟正黑體" panose="020B0604030504040204" pitchFamily="34" charset="-120"/>
                              <a:ea typeface="微軟正黑體" panose="020B0604030504040204" pitchFamily="34" charset="-120"/>
                              <a:cs typeface="Times New Roman" panose="02020603050405020304" pitchFamily="18" charset="0"/>
                            </a:rPr>
                            <a:t>指標</a:t>
                          </a:r>
                          <a:endParaRPr sz="3200" dirty="0">
                            <a:latin typeface="微軟正黑體" panose="020B0604030504040204" pitchFamily="34" charset="-120"/>
                            <a:ea typeface="微軟正黑體" panose="020B0604030504040204" pitchFamily="34" charset="-120"/>
                            <a:cs typeface="Times New Roman" panose="02020603050405020304" pitchFamily="18" charset="0"/>
                          </a:endParaRPr>
                        </a:p>
                      </a:txBody>
                      <a:tcPr/>
                    </a:tc>
                    <a:tc>
                      <a:txBody>
                        <a:bodyPr/>
                        <a:lstStyle/>
                        <a:p>
                          <a:pPr algn="ctr"/>
                          <a:r>
                            <a:rPr sz="3200">
                              <a:latin typeface="微軟正黑體" panose="020B0604030504040204" pitchFamily="34" charset="-120"/>
                              <a:ea typeface="微軟正黑體" panose="020B0604030504040204" pitchFamily="34" charset="-120"/>
                              <a:cs typeface="Times New Roman" panose="02020603050405020304" pitchFamily="18" charset="0"/>
                            </a:rPr>
                            <a:t>公式</a:t>
                          </a:r>
                        </a:p>
                      </a:txBody>
                      <a:tcPr/>
                    </a:tc>
                    <a:tc>
                      <a:txBody>
                        <a:bodyPr/>
                        <a:lstStyle/>
                        <a:p>
                          <a:pPr algn="ctr"/>
                          <a:r>
                            <a:rPr lang="zh-TW" altLang="en-US" sz="3200" dirty="0">
                              <a:latin typeface="微軟正黑體" panose="020B0604030504040204" pitchFamily="34" charset="-120"/>
                              <a:ea typeface="微軟正黑體" panose="020B0604030504040204" pitchFamily="34" charset="-120"/>
                              <a:cs typeface="Times New Roman" panose="02020603050405020304" pitchFamily="18" charset="0"/>
                            </a:rPr>
                            <a:t>說明</a:t>
                          </a:r>
                          <a:endParaRPr sz="3200" dirty="0">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0"/>
                      </a:ext>
                    </a:extLst>
                  </a:tr>
                  <a:tr h="991997">
                    <a:tc>
                      <a:txBody>
                        <a:bodyPr/>
                        <a:lstStyle/>
                        <a:p>
                          <a:r>
                            <a:rPr sz="3200" dirty="0">
                              <a:latin typeface="Times New Roman" panose="02020603050405020304" pitchFamily="18" charset="0"/>
                              <a:ea typeface="微軟正黑體" panose="020B0604030504040204" pitchFamily="34" charset="-120"/>
                              <a:cs typeface="Times New Roman" panose="02020603050405020304" pitchFamily="18" charset="0"/>
                            </a:rPr>
                            <a:t>RMSE</a:t>
                          </a:r>
                        </a:p>
                      </a:txBody>
                      <a:tcPr/>
                    </a:tc>
                    <a:tc>
                      <a:txBody>
                        <a:bodyPr/>
                        <a:lstStyle/>
                        <a:p>
                          <a:endParaRPr lang="zh-TW"/>
                        </a:p>
                      </a:txBody>
                      <a:tcPr anchor="ctr">
                        <a:blipFill>
                          <a:blip r:embed="rId5"/>
                          <a:stretch>
                            <a:fillRect l="-36949" t="-66871" r="-113051" b="-468712"/>
                          </a:stretch>
                        </a:blipFill>
                      </a:tcPr>
                    </a:tc>
                    <a:tc>
                      <a:txBody>
                        <a:bodyPr/>
                        <a:lstStyle/>
                        <a:p>
                          <a:pPr algn="just">
                            <a:lnSpc>
                              <a:spcPct val="150000"/>
                            </a:lnSpc>
                          </a:pPr>
                          <a:r>
                            <a:rPr lang="zh-TW" altLang="en-US" sz="2600" dirty="0">
                              <a:latin typeface="微軟正黑體" panose="020B0604030504040204" pitchFamily="34" charset="-120"/>
                              <a:ea typeface="微軟正黑體" panose="020B0604030504040204" pitchFamily="34" charset="-120"/>
                            </a:rPr>
                            <a:t>衡量平均平方誤差；對大誤差敏感，反映整體偏差</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1"/>
                      </a:ext>
                    </a:extLst>
                  </a:tr>
                  <a:tr h="874777">
                    <a:tc>
                      <a:txBody>
                        <a:bodyPr/>
                        <a:lstStyle/>
                        <a:p>
                          <a:r>
                            <a:rPr sz="3200" dirty="0">
                              <a:latin typeface="Times New Roman" panose="02020603050405020304" pitchFamily="18" charset="0"/>
                              <a:ea typeface="微軟正黑體" panose="020B0604030504040204" pitchFamily="34" charset="-120"/>
                              <a:cs typeface="Times New Roman" panose="02020603050405020304" pitchFamily="18" charset="0"/>
                            </a:rPr>
                            <a:t>MAE</a:t>
                          </a:r>
                        </a:p>
                      </a:txBody>
                      <a:tcPr/>
                    </a:tc>
                    <a:tc>
                      <a:txBody>
                        <a:bodyPr/>
                        <a:lstStyle/>
                        <a:p>
                          <a:endParaRPr lang="zh-TW"/>
                        </a:p>
                      </a:txBody>
                      <a:tcPr anchor="ctr">
                        <a:blipFill>
                          <a:blip r:embed="rId5"/>
                          <a:stretch>
                            <a:fillRect l="-36949" t="-190210" r="-113051" b="-434266"/>
                          </a:stretch>
                        </a:blipFill>
                      </a:tcPr>
                    </a:tc>
                    <a:tc>
                      <a:txBody>
                        <a:bodyPr/>
                        <a:lstStyle/>
                        <a:p>
                          <a:pPr>
                            <a:lnSpc>
                              <a:spcPct val="150000"/>
                            </a:lnSpc>
                          </a:pPr>
                          <a:r>
                            <a:rPr lang="zh-TW" altLang="en-US" sz="2600" dirty="0">
                              <a:latin typeface="微軟正黑體" panose="020B0604030504040204" pitchFamily="34" charset="-120"/>
                              <a:ea typeface="微軟正黑體" panose="020B0604030504040204" pitchFamily="34" charset="-120"/>
                            </a:rPr>
                            <a:t>衡量平均絕對誤差；較穩健，不易受極端值影響</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2"/>
                      </a:ext>
                    </a:extLst>
                  </a:tr>
                  <a:tr h="1207389">
                    <a:tc>
                      <a:txBody>
                        <a:bodyPr/>
                        <a:lstStyle/>
                        <a:p>
                          <a:r>
                            <a:rPr sz="3200" dirty="0">
                              <a:latin typeface="Times New Roman" panose="02020603050405020304" pitchFamily="18" charset="0"/>
                              <a:ea typeface="微軟正黑體" panose="020B0604030504040204" pitchFamily="34" charset="-120"/>
                              <a:cs typeface="Times New Roman" panose="02020603050405020304" pitchFamily="18" charset="0"/>
                            </a:rPr>
                            <a:t>MAPE</a:t>
                          </a:r>
                        </a:p>
                      </a:txBody>
                      <a:tcPr/>
                    </a:tc>
                    <a:tc>
                      <a:txBody>
                        <a:bodyPr/>
                        <a:lstStyle/>
                        <a:p>
                          <a:endParaRPr lang="zh-TW"/>
                        </a:p>
                      </a:txBody>
                      <a:tcPr anchor="ctr">
                        <a:blipFill>
                          <a:blip r:embed="rId5"/>
                          <a:stretch>
                            <a:fillRect l="-36949" t="-208543" r="-113051" b="-212060"/>
                          </a:stretch>
                        </a:blipFill>
                      </a:tcPr>
                    </a:tc>
                    <a:tc>
                      <a:txBody>
                        <a:bodyPr/>
                        <a:lstStyle/>
                        <a:p>
                          <a:pPr>
                            <a:lnSpc>
                              <a:spcPct val="150000"/>
                            </a:lnSpc>
                          </a:pPr>
                          <a:r>
                            <a:rPr lang="zh-TW" altLang="en-US" sz="2600" kern="1200" dirty="0">
                              <a:solidFill>
                                <a:schemeClr val="dk1"/>
                              </a:solidFill>
                              <a:latin typeface="微軟正黑體" panose="020B0604030504040204" pitchFamily="34" charset="-120"/>
                              <a:ea typeface="微軟正黑體" panose="020B0604030504040204" pitchFamily="34" charset="-120"/>
                              <a:cs typeface="+mn-cs"/>
                            </a:rPr>
                            <a:t>以誤差占實際值百分比表示，便於跨服務比較，但當實際值過小時，誤差比例會被放大而失真</a:t>
                          </a:r>
                          <a:endParaRPr sz="2600" kern="1200" dirty="0">
                            <a:solidFill>
                              <a:schemeClr val="dk1"/>
                            </a:solidFill>
                            <a:latin typeface="微軟正黑體" panose="020B0604030504040204" pitchFamily="34" charset="-120"/>
                            <a:ea typeface="微軟正黑體" panose="020B0604030504040204" pitchFamily="34" charset="-120"/>
                            <a:cs typeface="+mn-cs"/>
                          </a:endParaRPr>
                        </a:p>
                      </a:txBody>
                      <a:tcPr/>
                    </a:tc>
                    <a:extLst>
                      <a:ext uri="{0D108BD9-81ED-4DB2-BD59-A6C34878D82A}">
                        <a16:rowId xmlns:a16="http://schemas.microsoft.com/office/drawing/2014/main" val="10003"/>
                      </a:ext>
                    </a:extLst>
                  </a:tr>
                  <a:tr h="1207389">
                    <a:tc>
                      <a:txBody>
                        <a:bodyPr/>
                        <a:lstStyle/>
                        <a:p>
                          <a:r>
                            <a:rPr sz="3200" dirty="0" err="1">
                              <a:latin typeface="Times New Roman" panose="02020603050405020304" pitchFamily="18" charset="0"/>
                              <a:ea typeface="微軟正黑體" panose="020B0604030504040204" pitchFamily="34" charset="-120"/>
                              <a:cs typeface="Times New Roman" panose="02020603050405020304" pitchFamily="18" charset="0"/>
                            </a:rPr>
                            <a:t>MaxAE</a:t>
                          </a:r>
                          <a:endParaRPr sz="3200" dirty="0">
                            <a:latin typeface="Times New Roman" panose="02020603050405020304" pitchFamily="18" charset="0"/>
                            <a:ea typeface="微軟正黑體" panose="020B0604030504040204" pitchFamily="34" charset="-120"/>
                            <a:cs typeface="Times New Roman" panose="02020603050405020304" pitchFamily="18" charset="0"/>
                          </a:endParaRPr>
                        </a:p>
                      </a:txBody>
                      <a:tcPr/>
                    </a:tc>
                    <a:tc>
                      <a:txBody>
                        <a:bodyPr/>
                        <a:lstStyle/>
                        <a:p>
                          <a:endParaRPr lang="zh-TW"/>
                        </a:p>
                      </a:txBody>
                      <a:tcPr anchor="ctr">
                        <a:blipFill>
                          <a:blip r:embed="rId5"/>
                          <a:stretch>
                            <a:fillRect l="-36949" t="-310101" r="-113051" b="-113131"/>
                          </a:stretch>
                        </a:blipFill>
                      </a:tcPr>
                    </a:tc>
                    <a:tc>
                      <a:txBody>
                        <a:bodyPr/>
                        <a:lstStyle/>
                        <a:p>
                          <a:pPr>
                            <a:lnSpc>
                              <a:spcPct val="150000"/>
                            </a:lnSpc>
                          </a:pPr>
                          <a:r>
                            <a:rPr lang="zh-TW" altLang="en-US" sz="2600" dirty="0">
                              <a:latin typeface="微軟正黑體" panose="020B0604030504040204" pitchFamily="34" charset="-120"/>
                              <a:ea typeface="微軟正黑體" panose="020B0604030504040204" pitchFamily="34" charset="-120"/>
                            </a:rPr>
                            <a:t>所有樣本中的最大絕對誤差；用來觀察最壞情況下的誤差表現</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10004"/>
                      </a:ext>
                    </a:extLst>
                  </a:tr>
                  <a:tr h="1207389">
                    <a:tc>
                      <a:txBody>
                        <a:bodyPr/>
                        <a:lstStyle/>
                        <a:p>
                          <a:r>
                            <a:rPr lang="en-US" altLang="zh-TW" sz="3200" dirty="0">
                              <a:latin typeface="Times New Roman" panose="02020603050405020304" pitchFamily="18" charset="0"/>
                              <a:ea typeface="微軟正黑體" panose="020B0604030504040204" pitchFamily="34" charset="-120"/>
                              <a:cs typeface="Times New Roman" panose="02020603050405020304" pitchFamily="18" charset="0"/>
                            </a:rPr>
                            <a:t>RPS</a:t>
                          </a:r>
                          <a:endParaRPr sz="3200" dirty="0">
                            <a:latin typeface="Times New Roman" panose="02020603050405020304" pitchFamily="18" charset="0"/>
                            <a:ea typeface="微軟正黑體" panose="020B0604030504040204" pitchFamily="34" charset="-120"/>
                            <a:cs typeface="Times New Roman" panose="02020603050405020304" pitchFamily="18" charset="0"/>
                          </a:endParaRPr>
                        </a:p>
                      </a:txBody>
                      <a:tcPr/>
                    </a:tc>
                    <a:tc>
                      <a:txBody>
                        <a:bodyPr/>
                        <a:lstStyle/>
                        <a:p>
                          <a:endParaRPr lang="zh-TW"/>
                        </a:p>
                      </a:txBody>
                      <a:tcPr anchor="ctr">
                        <a:blipFill>
                          <a:blip r:embed="rId5"/>
                          <a:stretch>
                            <a:fillRect l="-36949" t="-410101" r="-113051" b="-13131"/>
                          </a:stretch>
                        </a:blipFill>
                      </a:tcPr>
                    </a:tc>
                    <a:tc>
                      <a:txBody>
                        <a:bodyPr/>
                        <a:lstStyle/>
                        <a:p>
                          <a:pPr>
                            <a:lnSpc>
                              <a:spcPct val="150000"/>
                            </a:lnSpc>
                          </a:pPr>
                          <a:r>
                            <a:rPr lang="zh-TW" altLang="en-US" sz="2600" dirty="0">
                              <a:latin typeface="微軟正黑體" panose="020B0604030504040204" pitchFamily="34" charset="-120"/>
                              <a:ea typeface="微軟正黑體" panose="020B0604030504040204" pitchFamily="34" charset="-120"/>
                            </a:rPr>
                            <a:t>多分位數誤差加權，兼顧常態與尾端，是本研究主要比較基準</a:t>
                          </a:r>
                          <a:endParaRPr sz="2600" kern="1200" dirty="0">
                            <a:solidFill>
                              <a:schemeClr val="dk1"/>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2111757086"/>
                      </a:ext>
                    </a:extLst>
                  </a:tr>
                </a:tbl>
              </a:graphicData>
            </a:graphic>
          </p:graphicFrame>
        </mc:Fallback>
      </mc:AlternateContent>
      <p:sp>
        <p:nvSpPr>
          <p:cNvPr id="2" name="矩形 1">
            <a:extLst>
              <a:ext uri="{FF2B5EF4-FFF2-40B4-BE49-F238E27FC236}">
                <a16:creationId xmlns:a16="http://schemas.microsoft.com/office/drawing/2014/main" id="{79EE61F8-9063-B5C5-4101-24F1A7BAE1F8}"/>
              </a:ext>
            </a:extLst>
          </p:cNvPr>
          <p:cNvSpPr/>
          <p:nvPr/>
        </p:nvSpPr>
        <p:spPr>
          <a:xfrm>
            <a:off x="985740" y="6662589"/>
            <a:ext cx="16540258" cy="12282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aphicFrame>
        <p:nvGraphicFramePr>
          <p:cNvPr id="4" name="資料庫圖表 3">
            <a:extLst>
              <a:ext uri="{FF2B5EF4-FFF2-40B4-BE49-F238E27FC236}">
                <a16:creationId xmlns:a16="http://schemas.microsoft.com/office/drawing/2014/main" id="{E6A488EE-722F-D269-DD39-E39E039AE863}"/>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 name="TextBox 16"/>
          <p:cNvSpPr txBox="1"/>
          <p:nvPr/>
        </p:nvSpPr>
        <p:spPr>
          <a:xfrm>
            <a:off x="4255815" y="977028"/>
            <a:ext cx="9776369"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模型效能</a:t>
            </a:r>
            <a:r>
              <a:rPr lang="en-US" sz="48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評估指標</a:t>
            </a:r>
            <a:endParaRPr lang="en-US" sz="4800" b="1" spc="187" dirty="0">
              <a:solidFill>
                <a:srgbClr val="244DB6"/>
              </a:solidFill>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6" name="文字方塊 5">
            <a:extLst>
              <a:ext uri="{FF2B5EF4-FFF2-40B4-BE49-F238E27FC236}">
                <a16:creationId xmlns:a16="http://schemas.microsoft.com/office/drawing/2014/main" id="{09519369-9DBA-D732-FED3-AF21DA906C91}"/>
              </a:ext>
            </a:extLst>
          </p:cNvPr>
          <p:cNvSpPr txBox="1"/>
          <p:nvPr/>
        </p:nvSpPr>
        <p:spPr>
          <a:xfrm>
            <a:off x="991918" y="2933700"/>
            <a:ext cx="2438400"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Root Mean Square Error</a:t>
            </a:r>
            <a:endParaRPr lang="zh-TW" altLang="en-US" sz="16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86F5B524-916D-635A-B780-4E2735F665BE}"/>
              </a:ext>
            </a:extLst>
          </p:cNvPr>
          <p:cNvSpPr txBox="1"/>
          <p:nvPr/>
        </p:nvSpPr>
        <p:spPr>
          <a:xfrm>
            <a:off x="1014572" y="3902089"/>
            <a:ext cx="2438400"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Mean Absolute Error</a:t>
            </a:r>
            <a:endParaRPr lang="zh-TW" altLang="en-US" sz="16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698439E6-5731-F627-1DC3-D0F377EF73FC}"/>
              </a:ext>
            </a:extLst>
          </p:cNvPr>
          <p:cNvSpPr txBox="1"/>
          <p:nvPr/>
        </p:nvSpPr>
        <p:spPr>
          <a:xfrm>
            <a:off x="989857" y="4820334"/>
            <a:ext cx="1829543"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Mean Absolute </a:t>
            </a:r>
          </a:p>
          <a:p>
            <a:r>
              <a:rPr lang="en-US" altLang="zh-TW" dirty="0">
                <a:latin typeface="Times New Roman" panose="02020603050405020304" pitchFamily="18" charset="0"/>
                <a:cs typeface="Times New Roman" panose="02020603050405020304" pitchFamily="18" charset="0"/>
              </a:rPr>
              <a:t>Percentage Error</a:t>
            </a:r>
            <a:endParaRPr lang="zh-TW" altLang="en-US" sz="16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4968666E-7BC7-D53E-83D8-BF5563FBD8D0}"/>
              </a:ext>
            </a:extLst>
          </p:cNvPr>
          <p:cNvSpPr txBox="1"/>
          <p:nvPr/>
        </p:nvSpPr>
        <p:spPr>
          <a:xfrm>
            <a:off x="985740" y="6046356"/>
            <a:ext cx="2595660"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Maximum Absolute Error</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B43AEFA8-15D9-A619-E09B-71FDAA7C148B}"/>
              </a:ext>
            </a:extLst>
          </p:cNvPr>
          <p:cNvSpPr txBox="1"/>
          <p:nvPr/>
        </p:nvSpPr>
        <p:spPr>
          <a:xfrm>
            <a:off x="985740" y="7233012"/>
            <a:ext cx="2595660"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Robust Percentile Score</a:t>
            </a:r>
            <a:endParaRPr lang="zh-TW" alt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AEC4D-46D7-854F-182D-AAB8481BC966}"/>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FF79A169-AD30-7AC0-6030-90D1D2FF9A80}"/>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06D86992-2954-2C98-B809-BCE9D342C480}"/>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C2AA35D1-A46A-E3F1-86C2-053C47586A0B}"/>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3" name="TextBox 25">
            <a:extLst>
              <a:ext uri="{FF2B5EF4-FFF2-40B4-BE49-F238E27FC236}">
                <a16:creationId xmlns:a16="http://schemas.microsoft.com/office/drawing/2014/main" id="{2EA7982C-AEC9-F81E-885C-62643475F691}"/>
              </a:ext>
            </a:extLst>
          </p:cNvPr>
          <p:cNvSpPr txBox="1"/>
          <p:nvPr/>
        </p:nvSpPr>
        <p:spPr>
          <a:xfrm>
            <a:off x="5868861" y="1028700"/>
            <a:ext cx="6550278"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案例縮寫對照表</a:t>
            </a:r>
            <a:endParaRPr lang="en-US" sz="4800" b="1" spc="187" dirty="0">
              <a:solidFill>
                <a:srgbClr val="244DB6"/>
              </a:solidFill>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17" name="Freeform 15">
            <a:extLst>
              <a:ext uri="{FF2B5EF4-FFF2-40B4-BE49-F238E27FC236}">
                <a16:creationId xmlns:a16="http://schemas.microsoft.com/office/drawing/2014/main" id="{694BA9B9-390F-D7BD-D262-6F6EDFC58530}"/>
              </a:ext>
            </a:extLst>
          </p:cNvPr>
          <p:cNvSpPr/>
          <p:nvPr/>
        </p:nvSpPr>
        <p:spPr>
          <a:xfrm>
            <a:off x="3303666" y="1573914"/>
            <a:ext cx="12088734" cy="6781799"/>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pic>
        <p:nvPicPr>
          <p:cNvPr id="4" name="圖片 3">
            <a:extLst>
              <a:ext uri="{FF2B5EF4-FFF2-40B4-BE49-F238E27FC236}">
                <a16:creationId xmlns:a16="http://schemas.microsoft.com/office/drawing/2014/main" id="{B9E3E80B-85B0-33DD-2ABF-77BE9A5285A1}"/>
              </a:ext>
            </a:extLst>
          </p:cNvPr>
          <p:cNvPicPr>
            <a:picLocks noChangeAspect="1"/>
          </p:cNvPicPr>
          <p:nvPr/>
        </p:nvPicPr>
        <p:blipFill>
          <a:blip r:embed="rId5"/>
          <a:stretch>
            <a:fillRect/>
          </a:stretch>
        </p:blipFill>
        <p:spPr>
          <a:xfrm>
            <a:off x="3176257" y="1638300"/>
            <a:ext cx="10615943" cy="6781799"/>
          </a:xfrm>
          <a:prstGeom prst="rect">
            <a:avLst/>
          </a:prstGeom>
        </p:spPr>
      </p:pic>
      <p:graphicFrame>
        <p:nvGraphicFramePr>
          <p:cNvPr id="2" name="資料庫圖表 1">
            <a:extLst>
              <a:ext uri="{FF2B5EF4-FFF2-40B4-BE49-F238E27FC236}">
                <a16:creationId xmlns:a16="http://schemas.microsoft.com/office/drawing/2014/main" id="{03E3B244-73E1-B3E8-1BF1-FE60575393F5}"/>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文字方塊 6">
            <a:extLst>
              <a:ext uri="{FF2B5EF4-FFF2-40B4-BE49-F238E27FC236}">
                <a16:creationId xmlns:a16="http://schemas.microsoft.com/office/drawing/2014/main" id="{FCB12E7D-416A-A414-D4D7-125670EFB02A}"/>
              </a:ext>
            </a:extLst>
          </p:cNvPr>
          <p:cNvSpPr txBox="1"/>
          <p:nvPr/>
        </p:nvSpPr>
        <p:spPr>
          <a:xfrm>
            <a:off x="13755131" y="7155384"/>
            <a:ext cx="1865870" cy="1200329"/>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S=Shrink</a:t>
            </a:r>
          </a:p>
          <a:p>
            <a:r>
              <a:rPr lang="en-US" altLang="zh-TW" dirty="0">
                <a:latin typeface="Times New Roman" panose="02020603050405020304" pitchFamily="18" charset="0"/>
                <a:cs typeface="Times New Roman" panose="02020603050405020304" pitchFamily="18" charset="0"/>
              </a:rPr>
              <a:t>F=Flattened</a:t>
            </a:r>
          </a:p>
          <a:p>
            <a:r>
              <a:rPr lang="en-US" altLang="zh-TW" dirty="0">
                <a:latin typeface="Times New Roman" panose="02020603050405020304" pitchFamily="18" charset="0"/>
                <a:cs typeface="Times New Roman" panose="02020603050405020304" pitchFamily="18" charset="0"/>
              </a:rPr>
              <a:t>N=Normalized</a:t>
            </a:r>
          </a:p>
          <a:p>
            <a:r>
              <a:rPr lang="en-US" altLang="zh-TW" dirty="0">
                <a:latin typeface="Times New Roman" panose="02020603050405020304" pitchFamily="18" charset="0"/>
                <a:cs typeface="Times New Roman" panose="02020603050405020304" pitchFamily="18" charset="0"/>
              </a:rPr>
              <a:t>U=Unnormalized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606822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FC5197C-FD5F-433B-A780-C29A42C2E33E}"/>
              </a:ext>
            </a:extLst>
          </p:cNvPr>
          <p:cNvSpPr/>
          <p:nvPr/>
        </p:nvSpPr>
        <p:spPr>
          <a:xfrm>
            <a:off x="3814668" y="1702582"/>
            <a:ext cx="10658664" cy="7022317"/>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3" name="TextBox 25">
            <a:extLst>
              <a:ext uri="{FF2B5EF4-FFF2-40B4-BE49-F238E27FC236}">
                <a16:creationId xmlns:a16="http://schemas.microsoft.com/office/drawing/2014/main" id="{11387F64-A2B5-FF2F-E289-5B5B8A6F818D}"/>
              </a:ext>
            </a:extLst>
          </p:cNvPr>
          <p:cNvSpPr txBox="1"/>
          <p:nvPr/>
        </p:nvSpPr>
        <p:spPr>
          <a:xfrm>
            <a:off x="4388894" y="1028700"/>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各模型的</a:t>
            </a: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Grid Search</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結果</a:t>
            </a:r>
          </a:p>
        </p:txBody>
      </p:sp>
      <p:graphicFrame>
        <p:nvGraphicFramePr>
          <p:cNvPr id="4" name="物件 3">
            <a:extLst>
              <a:ext uri="{FF2B5EF4-FFF2-40B4-BE49-F238E27FC236}">
                <a16:creationId xmlns:a16="http://schemas.microsoft.com/office/drawing/2014/main" id="{5FAD295E-7902-4622-ABDF-6A3562B95C0D}"/>
              </a:ext>
            </a:extLst>
          </p:cNvPr>
          <p:cNvGraphicFramePr>
            <a:graphicFrameLocks noChangeAspect="1"/>
          </p:cNvGraphicFramePr>
          <p:nvPr>
            <p:extLst>
              <p:ext uri="{D42A27DB-BD31-4B8C-83A1-F6EECF244321}">
                <p14:modId xmlns:p14="http://schemas.microsoft.com/office/powerpoint/2010/main" val="2649203915"/>
              </p:ext>
            </p:extLst>
          </p:nvPr>
        </p:nvGraphicFramePr>
        <p:xfrm>
          <a:off x="3814668" y="1702583"/>
          <a:ext cx="10658664" cy="7504233"/>
        </p:xfrm>
        <a:graphic>
          <a:graphicData uri="http://schemas.openxmlformats.org/presentationml/2006/ole">
            <mc:AlternateContent xmlns:mc="http://schemas.openxmlformats.org/markup-compatibility/2006">
              <mc:Choice xmlns:v="urn:schemas-microsoft-com:vml" Requires="v">
                <p:oleObj name="Document" r:id="rId5" imgW="5269216" imgH="3536327" progId="Word.Document.12">
                  <p:embed/>
                </p:oleObj>
              </mc:Choice>
              <mc:Fallback>
                <p:oleObj name="Document" r:id="rId5" imgW="5269216" imgH="3536327" progId="Word.Document.12">
                  <p:embed/>
                  <p:pic>
                    <p:nvPicPr>
                      <p:cNvPr id="0" name=""/>
                      <p:cNvPicPr/>
                      <p:nvPr/>
                    </p:nvPicPr>
                    <p:blipFill>
                      <a:blip r:embed="rId6"/>
                      <a:stretch>
                        <a:fillRect/>
                      </a:stretch>
                    </p:blipFill>
                    <p:spPr>
                      <a:xfrm>
                        <a:off x="3814668" y="1702583"/>
                        <a:ext cx="10658664" cy="7504233"/>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F3F81873-DBF9-23C7-8DB1-B92F94F7410F}"/>
              </a:ext>
            </a:extLst>
          </p:cNvPr>
          <p:cNvSpPr/>
          <p:nvPr/>
        </p:nvSpPr>
        <p:spPr>
          <a:xfrm>
            <a:off x="4191000" y="2489854"/>
            <a:ext cx="10210800" cy="5962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 name="資料庫圖表 1">
            <a:extLst>
              <a:ext uri="{FF2B5EF4-FFF2-40B4-BE49-F238E27FC236}">
                <a16:creationId xmlns:a16="http://schemas.microsoft.com/office/drawing/2014/main" id="{55E396DC-2978-2C8D-87F6-3B8519FF95A9}"/>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067156004"/>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9AA09-DD5B-BEAB-CBB8-E1F62307E9F8}"/>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AF7300F3-1E62-ACC8-6FD0-979036A3D4AA}"/>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ABA773EB-3305-87BE-9459-13DC434B0F15}"/>
              </a:ext>
            </a:extLst>
          </p:cNvPr>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a:extLst>
              <a:ext uri="{FF2B5EF4-FFF2-40B4-BE49-F238E27FC236}">
                <a16:creationId xmlns:a16="http://schemas.microsoft.com/office/drawing/2014/main" id="{561F5135-884F-D151-3328-E167E92D07D2}"/>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4" name="Group 14">
            <a:extLst>
              <a:ext uri="{FF2B5EF4-FFF2-40B4-BE49-F238E27FC236}">
                <a16:creationId xmlns:a16="http://schemas.microsoft.com/office/drawing/2014/main" id="{ED0580DF-36A8-AF34-5FA3-EC7E6A8F5F27}"/>
              </a:ext>
            </a:extLst>
          </p:cNvPr>
          <p:cNvGrpSpPr/>
          <p:nvPr/>
        </p:nvGrpSpPr>
        <p:grpSpPr>
          <a:xfrm>
            <a:off x="1904998" y="2148636"/>
            <a:ext cx="14287501" cy="5780346"/>
            <a:chOff x="0" y="0"/>
            <a:chExt cx="5662802" cy="3156468"/>
          </a:xfrm>
        </p:grpSpPr>
        <p:sp>
          <p:nvSpPr>
            <p:cNvPr id="15" name="Freeform 15">
              <a:extLst>
                <a:ext uri="{FF2B5EF4-FFF2-40B4-BE49-F238E27FC236}">
                  <a16:creationId xmlns:a16="http://schemas.microsoft.com/office/drawing/2014/main" id="{E4088F74-6A63-E85F-1A28-5150CAF862BE}"/>
                </a:ext>
              </a:extLst>
            </p:cNvPr>
            <p:cNvSpPr/>
            <p:nvPr/>
          </p:nvSpPr>
          <p:spPr>
            <a:xfrm>
              <a:off x="48260" y="4826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244DB6"/>
            </a:solidFill>
          </p:spPr>
          <p:txBody>
            <a:bodyPr/>
            <a:lstStyle/>
            <a:p>
              <a:endParaRPr lang="zh-TW" altLang="en-US"/>
            </a:p>
          </p:txBody>
        </p:sp>
        <p:sp>
          <p:nvSpPr>
            <p:cNvPr id="16" name="Freeform 16">
              <a:extLst>
                <a:ext uri="{FF2B5EF4-FFF2-40B4-BE49-F238E27FC236}">
                  <a16:creationId xmlns:a16="http://schemas.microsoft.com/office/drawing/2014/main" id="{BC97AD7F-234A-CABF-08E1-E19C3A5DC05D}"/>
                </a:ext>
              </a:extLst>
            </p:cNvPr>
            <p:cNvSpPr/>
            <p:nvPr/>
          </p:nvSpPr>
          <p:spPr>
            <a:xfrm>
              <a:off x="6350" y="6350"/>
              <a:ext cx="5614542" cy="3108208"/>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a:p>
          </p:txBody>
        </p:sp>
        <p:sp>
          <p:nvSpPr>
            <p:cNvPr id="17" name="Freeform 17">
              <a:extLst>
                <a:ext uri="{FF2B5EF4-FFF2-40B4-BE49-F238E27FC236}">
                  <a16:creationId xmlns:a16="http://schemas.microsoft.com/office/drawing/2014/main" id="{60033721-8D7D-8D03-D84F-59F36EE35D03}"/>
                </a:ext>
              </a:extLst>
            </p:cNvPr>
            <p:cNvSpPr/>
            <p:nvPr/>
          </p:nvSpPr>
          <p:spPr>
            <a:xfrm>
              <a:off x="0" y="0"/>
              <a:ext cx="5627242" cy="3120908"/>
            </a:xfrm>
            <a:custGeom>
              <a:avLst/>
              <a:gdLst/>
              <a:ahLst/>
              <a:cxnLst/>
              <a:rect l="l" t="t" r="r" b="b"/>
              <a:pathLst>
                <a:path w="5627242" h="3120908">
                  <a:moveTo>
                    <a:pt x="5627242" y="3120908"/>
                  </a:moveTo>
                  <a:lnTo>
                    <a:pt x="0" y="3120908"/>
                  </a:lnTo>
                  <a:lnTo>
                    <a:pt x="0" y="0"/>
                  </a:lnTo>
                  <a:lnTo>
                    <a:pt x="5627242" y="0"/>
                  </a:lnTo>
                  <a:lnTo>
                    <a:pt x="5627242" y="3120908"/>
                  </a:lnTo>
                  <a:close/>
                  <a:moveTo>
                    <a:pt x="12700" y="3108208"/>
                  </a:moveTo>
                  <a:lnTo>
                    <a:pt x="5614542" y="3108208"/>
                  </a:lnTo>
                  <a:lnTo>
                    <a:pt x="5614542" y="12700"/>
                  </a:lnTo>
                  <a:lnTo>
                    <a:pt x="12700" y="12700"/>
                  </a:lnTo>
                  <a:lnTo>
                    <a:pt x="12700" y="3108208"/>
                  </a:lnTo>
                  <a:close/>
                </a:path>
              </a:pathLst>
            </a:custGeom>
            <a:solidFill>
              <a:srgbClr val="244DB6"/>
            </a:solidFill>
          </p:spPr>
          <p:txBody>
            <a:bodyPr/>
            <a:lstStyle/>
            <a:p>
              <a:endParaRPr lang="zh-TW" altLang="en-US"/>
            </a:p>
          </p:txBody>
        </p:sp>
      </p:grpSp>
      <p:sp>
        <p:nvSpPr>
          <p:cNvPr id="27" name="TextBox 27">
            <a:extLst>
              <a:ext uri="{FF2B5EF4-FFF2-40B4-BE49-F238E27FC236}">
                <a16:creationId xmlns:a16="http://schemas.microsoft.com/office/drawing/2014/main" id="{0EB42281-3072-11CA-1A6D-438798460578}"/>
              </a:ext>
            </a:extLst>
          </p:cNvPr>
          <p:cNvSpPr txBox="1"/>
          <p:nvPr/>
        </p:nvSpPr>
        <p:spPr>
          <a:xfrm>
            <a:off x="2095500" y="968682"/>
            <a:ext cx="14097000" cy="1083823"/>
          </a:xfrm>
          <a:prstGeom prst="rect">
            <a:avLst/>
          </a:prstGeom>
        </p:spPr>
        <p:txBody>
          <a:bodyPr wrap="square" lIns="0" tIns="0" rIns="0" bIns="0" rtlCol="0" anchor="t">
            <a:spAutoFit/>
          </a:bodyPr>
          <a:lstStyle>
            <a:defPPr>
              <a:defRPr lang="en-US"/>
            </a:defPPr>
            <a:lvl1pPr algn="ctr">
              <a:lnSpc>
                <a:spcPts val="4239"/>
              </a:lnSpc>
              <a:defRPr sz="4800" b="1" spc="187">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defRPr>
            </a:lvl1pPr>
          </a:lstStyle>
          <a:p>
            <a:r>
              <a:rPr lang="en-US" altLang="zh-TW" dirty="0"/>
              <a:t>TPE</a:t>
            </a:r>
            <a:r>
              <a:rPr lang="zh-TW" altLang="en-US" dirty="0"/>
              <a:t> </a:t>
            </a:r>
            <a:r>
              <a:rPr lang="en-US" altLang="zh-TW" dirty="0"/>
              <a:t>(Tree-structured </a:t>
            </a:r>
            <a:r>
              <a:rPr lang="en-US" altLang="zh-TW" dirty="0" err="1"/>
              <a:t>Parzen</a:t>
            </a:r>
            <a:r>
              <a:rPr lang="en-US" altLang="zh-TW" dirty="0"/>
              <a:t> Estimator)</a:t>
            </a:r>
          </a:p>
          <a:p>
            <a:r>
              <a:rPr lang="zh-TW" altLang="en-US" dirty="0"/>
              <a:t>搜尋演算法說明</a:t>
            </a:r>
            <a:endParaRPr lang="en-US" dirty="0">
              <a:sym typeface="Blink Twice"/>
            </a:endParaRPr>
          </a:p>
        </p:txBody>
      </p:sp>
      <p:sp>
        <p:nvSpPr>
          <p:cNvPr id="29" name="TextBox 29">
            <a:extLst>
              <a:ext uri="{FF2B5EF4-FFF2-40B4-BE49-F238E27FC236}">
                <a16:creationId xmlns:a16="http://schemas.microsoft.com/office/drawing/2014/main" id="{852EA67B-A5D4-7C03-190C-8C190A7FAC91}"/>
              </a:ext>
            </a:extLst>
          </p:cNvPr>
          <p:cNvSpPr txBox="1"/>
          <p:nvPr/>
        </p:nvSpPr>
        <p:spPr>
          <a:xfrm>
            <a:off x="2286001" y="2358018"/>
            <a:ext cx="13258800" cy="4289444"/>
          </a:xfrm>
          <a:prstGeom prst="rect">
            <a:avLst/>
          </a:prstGeom>
        </p:spPr>
        <p:txBody>
          <a:bodyPr wrap="square" lIns="0" tIns="0" rIns="0" bIns="0" rtlCol="0" anchor="t">
            <a:spAutoFit/>
          </a:bodyPr>
          <a:lstStyle/>
          <a:p>
            <a:pPr marL="457200" indent="-457200">
              <a:lnSpc>
                <a:spcPct val="20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能根據歷次試驗結果動態調整搜尋方向，避免無效參數組合，加速收斂至最佳區域</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nSpc>
                <a:spcPct val="200000"/>
              </a:lnSpc>
              <a:buFont typeface="Arial" panose="020B0604020202020204" pitchFamily="34" charset="0"/>
              <a:buChar char="•"/>
            </a:pP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與相較於傳統</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Grid Search</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TPE</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不需窮舉所有組合，能以較少試驗次數快速找到高效解</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a:lnSpc>
                <a:spcPct val="200000"/>
              </a:lnSpc>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因此，本研究在</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Grid Search</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方法確定最佳模型後，針對表現最佳的</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XGB-S</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模型再採用</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TPE</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方法進行超參數最佳化，以進一步提升預測效能。</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39" name="投影片編號版面配置區 38">
            <a:extLst>
              <a:ext uri="{FF2B5EF4-FFF2-40B4-BE49-F238E27FC236}">
                <a16:creationId xmlns:a16="http://schemas.microsoft.com/office/drawing/2014/main" id="{9BDC3060-FC6A-4743-6D40-93949A950822}"/>
              </a:ext>
            </a:extLst>
          </p:cNvPr>
          <p:cNvSpPr>
            <a:spLocks noGrp="1"/>
          </p:cNvSpPr>
          <p:nvPr>
            <p:ph type="sldNum" sz="quarter" idx="12"/>
          </p:nvPr>
        </p:nvSpPr>
        <p:spPr/>
        <p:txBody>
          <a:bodyPr/>
          <a:lstStyle/>
          <a:p>
            <a:fld id="{B6F15528-21DE-4FAA-801E-634DDDAF4B2B}" type="slidenum">
              <a:rPr lang="en-US" smtClean="0"/>
              <a:pPr/>
              <a:t>34</a:t>
            </a:fld>
            <a:endParaRPr lang="en-US"/>
          </a:p>
        </p:txBody>
      </p:sp>
      <p:graphicFrame>
        <p:nvGraphicFramePr>
          <p:cNvPr id="2" name="資料庫圖表 1">
            <a:extLst>
              <a:ext uri="{FF2B5EF4-FFF2-40B4-BE49-F238E27FC236}">
                <a16:creationId xmlns:a16="http://schemas.microsoft.com/office/drawing/2014/main" id="{E7F34C86-6829-418F-90F0-3E53727C1EB2}"/>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8219043"/>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87D7B-9D7A-616A-C857-40E962760E0F}"/>
            </a:ext>
          </a:extLst>
        </p:cNvPr>
        <p:cNvGrpSpPr/>
        <p:nvPr/>
      </p:nvGrpSpPr>
      <p:grpSpPr>
        <a:xfrm>
          <a:off x="0" y="0"/>
          <a:ext cx="0" cy="0"/>
          <a:chOff x="0" y="0"/>
          <a:chExt cx="0" cy="0"/>
        </a:xfrm>
      </p:grpSpPr>
      <p:sp>
        <p:nvSpPr>
          <p:cNvPr id="16" name="Freeform 15">
            <a:extLst>
              <a:ext uri="{FF2B5EF4-FFF2-40B4-BE49-F238E27FC236}">
                <a16:creationId xmlns:a16="http://schemas.microsoft.com/office/drawing/2014/main" id="{9C314826-CCBB-9D46-59AB-8F631839A743}"/>
              </a:ext>
            </a:extLst>
          </p:cNvPr>
          <p:cNvSpPr/>
          <p:nvPr/>
        </p:nvSpPr>
        <p:spPr>
          <a:xfrm>
            <a:off x="3428999" y="1702582"/>
            <a:ext cx="10833719" cy="7022317"/>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1" name="Freeform 11">
            <a:extLst>
              <a:ext uri="{FF2B5EF4-FFF2-40B4-BE49-F238E27FC236}">
                <a16:creationId xmlns:a16="http://schemas.microsoft.com/office/drawing/2014/main" id="{7BFFFFF5-7F38-F020-27B2-6EDFFDD7A6FA}"/>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68849D10-7D43-1837-4E43-0AB4E868C687}"/>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FC4103B6-D075-DCDC-8DB3-45F8BD449A28}"/>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3" name="TextBox 25">
            <a:extLst>
              <a:ext uri="{FF2B5EF4-FFF2-40B4-BE49-F238E27FC236}">
                <a16:creationId xmlns:a16="http://schemas.microsoft.com/office/drawing/2014/main" id="{2988A599-D989-FBE0-40A0-8E944B21B15C}"/>
              </a:ext>
            </a:extLst>
          </p:cNvPr>
          <p:cNvSpPr txBox="1"/>
          <p:nvPr/>
        </p:nvSpPr>
        <p:spPr>
          <a:xfrm>
            <a:off x="3146211" y="1016887"/>
            <a:ext cx="11399294" cy="545214"/>
          </a:xfrm>
          <a:prstGeom prst="rect">
            <a:avLst/>
          </a:prstGeom>
        </p:spPr>
        <p:txBody>
          <a:bodyPr wrap="square" lIns="0" tIns="0" rIns="0" bIns="0" rtlCol="0" anchor="t">
            <a:spAutoFit/>
          </a:bodyPr>
          <a:lstStyle/>
          <a:p>
            <a:pPr algn="ctr">
              <a:lnSpc>
                <a:spcPts val="4239"/>
              </a:lnSpc>
            </a:pP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XGB-S</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模型經</a:t>
            </a: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TPE</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演算法的最佳參數組合</a:t>
            </a:r>
            <a:endPar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pic>
        <p:nvPicPr>
          <p:cNvPr id="2" name="圖片 1">
            <a:extLst>
              <a:ext uri="{FF2B5EF4-FFF2-40B4-BE49-F238E27FC236}">
                <a16:creationId xmlns:a16="http://schemas.microsoft.com/office/drawing/2014/main" id="{E9DEC577-EED3-A8CC-3B0A-EAFE0A1A6FB8}"/>
              </a:ext>
            </a:extLst>
          </p:cNvPr>
          <p:cNvPicPr>
            <a:picLocks noChangeAspect="1"/>
          </p:cNvPicPr>
          <p:nvPr/>
        </p:nvPicPr>
        <p:blipFill>
          <a:blip r:embed="rId5"/>
          <a:stretch>
            <a:fillRect/>
          </a:stretch>
        </p:blipFill>
        <p:spPr>
          <a:xfrm>
            <a:off x="3429000" y="1638300"/>
            <a:ext cx="10833719" cy="7741366"/>
          </a:xfrm>
          <a:prstGeom prst="rect">
            <a:avLst/>
          </a:prstGeom>
        </p:spPr>
      </p:pic>
      <p:graphicFrame>
        <p:nvGraphicFramePr>
          <p:cNvPr id="5" name="資料庫圖表 4">
            <a:extLst>
              <a:ext uri="{FF2B5EF4-FFF2-40B4-BE49-F238E27FC236}">
                <a16:creationId xmlns:a16="http://schemas.microsoft.com/office/drawing/2014/main" id="{BB98854A-0D9F-5CE2-6923-84F47F301B40}"/>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95957427"/>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0C4CF-9C9E-AA75-23A1-C9E854145BBE}"/>
            </a:ext>
          </a:extLst>
        </p:cNvPr>
        <p:cNvGrpSpPr/>
        <p:nvPr/>
      </p:nvGrpSpPr>
      <p:grpSpPr>
        <a:xfrm>
          <a:off x="0" y="0"/>
          <a:ext cx="0" cy="0"/>
          <a:chOff x="0" y="0"/>
          <a:chExt cx="0" cy="0"/>
        </a:xfrm>
      </p:grpSpPr>
      <p:sp>
        <p:nvSpPr>
          <p:cNvPr id="28" name="Freeform 16">
            <a:extLst>
              <a:ext uri="{FF2B5EF4-FFF2-40B4-BE49-F238E27FC236}">
                <a16:creationId xmlns:a16="http://schemas.microsoft.com/office/drawing/2014/main" id="{0660EFA8-E9AF-F14F-F2E7-159498C14643}"/>
              </a:ext>
            </a:extLst>
          </p:cNvPr>
          <p:cNvSpPr/>
          <p:nvPr/>
        </p:nvSpPr>
        <p:spPr>
          <a:xfrm>
            <a:off x="3472887" y="2705100"/>
            <a:ext cx="10972162" cy="3498410"/>
          </a:xfrm>
          <a:custGeom>
            <a:avLst/>
            <a:gdLst/>
            <a:ahLst/>
            <a:cxnLst/>
            <a:rect l="l" t="t" r="r" b="b"/>
            <a:pathLst>
              <a:path w="5614542" h="3108208">
                <a:moveTo>
                  <a:pt x="0" y="0"/>
                </a:moveTo>
                <a:lnTo>
                  <a:pt x="5614542" y="0"/>
                </a:lnTo>
                <a:lnTo>
                  <a:pt x="5614542" y="3108208"/>
                </a:lnTo>
                <a:lnTo>
                  <a:pt x="0" y="3108208"/>
                </a:lnTo>
                <a:close/>
              </a:path>
            </a:pathLst>
          </a:custGeom>
          <a:solidFill>
            <a:srgbClr val="FFFCF4"/>
          </a:solidFill>
        </p:spPr>
        <p:txBody>
          <a:bodyPr/>
          <a:lstStyle/>
          <a:p>
            <a:endParaRPr lang="zh-TW" altLang="en-US" dirty="0"/>
          </a:p>
        </p:txBody>
      </p:sp>
      <p:sp>
        <p:nvSpPr>
          <p:cNvPr id="11" name="Freeform 11">
            <a:extLst>
              <a:ext uri="{FF2B5EF4-FFF2-40B4-BE49-F238E27FC236}">
                <a16:creationId xmlns:a16="http://schemas.microsoft.com/office/drawing/2014/main" id="{0A30AF22-A5D3-246F-AE47-136F5A86BE53}"/>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D8D03921-0AA1-1C39-EEFD-11B92B27737F}"/>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792BAD17-C4BF-37C8-4D25-DEA15F385BF8}"/>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3" name="TextBox 25">
            <a:extLst>
              <a:ext uri="{FF2B5EF4-FFF2-40B4-BE49-F238E27FC236}">
                <a16:creationId xmlns:a16="http://schemas.microsoft.com/office/drawing/2014/main" id="{0490CB09-2D83-DA15-F167-45E43C9ABF50}"/>
              </a:ext>
            </a:extLst>
          </p:cNvPr>
          <p:cNvSpPr txBox="1"/>
          <p:nvPr/>
        </p:nvSpPr>
        <p:spPr>
          <a:xfrm>
            <a:off x="4038600" y="1028700"/>
            <a:ext cx="9722894" cy="545214"/>
          </a:xfrm>
          <a:prstGeom prst="rect">
            <a:avLst/>
          </a:prstGeom>
        </p:spPr>
        <p:txBody>
          <a:bodyPr wrap="square" lIns="0" tIns="0" rIns="0" bIns="0" rtlCol="0" anchor="t">
            <a:spAutoFit/>
          </a:bodyPr>
          <a:lstStyle/>
          <a:p>
            <a:pPr algn="ctr">
              <a:lnSpc>
                <a:spcPts val="4239"/>
              </a:lnSpc>
            </a:pP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XGB-S</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模型之超參數最佳化結果</a:t>
            </a:r>
            <a:endPar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pic>
        <p:nvPicPr>
          <p:cNvPr id="6" name="圖片 5">
            <a:extLst>
              <a:ext uri="{FF2B5EF4-FFF2-40B4-BE49-F238E27FC236}">
                <a16:creationId xmlns:a16="http://schemas.microsoft.com/office/drawing/2014/main" id="{E92FFFF9-9BE0-D641-2443-C6AED8892962}"/>
              </a:ext>
            </a:extLst>
          </p:cNvPr>
          <p:cNvPicPr>
            <a:picLocks noChangeAspect="1"/>
          </p:cNvPicPr>
          <p:nvPr/>
        </p:nvPicPr>
        <p:blipFill>
          <a:blip r:embed="rId5"/>
          <a:stretch>
            <a:fillRect/>
          </a:stretch>
        </p:blipFill>
        <p:spPr>
          <a:xfrm>
            <a:off x="4069492" y="2933699"/>
            <a:ext cx="9692002" cy="1936109"/>
          </a:xfrm>
          <a:prstGeom prst="rect">
            <a:avLst/>
          </a:prstGeom>
        </p:spPr>
      </p:pic>
      <p:sp>
        <p:nvSpPr>
          <p:cNvPr id="7" name="矩形 6">
            <a:extLst>
              <a:ext uri="{FF2B5EF4-FFF2-40B4-BE49-F238E27FC236}">
                <a16:creationId xmlns:a16="http://schemas.microsoft.com/office/drawing/2014/main" id="{8F57BDB1-4384-D1DD-7992-806103B51EC9}"/>
              </a:ext>
            </a:extLst>
          </p:cNvPr>
          <p:cNvSpPr/>
          <p:nvPr/>
        </p:nvSpPr>
        <p:spPr>
          <a:xfrm>
            <a:off x="4055076" y="3600769"/>
            <a:ext cx="9692002" cy="5962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descr="一張含有 黃色, 設計, 美工圖案 的圖片&#10;&#10;AI 產生的內容可能不正確。">
            <a:extLst>
              <a:ext uri="{FF2B5EF4-FFF2-40B4-BE49-F238E27FC236}">
                <a16:creationId xmlns:a16="http://schemas.microsoft.com/office/drawing/2014/main" id="{25DFBAE2-45CF-E4D8-4140-D4198347AF44}"/>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16154" y1="39615" x2="16154" y2="39615"/>
                        <a14:foregroundMark x1="33077" y1="47692" x2="33077" y2="47692"/>
                        <a14:foregroundMark x1="51923" y1="28462" x2="51923" y2="28462"/>
                        <a14:foregroundMark x1="67692" y1="46923" x2="67692" y2="46923"/>
                        <a14:foregroundMark x1="82308" y1="42692" x2="82308" y2="42692"/>
                      </a14:backgroundRemoval>
                    </a14:imgEffect>
                  </a14:imgLayer>
                </a14:imgProps>
              </a:ext>
              <a:ext uri="{28A0092B-C50C-407E-A947-70E740481C1C}">
                <a14:useLocalDpi xmlns:a14="http://schemas.microsoft.com/office/drawing/2010/main" val="0"/>
              </a:ext>
            </a:extLst>
          </a:blip>
          <a:stretch>
            <a:fillRect/>
          </a:stretch>
        </p:blipFill>
        <p:spPr>
          <a:xfrm rot="842192">
            <a:off x="13325756" y="2594134"/>
            <a:ext cx="1346200" cy="1346200"/>
          </a:xfrm>
          <a:prstGeom prst="rect">
            <a:avLst/>
          </a:prstGeom>
        </p:spPr>
      </p:pic>
      <p:sp>
        <p:nvSpPr>
          <p:cNvPr id="10" name="TextBox 39">
            <a:extLst>
              <a:ext uri="{FF2B5EF4-FFF2-40B4-BE49-F238E27FC236}">
                <a16:creationId xmlns:a16="http://schemas.microsoft.com/office/drawing/2014/main" id="{0E527897-F91A-F46E-EE9F-D39D6D375437}"/>
              </a:ext>
            </a:extLst>
          </p:cNvPr>
          <p:cNvSpPr txBox="1"/>
          <p:nvPr/>
        </p:nvSpPr>
        <p:spPr>
          <a:xfrm>
            <a:off x="4202114" y="5248721"/>
            <a:ext cx="9513707" cy="498150"/>
          </a:xfrm>
          <a:prstGeom prst="rect">
            <a:avLst/>
          </a:prstGeom>
        </p:spPr>
        <p:txBody>
          <a:bodyPr wrap="square" lIns="0" tIns="0" rIns="0" bIns="0" rtlCol="0" anchor="t">
            <a:spAutoFit/>
          </a:bodyPr>
          <a:lstStyle/>
          <a:p>
            <a:pPr marL="457200" indent="-457200" algn="just">
              <a:lnSpc>
                <a:spcPts val="4200"/>
              </a:lnSpc>
              <a:buFont typeface="Arial" panose="020B0604020202020204" pitchFamily="34" charset="0"/>
              <a:buChar char="•"/>
            </a:pP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XGB-OPT</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幾乎於所有評估指標中皆取得最佳表現</a:t>
            </a: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13" name="資料庫圖表 12">
            <a:extLst>
              <a:ext uri="{FF2B5EF4-FFF2-40B4-BE49-F238E27FC236}">
                <a16:creationId xmlns:a16="http://schemas.microsoft.com/office/drawing/2014/main" id="{7B942DA4-603E-33D9-427E-ADCE327EF73A}"/>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6342651"/>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a:extLst>
              <a:ext uri="{FF2B5EF4-FFF2-40B4-BE49-F238E27FC236}">
                <a16:creationId xmlns:a16="http://schemas.microsoft.com/office/drawing/2014/main" id="{B1C991BC-ED75-412D-804A-5D23C82DE1B4}"/>
              </a:ext>
            </a:extLst>
          </p:cNvPr>
          <p:cNvGrpSpPr/>
          <p:nvPr/>
        </p:nvGrpSpPr>
        <p:grpSpPr>
          <a:xfrm>
            <a:off x="3352800" y="1769654"/>
            <a:ext cx="11727889" cy="6426422"/>
            <a:chOff x="0" y="0"/>
            <a:chExt cx="6762470" cy="3156468"/>
          </a:xfrm>
        </p:grpSpPr>
        <p:sp>
          <p:nvSpPr>
            <p:cNvPr id="14" name="Freeform 14">
              <a:extLst>
                <a:ext uri="{FF2B5EF4-FFF2-40B4-BE49-F238E27FC236}">
                  <a16:creationId xmlns:a16="http://schemas.microsoft.com/office/drawing/2014/main" id="{D6BC0DB9-144D-445F-873B-4CF8B8ADEB80}"/>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A04E46AA-D7E7-4428-BF40-363E402B98A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a:p>
          </p:txBody>
        </p:sp>
        <p:sp>
          <p:nvSpPr>
            <p:cNvPr id="16" name="Freeform 16">
              <a:extLst>
                <a:ext uri="{FF2B5EF4-FFF2-40B4-BE49-F238E27FC236}">
                  <a16:creationId xmlns:a16="http://schemas.microsoft.com/office/drawing/2014/main" id="{44D9B718-D252-4F9F-AD45-9A7DF4330DCD}"/>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3" name="TextBox 25">
            <a:extLst>
              <a:ext uri="{FF2B5EF4-FFF2-40B4-BE49-F238E27FC236}">
                <a16:creationId xmlns:a16="http://schemas.microsoft.com/office/drawing/2014/main" id="{11387F64-A2B5-FF2F-E289-5B5B8A6F818D}"/>
              </a:ext>
            </a:extLst>
          </p:cNvPr>
          <p:cNvSpPr txBox="1"/>
          <p:nvPr/>
        </p:nvSpPr>
        <p:spPr>
          <a:xfrm>
            <a:off x="4388894" y="1028700"/>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模型結果分析</a:t>
            </a:r>
          </a:p>
        </p:txBody>
      </p:sp>
      <p:sp>
        <p:nvSpPr>
          <p:cNvPr id="8" name="TextBox 39">
            <a:extLst>
              <a:ext uri="{FF2B5EF4-FFF2-40B4-BE49-F238E27FC236}">
                <a16:creationId xmlns:a16="http://schemas.microsoft.com/office/drawing/2014/main" id="{D07F54D9-CA36-7F91-1E2A-5DDD25168FCD}"/>
              </a:ext>
            </a:extLst>
          </p:cNvPr>
          <p:cNvSpPr txBox="1"/>
          <p:nvPr/>
        </p:nvSpPr>
        <p:spPr>
          <a:xfrm>
            <a:off x="3505200" y="1835699"/>
            <a:ext cx="11301233" cy="5757282"/>
          </a:xfrm>
          <a:prstGeom prst="rect">
            <a:avLst/>
          </a:prstGeom>
        </p:spPr>
        <p:txBody>
          <a:bodyPr wrap="square" lIns="0" tIns="0" rIns="0" bIns="0" rtlCol="0" anchor="t">
            <a:spAutoFit/>
          </a:bodyPr>
          <a:lstStyle/>
          <a:p>
            <a:pPr marL="457200" indent="-457200" algn="just">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不同於文獻常見的展開式特徵，</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濃縮特徵</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(81</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維</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整體上比展開特徵</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(308</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維</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更具優勢</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各項評估指標皆以</a:t>
            </a:r>
            <a:r>
              <a:rPr lang="en-US" altLang="zh-TW" sz="3200"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XGBoost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系列模型表現最佳，整體效能優於</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Random Forest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與</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SVR</a:t>
            </a:r>
          </a:p>
          <a:p>
            <a:pPr marL="457200" indent="-457200" algn="just">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僅以核心延遲特徵與服務識別即可有效支撐預測任務</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20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降維設計降低訓練負擔，整體模型更穩定</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sp>
        <p:nvSpPr>
          <p:cNvPr id="7" name="Freeform 29">
            <a:extLst>
              <a:ext uri="{FF2B5EF4-FFF2-40B4-BE49-F238E27FC236}">
                <a16:creationId xmlns:a16="http://schemas.microsoft.com/office/drawing/2014/main" id="{5097A0A9-A02B-5A8C-2087-62AC1321D3FD}"/>
              </a:ext>
            </a:extLst>
          </p:cNvPr>
          <p:cNvSpPr/>
          <p:nvPr/>
        </p:nvSpPr>
        <p:spPr>
          <a:xfrm>
            <a:off x="570726" y="6456586"/>
            <a:ext cx="2399936" cy="2286485"/>
          </a:xfrm>
          <a:custGeom>
            <a:avLst/>
            <a:gdLst/>
            <a:ahLst/>
            <a:cxnLst/>
            <a:rect l="l" t="t" r="r" b="b"/>
            <a:pathLst>
              <a:path w="2399936" h="2286485">
                <a:moveTo>
                  <a:pt x="0" y="0"/>
                </a:moveTo>
                <a:lnTo>
                  <a:pt x="2399936" y="0"/>
                </a:lnTo>
                <a:lnTo>
                  <a:pt x="2399936" y="2286485"/>
                </a:lnTo>
                <a:lnTo>
                  <a:pt x="0" y="22864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graphicFrame>
        <p:nvGraphicFramePr>
          <p:cNvPr id="2" name="資料庫圖表 1">
            <a:extLst>
              <a:ext uri="{FF2B5EF4-FFF2-40B4-BE49-F238E27FC236}">
                <a16:creationId xmlns:a16="http://schemas.microsoft.com/office/drawing/2014/main" id="{A2A7EDA7-815B-6667-2741-07F8B5C7F8F5}"/>
              </a:ext>
            </a:extLst>
          </p:cNvPr>
          <p:cNvGraphicFramePr/>
          <p:nvPr>
            <p:extLst>
              <p:ext uri="{D42A27DB-BD31-4B8C-83A1-F6EECF244321}">
                <p14:modId xmlns:p14="http://schemas.microsoft.com/office/powerpoint/2010/main" val="1156058969"/>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5929015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FBDF-BE1F-2D58-3E91-D8D3B0A64EE6}"/>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B7AB7E51-6738-F8F9-2EC9-CE9CFAE7419B}"/>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B569613D-F480-A49D-69CD-BA0BA3E5E7C4}"/>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TextBox 27">
            <a:extLst>
              <a:ext uri="{FF2B5EF4-FFF2-40B4-BE49-F238E27FC236}">
                <a16:creationId xmlns:a16="http://schemas.microsoft.com/office/drawing/2014/main" id="{8ADEE214-F357-0B0C-982E-DEE6C4FC13E6}"/>
              </a:ext>
            </a:extLst>
          </p:cNvPr>
          <p:cNvSpPr txBox="1"/>
          <p:nvPr/>
        </p:nvSpPr>
        <p:spPr>
          <a:xfrm>
            <a:off x="4579171" y="864486"/>
            <a:ext cx="8228139"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模型應用與實驗分析</a:t>
            </a:r>
          </a:p>
        </p:txBody>
      </p:sp>
      <p:sp>
        <p:nvSpPr>
          <p:cNvPr id="39" name="投影片編號版面配置區 38">
            <a:extLst>
              <a:ext uri="{FF2B5EF4-FFF2-40B4-BE49-F238E27FC236}">
                <a16:creationId xmlns:a16="http://schemas.microsoft.com/office/drawing/2014/main" id="{42B8D2A6-C081-E17A-9D56-2D29B4A526BF}"/>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31" name="Freeform 19">
            <a:extLst>
              <a:ext uri="{FF2B5EF4-FFF2-40B4-BE49-F238E27FC236}">
                <a16:creationId xmlns:a16="http://schemas.microsoft.com/office/drawing/2014/main" id="{5D162D40-5EF8-F364-9AB5-9F6DDD5F149A}"/>
              </a:ext>
            </a:extLst>
          </p:cNvPr>
          <p:cNvSpPr/>
          <p:nvPr/>
        </p:nvSpPr>
        <p:spPr>
          <a:xfrm>
            <a:off x="6372438" y="2622827"/>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33" name="文字方塊 32">
            <a:extLst>
              <a:ext uri="{FF2B5EF4-FFF2-40B4-BE49-F238E27FC236}">
                <a16:creationId xmlns:a16="http://schemas.microsoft.com/office/drawing/2014/main" id="{9CEB943E-64B5-8A22-802C-185870848A9B}"/>
              </a:ext>
            </a:extLst>
          </p:cNvPr>
          <p:cNvSpPr txBox="1"/>
          <p:nvPr/>
        </p:nvSpPr>
        <p:spPr>
          <a:xfrm>
            <a:off x="6307860" y="2619247"/>
            <a:ext cx="4800600" cy="954107"/>
          </a:xfrm>
          <a:prstGeom prst="rect">
            <a:avLst/>
          </a:prstGeom>
          <a:noFill/>
        </p:spPr>
        <p:txBody>
          <a:bodyPr wrap="square">
            <a:spAutoFit/>
          </a:bodyPr>
          <a:lstStyle/>
          <a:p>
            <a:pPr algn="ct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機器學習與傳統方法</a:t>
            </a:r>
            <a:endParaRPr lang="en-US" altLang="zh-TW"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a:p>
            <a:pPr algn="ctr"/>
            <a:r>
              <a:rPr lang="zh-TW" altLang="en-US" sz="28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比較實驗</a:t>
            </a:r>
          </a:p>
        </p:txBody>
      </p:sp>
      <p:sp>
        <p:nvSpPr>
          <p:cNvPr id="3" name="箭號: 向下 2">
            <a:extLst>
              <a:ext uri="{FF2B5EF4-FFF2-40B4-BE49-F238E27FC236}">
                <a16:creationId xmlns:a16="http://schemas.microsoft.com/office/drawing/2014/main" id="{944C385E-721A-AB63-81A0-35220A6113DE}"/>
              </a:ext>
            </a:extLst>
          </p:cNvPr>
          <p:cNvSpPr/>
          <p:nvPr/>
        </p:nvSpPr>
        <p:spPr>
          <a:xfrm>
            <a:off x="8482922" y="3571175"/>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9" name="Freeform 19">
            <a:extLst>
              <a:ext uri="{FF2B5EF4-FFF2-40B4-BE49-F238E27FC236}">
                <a16:creationId xmlns:a16="http://schemas.microsoft.com/office/drawing/2014/main" id="{CAFD0D73-DAFD-5EB8-C782-31EE3F951190}"/>
              </a:ext>
            </a:extLst>
          </p:cNvPr>
          <p:cNvSpPr/>
          <p:nvPr/>
        </p:nvSpPr>
        <p:spPr>
          <a:xfrm>
            <a:off x="6372438" y="4412488"/>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0" name="文字方塊 19">
            <a:extLst>
              <a:ext uri="{FF2B5EF4-FFF2-40B4-BE49-F238E27FC236}">
                <a16:creationId xmlns:a16="http://schemas.microsoft.com/office/drawing/2014/main" id="{50D6EC8D-4F3C-C5DA-8246-4AD01A26912B}"/>
              </a:ext>
            </a:extLst>
          </p:cNvPr>
          <p:cNvSpPr txBox="1"/>
          <p:nvPr/>
        </p:nvSpPr>
        <p:spPr>
          <a:xfrm>
            <a:off x="6258138" y="4555453"/>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延遲預測比較</a:t>
            </a:r>
          </a:p>
        </p:txBody>
      </p:sp>
      <p:sp>
        <p:nvSpPr>
          <p:cNvPr id="21" name="箭號: 向下 20">
            <a:extLst>
              <a:ext uri="{FF2B5EF4-FFF2-40B4-BE49-F238E27FC236}">
                <a16:creationId xmlns:a16="http://schemas.microsoft.com/office/drawing/2014/main" id="{880CF5C6-0212-27ED-E00D-D507388D18F4}"/>
              </a:ext>
            </a:extLst>
          </p:cNvPr>
          <p:cNvSpPr/>
          <p:nvPr/>
        </p:nvSpPr>
        <p:spPr>
          <a:xfrm>
            <a:off x="8512049" y="5390322"/>
            <a:ext cx="399496" cy="752990"/>
          </a:xfrm>
          <a:prstGeom prst="downArrow">
            <a:avLst>
              <a:gd name="adj1" fmla="val 50000"/>
              <a:gd name="adj2" fmla="val 8828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2" name="Freeform 19">
            <a:extLst>
              <a:ext uri="{FF2B5EF4-FFF2-40B4-BE49-F238E27FC236}">
                <a16:creationId xmlns:a16="http://schemas.microsoft.com/office/drawing/2014/main" id="{69C3FB6D-90E0-9B9B-B045-827A2BC271EE}"/>
              </a:ext>
            </a:extLst>
          </p:cNvPr>
          <p:cNvSpPr/>
          <p:nvPr/>
        </p:nvSpPr>
        <p:spPr>
          <a:xfrm>
            <a:off x="6401565" y="6231635"/>
            <a:ext cx="4572000" cy="893065"/>
          </a:xfrm>
          <a:custGeom>
            <a:avLst/>
            <a:gdLst/>
            <a:ahLst/>
            <a:cxnLst/>
            <a:rect l="l" t="t" r="r" b="b"/>
            <a:pathLst>
              <a:path w="1957124" h="467826">
                <a:moveTo>
                  <a:pt x="0" y="0"/>
                </a:moveTo>
                <a:lnTo>
                  <a:pt x="1957124" y="0"/>
                </a:lnTo>
                <a:lnTo>
                  <a:pt x="1957124" y="467826"/>
                </a:lnTo>
                <a:lnTo>
                  <a:pt x="0" y="467826"/>
                </a:lnTo>
                <a:close/>
              </a:path>
            </a:pathLst>
          </a:custGeom>
          <a:solidFill>
            <a:schemeClr val="bg1">
              <a:lumMod val="95000"/>
            </a:schemeClr>
          </a:solidFill>
          <a:ln w="19050">
            <a:solidFill>
              <a:schemeClr val="bg1">
                <a:lumMod val="85000"/>
              </a:schemeClr>
            </a:solidFill>
          </a:ln>
        </p:spPr>
        <p:txBody>
          <a:bodyPr/>
          <a:lstStyle/>
          <a:p>
            <a:endParaRPr lang="zh-TW" altLang="en-US" dirty="0"/>
          </a:p>
        </p:txBody>
      </p:sp>
      <p:sp>
        <p:nvSpPr>
          <p:cNvPr id="2" name="文字方塊 1">
            <a:extLst>
              <a:ext uri="{FF2B5EF4-FFF2-40B4-BE49-F238E27FC236}">
                <a16:creationId xmlns:a16="http://schemas.microsoft.com/office/drawing/2014/main" id="{1E2A949B-B7F1-0ED9-24DE-58638A29C109}"/>
              </a:ext>
            </a:extLst>
          </p:cNvPr>
          <p:cNvSpPr txBox="1"/>
          <p:nvPr/>
        </p:nvSpPr>
        <p:spPr>
          <a:xfrm>
            <a:off x="6320217" y="6401168"/>
            <a:ext cx="4800600" cy="553998"/>
          </a:xfrm>
          <a:prstGeom prst="rect">
            <a:avLst/>
          </a:prstGeom>
          <a:noFill/>
        </p:spPr>
        <p:txBody>
          <a:bodyPr wrap="square">
            <a:spAutoFit/>
          </a:bodyPr>
          <a:lstStyle/>
          <a:p>
            <a:pPr algn="ctr"/>
            <a:r>
              <a:rPr lang="zh-TW" altLang="en-US" sz="3000" b="1" dirty="0">
                <a:latin typeface="微軟正黑體" panose="020B0604030504040204" pitchFamily="34" charset="-120"/>
                <a:ea typeface="微軟正黑體" panose="020B0604030504040204" pitchFamily="34" charset="-120"/>
                <a:cs typeface="Times New Roman" panose="02020603050405020304" pitchFamily="18" charset="0"/>
                <a:sym typeface="Blink Twice"/>
              </a:rPr>
              <a:t>異常偵測評估</a:t>
            </a:r>
          </a:p>
        </p:txBody>
      </p:sp>
    </p:spTree>
    <p:extLst>
      <p:ext uri="{BB962C8B-B14F-4D97-AF65-F5344CB8AC3E}">
        <p14:creationId xmlns:p14="http://schemas.microsoft.com/office/powerpoint/2010/main" val="4153838797"/>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a:extLst>
              <a:ext uri="{FF2B5EF4-FFF2-40B4-BE49-F238E27FC236}">
                <a16:creationId xmlns:a16="http://schemas.microsoft.com/office/drawing/2014/main" id="{B1C991BC-ED75-412D-804A-5D23C82DE1B4}"/>
              </a:ext>
            </a:extLst>
          </p:cNvPr>
          <p:cNvGrpSpPr/>
          <p:nvPr/>
        </p:nvGrpSpPr>
        <p:grpSpPr>
          <a:xfrm>
            <a:off x="1524000" y="2273100"/>
            <a:ext cx="14630400" cy="5556838"/>
            <a:chOff x="0" y="0"/>
            <a:chExt cx="6762470" cy="3156468"/>
          </a:xfrm>
        </p:grpSpPr>
        <p:sp>
          <p:nvSpPr>
            <p:cNvPr id="14" name="Freeform 14">
              <a:extLst>
                <a:ext uri="{FF2B5EF4-FFF2-40B4-BE49-F238E27FC236}">
                  <a16:creationId xmlns:a16="http://schemas.microsoft.com/office/drawing/2014/main" id="{D6BC0DB9-144D-445F-873B-4CF8B8ADEB80}"/>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A04E46AA-D7E7-4428-BF40-363E402B98A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6" name="Freeform 16">
              <a:extLst>
                <a:ext uri="{FF2B5EF4-FFF2-40B4-BE49-F238E27FC236}">
                  <a16:creationId xmlns:a16="http://schemas.microsoft.com/office/drawing/2014/main" id="{44D9B718-D252-4F9F-AD45-9A7DF4330DCD}"/>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3" name="TextBox 25">
            <a:extLst>
              <a:ext uri="{FF2B5EF4-FFF2-40B4-BE49-F238E27FC236}">
                <a16:creationId xmlns:a16="http://schemas.microsoft.com/office/drawing/2014/main" id="{11387F64-A2B5-FF2F-E289-5B5B8A6F818D}"/>
              </a:ext>
            </a:extLst>
          </p:cNvPr>
          <p:cNvSpPr txBox="1"/>
          <p:nvPr/>
        </p:nvSpPr>
        <p:spPr>
          <a:xfrm>
            <a:off x="3963980" y="1043114"/>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機器學習與傳統方法比較實驗</a:t>
            </a:r>
          </a:p>
        </p:txBody>
      </p:sp>
      <p:sp>
        <p:nvSpPr>
          <p:cNvPr id="36" name="TextBox 39">
            <a:extLst>
              <a:ext uri="{FF2B5EF4-FFF2-40B4-BE49-F238E27FC236}">
                <a16:creationId xmlns:a16="http://schemas.microsoft.com/office/drawing/2014/main" id="{469C8A40-0D5B-4582-BDA3-A73A571AC34B}"/>
              </a:ext>
            </a:extLst>
          </p:cNvPr>
          <p:cNvSpPr txBox="1"/>
          <p:nvPr/>
        </p:nvSpPr>
        <p:spPr>
          <a:xfrm>
            <a:off x="1815026" y="2588034"/>
            <a:ext cx="14034573" cy="4612866"/>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實驗目的</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比較本研究提出之機器學習模型與傳統方法</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(EMA)</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在延遲預測上的誤差表現，並觀察其在異常告警通知準確率上是否有提升</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15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實驗設計</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1428750" lvl="2" indent="-514350" algn="just">
              <a:lnSpc>
                <a:spcPct val="150000"/>
              </a:lnSpc>
              <a:buFont typeface="Wingdings" panose="05000000000000000000" pitchFamily="2" charset="2"/>
              <a:buAutoNum type="circleNumWdWhitePlain"/>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參考文獻流量數據並進行放大處理</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1428750" lvl="2" indent="-514350" algn="just">
              <a:lnSpc>
                <a:spcPct val="150000"/>
              </a:lnSpc>
              <a:buFont typeface="Wingdings" panose="05000000000000000000" pitchFamily="2" charset="2"/>
              <a:buAutoNum type="circleNumWdWhitePlain"/>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連續模擬四天，並依照日不同配置不同</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Pod</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數量</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(1</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 </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 </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4</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個</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p>
          <a:p>
            <a:pPr marL="457200" indent="-457200" algn="just">
              <a:lnSpc>
                <a:spcPct val="150000"/>
              </a:lnSpc>
              <a:buFont typeface="Arial" panose="020B0604020202020204" pitchFamily="34" charset="0"/>
              <a:buChar char="•"/>
            </a:pP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實驗結果：共產生</a:t>
            </a:r>
            <a:r>
              <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5,760</a:t>
            </a:r>
            <a:r>
              <a:rPr lang="zh-TW" altLang="en-US"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個預測樣本，並以此作為比較分析依據</a:t>
            </a:r>
            <a:endParaRPr lang="en-US" altLang="zh-TW" sz="34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5" name="資料庫圖表 4">
            <a:extLst>
              <a:ext uri="{FF2B5EF4-FFF2-40B4-BE49-F238E27FC236}">
                <a16:creationId xmlns:a16="http://schemas.microsoft.com/office/drawing/2014/main" id="{BD15B1EF-A9BF-71F3-AC74-4B0283903082}"/>
              </a:ext>
            </a:extLst>
          </p:cNvPr>
          <p:cNvGraphicFramePr/>
          <p:nvPr>
            <p:extLst>
              <p:ext uri="{D42A27DB-BD31-4B8C-83A1-F6EECF244321}">
                <p14:modId xmlns:p14="http://schemas.microsoft.com/office/powerpoint/2010/main" val="246310519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70281182"/>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9085-5C67-09B4-D67D-CD1229A3BE55}"/>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F7509110-5C62-4E64-8F7E-401034E7B01E}"/>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A3FDF968-24F7-17E9-9367-129C39A0CD2B}"/>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BD63C0A4-141D-B686-6636-DC5AE36C275A}"/>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3" name="TextBox 25">
            <a:extLst>
              <a:ext uri="{FF2B5EF4-FFF2-40B4-BE49-F238E27FC236}">
                <a16:creationId xmlns:a16="http://schemas.microsoft.com/office/drawing/2014/main" id="{518D7951-FDFD-EEF1-3233-32DEF0CA6D99}"/>
              </a:ext>
            </a:extLst>
          </p:cNvPr>
          <p:cNvSpPr txBox="1"/>
          <p:nvPr/>
        </p:nvSpPr>
        <p:spPr>
          <a:xfrm>
            <a:off x="3963980" y="1043114"/>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延遲預測與異常告警方法</a:t>
            </a:r>
          </a:p>
        </p:txBody>
      </p:sp>
      <p:graphicFrame>
        <p:nvGraphicFramePr>
          <p:cNvPr id="5" name="資料庫圖表 4">
            <a:extLst>
              <a:ext uri="{FF2B5EF4-FFF2-40B4-BE49-F238E27FC236}">
                <a16:creationId xmlns:a16="http://schemas.microsoft.com/office/drawing/2014/main" id="{63560DAF-DA3E-A6E7-06EE-CCD0BBFF230D}"/>
              </a:ext>
            </a:extLst>
          </p:cNvPr>
          <p:cNvGraphicFramePr/>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2" name="表格 1">
            <a:extLst>
              <a:ext uri="{FF2B5EF4-FFF2-40B4-BE49-F238E27FC236}">
                <a16:creationId xmlns:a16="http://schemas.microsoft.com/office/drawing/2014/main" id="{AD774EFD-730E-D427-A055-3748A21F6AE5}"/>
              </a:ext>
            </a:extLst>
          </p:cNvPr>
          <p:cNvGraphicFramePr>
            <a:graphicFrameLocks noGrp="1"/>
          </p:cNvGraphicFramePr>
          <p:nvPr>
            <p:extLst>
              <p:ext uri="{D42A27DB-BD31-4B8C-83A1-F6EECF244321}">
                <p14:modId xmlns:p14="http://schemas.microsoft.com/office/powerpoint/2010/main" val="1011090390"/>
              </p:ext>
            </p:extLst>
          </p:nvPr>
        </p:nvGraphicFramePr>
        <p:xfrm>
          <a:off x="1295401" y="2628900"/>
          <a:ext cx="14935199" cy="4920714"/>
        </p:xfrm>
        <a:graphic>
          <a:graphicData uri="http://schemas.openxmlformats.org/drawingml/2006/table">
            <a:tbl>
              <a:tblPr firstRow="1" bandRow="1">
                <a:tableStyleId>{69CF1AB2-1976-4502-BF36-3FF5EA218861}</a:tableStyleId>
              </a:tblPr>
              <a:tblGrid>
                <a:gridCol w="4192904">
                  <a:extLst>
                    <a:ext uri="{9D8B030D-6E8A-4147-A177-3AD203B41FA5}">
                      <a16:colId xmlns:a16="http://schemas.microsoft.com/office/drawing/2014/main" val="3846455324"/>
                    </a:ext>
                  </a:extLst>
                </a:gridCol>
                <a:gridCol w="5255896">
                  <a:extLst>
                    <a:ext uri="{9D8B030D-6E8A-4147-A177-3AD203B41FA5}">
                      <a16:colId xmlns:a16="http://schemas.microsoft.com/office/drawing/2014/main" val="4245783105"/>
                    </a:ext>
                  </a:extLst>
                </a:gridCol>
                <a:gridCol w="5486399">
                  <a:extLst>
                    <a:ext uri="{9D8B030D-6E8A-4147-A177-3AD203B41FA5}">
                      <a16:colId xmlns:a16="http://schemas.microsoft.com/office/drawing/2014/main" val="153705010"/>
                    </a:ext>
                  </a:extLst>
                </a:gridCol>
              </a:tblGrid>
              <a:tr h="970368">
                <a:tc>
                  <a:txBody>
                    <a:bodyPr/>
                    <a:lstStyle/>
                    <a:p>
                      <a:pPr algn="ctr"/>
                      <a:endParaRPr lang="zh-TW" altLang="en-US" dirty="0"/>
                    </a:p>
                  </a:txBody>
                  <a:tcPr/>
                </a:tc>
                <a:tc>
                  <a:txBody>
                    <a:bodyPr/>
                    <a:lstStyle/>
                    <a:p>
                      <a:pPr algn="ctr"/>
                      <a:endParaRPr lang="zh-TW" altLang="en-US" sz="4800" b="1" kern="1200"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4800" b="1" kern="1200"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extLst>
                  <a:ext uri="{0D108BD9-81ED-4DB2-BD59-A6C34878D82A}">
                    <a16:rowId xmlns:a16="http://schemas.microsoft.com/office/drawing/2014/main" val="3475131130"/>
                  </a:ext>
                </a:extLst>
              </a:tr>
              <a:tr h="1844730">
                <a:tc>
                  <a:txBody>
                    <a:bodyPr/>
                    <a:lstStyle/>
                    <a:p>
                      <a:pPr algn="ctr"/>
                      <a:endParaRPr lang="zh-TW" altLang="en-US" sz="4800" b="1" kern="1200"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endParaRPr>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753544234"/>
                  </a:ext>
                </a:extLst>
              </a:tr>
              <a:tr h="2105616">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188365919"/>
                  </a:ext>
                </a:extLst>
              </a:tr>
            </a:tbl>
          </a:graphicData>
        </a:graphic>
      </p:graphicFrame>
      <p:sp>
        <p:nvSpPr>
          <p:cNvPr id="6" name="文字方塊 5">
            <a:extLst>
              <a:ext uri="{FF2B5EF4-FFF2-40B4-BE49-F238E27FC236}">
                <a16:creationId xmlns:a16="http://schemas.microsoft.com/office/drawing/2014/main" id="{6F39AFA8-2442-C3B0-5B73-13A29CFE35A9}"/>
              </a:ext>
            </a:extLst>
          </p:cNvPr>
          <p:cNvSpPr txBox="1"/>
          <p:nvPr/>
        </p:nvSpPr>
        <p:spPr>
          <a:xfrm>
            <a:off x="1012066" y="4056388"/>
            <a:ext cx="4772695" cy="707886"/>
          </a:xfrm>
          <a:prstGeom prst="rect">
            <a:avLst/>
          </a:prstGeom>
          <a:noFill/>
        </p:spPr>
        <p:txBody>
          <a:bodyPr wrap="square">
            <a:spAutoFit/>
          </a:bodyPr>
          <a:lstStyle/>
          <a:p>
            <a:pPr algn="ctr"/>
            <a:r>
              <a:rPr lang="zh-TW" altLang="en-US" sz="40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延遲預測</a:t>
            </a:r>
          </a:p>
        </p:txBody>
      </p:sp>
      <p:sp>
        <p:nvSpPr>
          <p:cNvPr id="7" name="文字方塊 6">
            <a:extLst>
              <a:ext uri="{FF2B5EF4-FFF2-40B4-BE49-F238E27FC236}">
                <a16:creationId xmlns:a16="http://schemas.microsoft.com/office/drawing/2014/main" id="{813ADD48-922A-8799-A016-01659F5E5D8B}"/>
              </a:ext>
            </a:extLst>
          </p:cNvPr>
          <p:cNvSpPr txBox="1"/>
          <p:nvPr/>
        </p:nvSpPr>
        <p:spPr>
          <a:xfrm>
            <a:off x="1407216" y="6045613"/>
            <a:ext cx="4170212" cy="707886"/>
          </a:xfrm>
          <a:prstGeom prst="rect">
            <a:avLst/>
          </a:prstGeom>
          <a:noFill/>
        </p:spPr>
        <p:txBody>
          <a:bodyPr wrap="square">
            <a:spAutoFit/>
          </a:bodyPr>
          <a:lstStyle/>
          <a:p>
            <a:pPr algn="ctr"/>
            <a:r>
              <a:rPr lang="zh-TW" altLang="en-US" sz="40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異常告警通知</a:t>
            </a:r>
          </a:p>
        </p:txBody>
      </p:sp>
      <p:sp>
        <p:nvSpPr>
          <p:cNvPr id="8" name="文字方塊 7">
            <a:extLst>
              <a:ext uri="{FF2B5EF4-FFF2-40B4-BE49-F238E27FC236}">
                <a16:creationId xmlns:a16="http://schemas.microsoft.com/office/drawing/2014/main" id="{2F83B5B5-AA44-BEC0-577A-6DE103641A2B}"/>
              </a:ext>
            </a:extLst>
          </p:cNvPr>
          <p:cNvSpPr txBox="1"/>
          <p:nvPr/>
        </p:nvSpPr>
        <p:spPr>
          <a:xfrm>
            <a:off x="5762223" y="3695700"/>
            <a:ext cx="4772695" cy="1692771"/>
          </a:xfrm>
          <a:prstGeom prst="rect">
            <a:avLst/>
          </a:prstGeom>
          <a:noFill/>
        </p:spPr>
        <p:txBody>
          <a:bodyPr wrap="square">
            <a:spAutoFit/>
          </a:bodyPr>
          <a:lstStyle/>
          <a:p>
            <a:pPr algn="just"/>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參考企業實務做法採用指數移動平均</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(EMA)</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，利用過去</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分鐘延遲平均趨勢預測下一分鐘平均延遲</a:t>
            </a:r>
          </a:p>
        </p:txBody>
      </p:sp>
      <p:sp>
        <p:nvSpPr>
          <p:cNvPr id="9" name="文字方塊 8">
            <a:extLst>
              <a:ext uri="{FF2B5EF4-FFF2-40B4-BE49-F238E27FC236}">
                <a16:creationId xmlns:a16="http://schemas.microsoft.com/office/drawing/2014/main" id="{718CDCB5-A377-663A-41C3-EA538DE7FF59}"/>
              </a:ext>
            </a:extLst>
          </p:cNvPr>
          <p:cNvSpPr txBox="1"/>
          <p:nvPr/>
        </p:nvSpPr>
        <p:spPr>
          <a:xfrm>
            <a:off x="6628692" y="2749014"/>
            <a:ext cx="3280160" cy="707886"/>
          </a:xfrm>
          <a:prstGeom prst="rect">
            <a:avLst/>
          </a:prstGeom>
          <a:noFill/>
        </p:spPr>
        <p:txBody>
          <a:bodyPr wrap="square">
            <a:spAutoFit/>
          </a:bodyPr>
          <a:lstStyle/>
          <a:p>
            <a:pPr algn="ctr"/>
            <a:r>
              <a:rPr lang="zh-TW" altLang="en-US" sz="40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傳統方法</a:t>
            </a:r>
          </a:p>
        </p:txBody>
      </p:sp>
      <p:sp>
        <p:nvSpPr>
          <p:cNvPr id="10" name="文字方塊 9">
            <a:extLst>
              <a:ext uri="{FF2B5EF4-FFF2-40B4-BE49-F238E27FC236}">
                <a16:creationId xmlns:a16="http://schemas.microsoft.com/office/drawing/2014/main" id="{6E128934-72FA-02F0-BCC9-C3BBFF033A1D}"/>
              </a:ext>
            </a:extLst>
          </p:cNvPr>
          <p:cNvSpPr txBox="1"/>
          <p:nvPr/>
        </p:nvSpPr>
        <p:spPr>
          <a:xfrm>
            <a:off x="11811001" y="2749014"/>
            <a:ext cx="3048000" cy="707886"/>
          </a:xfrm>
          <a:prstGeom prst="rect">
            <a:avLst/>
          </a:prstGeom>
          <a:noFill/>
        </p:spPr>
        <p:txBody>
          <a:bodyPr wrap="square">
            <a:spAutoFit/>
          </a:bodyPr>
          <a:lstStyle/>
          <a:p>
            <a:pPr algn="ctr"/>
            <a:r>
              <a:rPr lang="zh-TW" altLang="en-US" sz="40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機器學習</a:t>
            </a:r>
          </a:p>
        </p:txBody>
      </p:sp>
      <p:sp>
        <p:nvSpPr>
          <p:cNvPr id="17" name="文字方塊 16">
            <a:extLst>
              <a:ext uri="{FF2B5EF4-FFF2-40B4-BE49-F238E27FC236}">
                <a16:creationId xmlns:a16="http://schemas.microsoft.com/office/drawing/2014/main" id="{D21E8131-8675-03F3-FE1E-A5C233D99D5F}"/>
              </a:ext>
            </a:extLst>
          </p:cNvPr>
          <p:cNvSpPr txBox="1"/>
          <p:nvPr/>
        </p:nvSpPr>
        <p:spPr>
          <a:xfrm>
            <a:off x="11125201" y="3964055"/>
            <a:ext cx="4772695" cy="892552"/>
          </a:xfrm>
          <a:prstGeom prst="rect">
            <a:avLst/>
          </a:prstGeom>
          <a:noFill/>
        </p:spPr>
        <p:txBody>
          <a:bodyPr wrap="square">
            <a:spAutoFit/>
          </a:bodyPr>
          <a:lstStyle/>
          <a:p>
            <a:pPr algn="just"/>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採用機器學習模型</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600" b="1" spc="187" dirty="0" err="1">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XGBoost</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預測下一分鐘平均延遲</a:t>
            </a:r>
          </a:p>
        </p:txBody>
      </p:sp>
      <p:sp>
        <p:nvSpPr>
          <p:cNvPr id="18" name="文字方塊 17">
            <a:extLst>
              <a:ext uri="{FF2B5EF4-FFF2-40B4-BE49-F238E27FC236}">
                <a16:creationId xmlns:a16="http://schemas.microsoft.com/office/drawing/2014/main" id="{441EB2D2-F10D-2917-7E68-8739923CA294}"/>
              </a:ext>
            </a:extLst>
          </p:cNvPr>
          <p:cNvSpPr txBox="1"/>
          <p:nvPr/>
        </p:nvSpPr>
        <p:spPr>
          <a:xfrm>
            <a:off x="5784761" y="5651127"/>
            <a:ext cx="4772695" cy="1692771"/>
          </a:xfrm>
          <a:prstGeom prst="rect">
            <a:avLst/>
          </a:prstGeom>
          <a:noFill/>
        </p:spPr>
        <p:txBody>
          <a:bodyPr wrap="square">
            <a:spAutoFit/>
          </a:bodyPr>
          <a:lstStyle/>
          <a:p>
            <a:pPr algn="just"/>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以過去</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分鐘實際延遲平均值</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±3σ</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為範圍，根據</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EMA</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預測的下一分鐘延遲進行判斷，</a:t>
            </a:r>
            <a:b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若超出則觸發告警</a:t>
            </a:r>
          </a:p>
        </p:txBody>
      </p:sp>
      <p:sp>
        <p:nvSpPr>
          <p:cNvPr id="20" name="文字方塊 19">
            <a:extLst>
              <a:ext uri="{FF2B5EF4-FFF2-40B4-BE49-F238E27FC236}">
                <a16:creationId xmlns:a16="http://schemas.microsoft.com/office/drawing/2014/main" id="{A881E7B7-B87C-4C95-03D0-5B3E3C5CE2E8}"/>
              </a:ext>
            </a:extLst>
          </p:cNvPr>
          <p:cNvSpPr txBox="1"/>
          <p:nvPr/>
        </p:nvSpPr>
        <p:spPr>
          <a:xfrm>
            <a:off x="11125201" y="5833844"/>
            <a:ext cx="4772695" cy="1292662"/>
          </a:xfrm>
          <a:prstGeom prst="rect">
            <a:avLst/>
          </a:prstGeom>
          <a:noFill/>
        </p:spPr>
        <p:txBody>
          <a:bodyPr wrap="square">
            <a:spAutoFit/>
          </a:bodyPr>
          <a:lstStyle/>
          <a:p>
            <a:pPr algn="just"/>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以相同範圍基準，根據</a:t>
            </a:r>
            <a:r>
              <a:rPr lang="en-US" altLang="zh-TW"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ML</a:t>
            </a:r>
            <a:r>
              <a:rPr lang="zh-TW" altLang="en-US" sz="26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rPr>
              <a:t>預測的下一分鐘延遲進行判斷，若超出則觸發告警</a:t>
            </a:r>
          </a:p>
        </p:txBody>
      </p:sp>
    </p:spTree>
    <p:extLst>
      <p:ext uri="{BB962C8B-B14F-4D97-AF65-F5344CB8AC3E}">
        <p14:creationId xmlns:p14="http://schemas.microsoft.com/office/powerpoint/2010/main" val="2705926400"/>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E7992-FFDA-5AE4-8261-4DE433147362}"/>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ED933568-5E7B-2FAA-5244-0A98D14E9311}"/>
              </a:ext>
            </a:extLst>
          </p:cNvPr>
          <p:cNvGrpSpPr/>
          <p:nvPr/>
        </p:nvGrpSpPr>
        <p:grpSpPr>
          <a:xfrm>
            <a:off x="442412" y="1572254"/>
            <a:ext cx="17007388" cy="8524246"/>
            <a:chOff x="0" y="0"/>
            <a:chExt cx="6762470" cy="3156468"/>
          </a:xfrm>
        </p:grpSpPr>
        <p:sp>
          <p:nvSpPr>
            <p:cNvPr id="14" name="Freeform 14">
              <a:extLst>
                <a:ext uri="{FF2B5EF4-FFF2-40B4-BE49-F238E27FC236}">
                  <a16:creationId xmlns:a16="http://schemas.microsoft.com/office/drawing/2014/main" id="{E1FE331D-9175-6951-422F-84A683F01BD2}"/>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1807252A-32F3-6FA0-3B28-76C9688AA80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6" name="Freeform 16">
              <a:extLst>
                <a:ext uri="{FF2B5EF4-FFF2-40B4-BE49-F238E27FC236}">
                  <a16:creationId xmlns:a16="http://schemas.microsoft.com/office/drawing/2014/main" id="{9722B5C3-D0B7-F02A-DF47-94C67FD0B7E6}"/>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a:extLst>
              <a:ext uri="{FF2B5EF4-FFF2-40B4-BE49-F238E27FC236}">
                <a16:creationId xmlns:a16="http://schemas.microsoft.com/office/drawing/2014/main" id="{EDC38D3D-A44F-8E5F-D43F-C67E26E91846}"/>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15EF622C-A0A8-81E7-A38D-733DD311C400}"/>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7E7989FC-2B27-2266-5A29-FD7AEB6E7680}"/>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3" name="TextBox 25">
            <a:extLst>
              <a:ext uri="{FF2B5EF4-FFF2-40B4-BE49-F238E27FC236}">
                <a16:creationId xmlns:a16="http://schemas.microsoft.com/office/drawing/2014/main" id="{8322E487-59C9-58B5-0223-01149C0E9968}"/>
              </a:ext>
            </a:extLst>
          </p:cNvPr>
          <p:cNvSpPr txBox="1"/>
          <p:nvPr/>
        </p:nvSpPr>
        <p:spPr>
          <a:xfrm>
            <a:off x="2617526" y="987599"/>
            <a:ext cx="13205347"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延遲預測比較說明</a:t>
            </a:r>
          </a:p>
        </p:txBody>
      </p:sp>
      <p:sp>
        <p:nvSpPr>
          <p:cNvPr id="36" name="TextBox 39">
            <a:extLst>
              <a:ext uri="{FF2B5EF4-FFF2-40B4-BE49-F238E27FC236}">
                <a16:creationId xmlns:a16="http://schemas.microsoft.com/office/drawing/2014/main" id="{05050E95-455F-489B-0839-5263853E7349}"/>
              </a:ext>
            </a:extLst>
          </p:cNvPr>
          <p:cNvSpPr txBox="1"/>
          <p:nvPr/>
        </p:nvSpPr>
        <p:spPr>
          <a:xfrm>
            <a:off x="668232" y="3800920"/>
            <a:ext cx="7278177" cy="2685159"/>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本研究提出之延遲預測模型：結合機器學習模型與微服務監控，使系統能在實際運行中不斷收集資料並即時預測，形成完整的閉環流程以預測下一分鐘延遲。</a:t>
            </a:r>
            <a:endParaRPr 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pic>
        <p:nvPicPr>
          <p:cNvPr id="38" name="圖片 37" descr="一張含有 文字, 螢幕擷取畫面, 多媒體, 軟體 的圖片&#10;&#10;AI 產生的內容可能不正確。">
            <a:extLst>
              <a:ext uri="{FF2B5EF4-FFF2-40B4-BE49-F238E27FC236}">
                <a16:creationId xmlns:a16="http://schemas.microsoft.com/office/drawing/2014/main" id="{317AD491-9A04-416E-1CF9-630152FBB426}"/>
              </a:ext>
            </a:extLst>
          </p:cNvPr>
          <p:cNvPicPr/>
          <p:nvPr/>
        </p:nvPicPr>
        <p:blipFill>
          <a:blip r:embed="rId5">
            <a:extLst>
              <a:ext uri="{28A0092B-C50C-407E-A947-70E740481C1C}">
                <a14:useLocalDpi xmlns:a14="http://schemas.microsoft.com/office/drawing/2010/main" val="0"/>
              </a:ext>
            </a:extLst>
          </a:blip>
          <a:stretch>
            <a:fillRect/>
          </a:stretch>
        </p:blipFill>
        <p:spPr>
          <a:xfrm>
            <a:off x="8159370" y="2674257"/>
            <a:ext cx="8833229" cy="5735860"/>
          </a:xfrm>
          <a:prstGeom prst="rect">
            <a:avLst/>
          </a:prstGeom>
        </p:spPr>
      </p:pic>
      <p:sp>
        <p:nvSpPr>
          <p:cNvPr id="39" name="文字方塊 38">
            <a:extLst>
              <a:ext uri="{FF2B5EF4-FFF2-40B4-BE49-F238E27FC236}">
                <a16:creationId xmlns:a16="http://schemas.microsoft.com/office/drawing/2014/main" id="{1B9D5E37-F463-8006-2982-FE3431A227C2}"/>
              </a:ext>
            </a:extLst>
          </p:cNvPr>
          <p:cNvSpPr txBox="1"/>
          <p:nvPr/>
        </p:nvSpPr>
        <p:spPr>
          <a:xfrm>
            <a:off x="9220200" y="1834686"/>
            <a:ext cx="7543800" cy="553998"/>
          </a:xfrm>
          <a:prstGeom prst="rect">
            <a:avLst/>
          </a:prstGeom>
          <a:noFill/>
        </p:spPr>
        <p:txBody>
          <a:bodyPr wrap="square">
            <a:spAutoFit/>
          </a:bodyPr>
          <a:lstStyle/>
          <a:p>
            <a:pPr algn="ctr"/>
            <a:r>
              <a:rPr lang="zh-TW" altLang="zh-TW" sz="30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機器學習延遲預測整合流程</a:t>
            </a:r>
            <a:r>
              <a:rPr lang="zh-TW" altLang="en-US" sz="30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圖</a:t>
            </a:r>
          </a:p>
        </p:txBody>
      </p:sp>
      <p:graphicFrame>
        <p:nvGraphicFramePr>
          <p:cNvPr id="4" name="資料庫圖表 3">
            <a:extLst>
              <a:ext uri="{FF2B5EF4-FFF2-40B4-BE49-F238E27FC236}">
                <a16:creationId xmlns:a16="http://schemas.microsoft.com/office/drawing/2014/main" id="{FEA4C974-E94E-3ABB-5408-C1379D3D95C8}"/>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757612542"/>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a:extLst>
              <a:ext uri="{FF2B5EF4-FFF2-40B4-BE49-F238E27FC236}">
                <a16:creationId xmlns:a16="http://schemas.microsoft.com/office/drawing/2014/main" id="{B1C991BC-ED75-412D-804A-5D23C82DE1B4}"/>
              </a:ext>
            </a:extLst>
          </p:cNvPr>
          <p:cNvGrpSpPr/>
          <p:nvPr/>
        </p:nvGrpSpPr>
        <p:grpSpPr>
          <a:xfrm>
            <a:off x="1447799" y="1943100"/>
            <a:ext cx="6705601" cy="6781800"/>
            <a:chOff x="0" y="0"/>
            <a:chExt cx="6762470" cy="3156468"/>
          </a:xfrm>
        </p:grpSpPr>
        <p:sp>
          <p:nvSpPr>
            <p:cNvPr id="14" name="Freeform 14">
              <a:extLst>
                <a:ext uri="{FF2B5EF4-FFF2-40B4-BE49-F238E27FC236}">
                  <a16:creationId xmlns:a16="http://schemas.microsoft.com/office/drawing/2014/main" id="{D6BC0DB9-144D-445F-873B-4CF8B8ADEB80}"/>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A04E46AA-D7E7-4428-BF40-363E402B98A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6" name="Freeform 16">
              <a:extLst>
                <a:ext uri="{FF2B5EF4-FFF2-40B4-BE49-F238E27FC236}">
                  <a16:creationId xmlns:a16="http://schemas.microsoft.com/office/drawing/2014/main" id="{44D9B718-D252-4F9F-AD45-9A7DF4330DCD}"/>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3" name="TextBox 25">
            <a:extLst>
              <a:ext uri="{FF2B5EF4-FFF2-40B4-BE49-F238E27FC236}">
                <a16:creationId xmlns:a16="http://schemas.microsoft.com/office/drawing/2014/main" id="{11387F64-A2B5-FF2F-E289-5B5B8A6F818D}"/>
              </a:ext>
            </a:extLst>
          </p:cNvPr>
          <p:cNvSpPr txBox="1"/>
          <p:nvPr/>
        </p:nvSpPr>
        <p:spPr>
          <a:xfrm>
            <a:off x="4388894" y="1028700"/>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延遲預測比較結果分析</a:t>
            </a:r>
          </a:p>
        </p:txBody>
      </p:sp>
      <p:sp>
        <p:nvSpPr>
          <p:cNvPr id="8" name="TextBox 39">
            <a:extLst>
              <a:ext uri="{FF2B5EF4-FFF2-40B4-BE49-F238E27FC236}">
                <a16:creationId xmlns:a16="http://schemas.microsoft.com/office/drawing/2014/main" id="{D07F54D9-CA36-7F91-1E2A-5DDD25168FCD}"/>
              </a:ext>
            </a:extLst>
          </p:cNvPr>
          <p:cNvSpPr txBox="1"/>
          <p:nvPr/>
        </p:nvSpPr>
        <p:spPr>
          <a:xfrm>
            <a:off x="1658769" y="2099624"/>
            <a:ext cx="6248400" cy="6147645"/>
          </a:xfrm>
          <a:prstGeom prst="rect">
            <a:avLst/>
          </a:prstGeom>
        </p:spPr>
        <p:txBody>
          <a:bodyPr wrap="square" lIns="0" tIns="0" rIns="0" bIns="0" rtlCol="0" anchor="t">
            <a:spAutoFit/>
          </a:bodyPr>
          <a:lstStyle/>
          <a:p>
            <a:pPr marL="514350" indent="-514350" algn="just">
              <a:lnSpc>
                <a:spcPct val="150000"/>
              </a:lnSpc>
              <a:buFont typeface="+mj-lt"/>
              <a:buAutoNum type="arabicPeriod"/>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本研究模型的整體誤差皆低於傳統預測方法，顯示預測準確度明顯提升。</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514350" indent="-514350" algn="just">
              <a:lnSpc>
                <a:spcPct val="150000"/>
              </a:lnSpc>
              <a:buFont typeface="+mj-lt"/>
              <a:buAutoNum type="arabicPeriod"/>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整體誤差及本研究提出之</a:t>
            </a:r>
            <a:r>
              <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RPS</a:t>
            </a: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指標皆明顯下降，代表模型能有效抑制極端預測偏差。</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514350" indent="-514350" algn="just">
              <a:lnSpc>
                <a:spcPct val="150000"/>
              </a:lnSpc>
              <a:buFont typeface="+mj-lt"/>
              <a:buAutoNum type="arabicPeriod"/>
            </a:pPr>
            <a:r>
              <a:rPr lang="zh-TW" altLang="en-US"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模型在不同服務與負載下皆維持穩定表現，顯示其具穩定且一致的預測表現。</a:t>
            </a:r>
            <a:endParaRPr lang="en-US" altLang="zh-TW" sz="30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aphicFrame>
        <p:nvGraphicFramePr>
          <p:cNvPr id="4" name="資料庫圖表 3">
            <a:extLst>
              <a:ext uri="{FF2B5EF4-FFF2-40B4-BE49-F238E27FC236}">
                <a16:creationId xmlns:a16="http://schemas.microsoft.com/office/drawing/2014/main" id="{EB8A005C-C425-594B-2211-322B0425B9B3}"/>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9" name="圖片 8">
            <a:extLst>
              <a:ext uri="{FF2B5EF4-FFF2-40B4-BE49-F238E27FC236}">
                <a16:creationId xmlns:a16="http://schemas.microsoft.com/office/drawing/2014/main" id="{701CBD03-81BB-E178-AE05-45C919D139DD}"/>
              </a:ext>
            </a:extLst>
          </p:cNvPr>
          <p:cNvPicPr>
            <a:picLocks noChangeAspect="1"/>
          </p:cNvPicPr>
          <p:nvPr/>
        </p:nvPicPr>
        <p:blipFill>
          <a:blip r:embed="rId10"/>
          <a:stretch>
            <a:fillRect/>
          </a:stretch>
        </p:blipFill>
        <p:spPr>
          <a:xfrm>
            <a:off x="9079218" y="2947490"/>
            <a:ext cx="8141982" cy="4876708"/>
          </a:xfrm>
          <a:prstGeom prst="rect">
            <a:avLst/>
          </a:prstGeom>
        </p:spPr>
      </p:pic>
    </p:spTree>
    <p:extLst>
      <p:ext uri="{BB962C8B-B14F-4D97-AF65-F5344CB8AC3E}">
        <p14:creationId xmlns:p14="http://schemas.microsoft.com/office/powerpoint/2010/main" val="3110442729"/>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BAE20-2A60-4C66-95C0-05DE53080237}"/>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9D2FFC2B-2661-2E42-C0BB-7791E715DBCC}"/>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DDBDB68E-2D3C-40DB-B46E-13BDA166133E}"/>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0798C6BD-843A-1035-7D1A-15F602141399}"/>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3" name="TextBox 25">
            <a:extLst>
              <a:ext uri="{FF2B5EF4-FFF2-40B4-BE49-F238E27FC236}">
                <a16:creationId xmlns:a16="http://schemas.microsoft.com/office/drawing/2014/main" id="{E7ED4E84-2233-7392-80C1-72DE657514B3}"/>
              </a:ext>
            </a:extLst>
          </p:cNvPr>
          <p:cNvSpPr txBox="1"/>
          <p:nvPr/>
        </p:nvSpPr>
        <p:spPr>
          <a:xfrm>
            <a:off x="4457700" y="1077564"/>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各服務延遲誤差比較</a:t>
            </a:r>
          </a:p>
        </p:txBody>
      </p:sp>
      <p:pic>
        <p:nvPicPr>
          <p:cNvPr id="4" name="圖片 3">
            <a:extLst>
              <a:ext uri="{FF2B5EF4-FFF2-40B4-BE49-F238E27FC236}">
                <a16:creationId xmlns:a16="http://schemas.microsoft.com/office/drawing/2014/main" id="{60003B41-FB04-0A3E-A850-83C9D8DFE6D2}"/>
              </a:ext>
            </a:extLst>
          </p:cNvPr>
          <p:cNvPicPr>
            <a:picLocks noChangeAspect="1"/>
          </p:cNvPicPr>
          <p:nvPr/>
        </p:nvPicPr>
        <p:blipFill>
          <a:blip r:embed="rId5"/>
          <a:stretch>
            <a:fillRect/>
          </a:stretch>
        </p:blipFill>
        <p:spPr>
          <a:xfrm>
            <a:off x="0" y="2451357"/>
            <a:ext cx="8789317" cy="5282941"/>
          </a:xfrm>
          <a:prstGeom prst="rect">
            <a:avLst/>
          </a:prstGeom>
        </p:spPr>
      </p:pic>
      <p:pic>
        <p:nvPicPr>
          <p:cNvPr id="5" name="圖片 4">
            <a:extLst>
              <a:ext uri="{FF2B5EF4-FFF2-40B4-BE49-F238E27FC236}">
                <a16:creationId xmlns:a16="http://schemas.microsoft.com/office/drawing/2014/main" id="{E03A6271-07D8-9A1D-5FC5-1DDC74D0FBE8}"/>
              </a:ext>
            </a:extLst>
          </p:cNvPr>
          <p:cNvPicPr>
            <a:picLocks noChangeAspect="1"/>
          </p:cNvPicPr>
          <p:nvPr/>
        </p:nvPicPr>
        <p:blipFill>
          <a:blip r:embed="rId6"/>
          <a:stretch>
            <a:fillRect/>
          </a:stretch>
        </p:blipFill>
        <p:spPr>
          <a:xfrm>
            <a:off x="9447883" y="2451358"/>
            <a:ext cx="8789317" cy="5282941"/>
          </a:xfrm>
          <a:prstGeom prst="rect">
            <a:avLst/>
          </a:prstGeom>
        </p:spPr>
      </p:pic>
      <p:graphicFrame>
        <p:nvGraphicFramePr>
          <p:cNvPr id="7" name="資料庫圖表 6">
            <a:extLst>
              <a:ext uri="{FF2B5EF4-FFF2-40B4-BE49-F238E27FC236}">
                <a16:creationId xmlns:a16="http://schemas.microsoft.com/office/drawing/2014/main" id="{56FF4ECC-65E3-5FA2-4BD5-088CDEE00B8E}"/>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8156304"/>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D418F-A103-7A5D-3407-FA0975E54BFB}"/>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ED471D1C-3B69-4A41-254D-F6CDA15CF3A1}"/>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5CBEBA2F-ED56-FF45-C18F-AB0B1A5BE9D0}"/>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716F4825-D239-70A4-6CAB-67A45E545C08}"/>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3" name="TextBox 25">
            <a:extLst>
              <a:ext uri="{FF2B5EF4-FFF2-40B4-BE49-F238E27FC236}">
                <a16:creationId xmlns:a16="http://schemas.microsoft.com/office/drawing/2014/main" id="{72997D20-48AD-2662-A024-C963CC4B793F}"/>
              </a:ext>
            </a:extLst>
          </p:cNvPr>
          <p:cNvSpPr txBox="1"/>
          <p:nvPr/>
        </p:nvSpPr>
        <p:spPr>
          <a:xfrm>
            <a:off x="4388894" y="1071825"/>
            <a:ext cx="9372600" cy="545214"/>
          </a:xfrm>
          <a:prstGeom prst="rect">
            <a:avLst/>
          </a:prstGeom>
        </p:spPr>
        <p:txBody>
          <a:bodyPr wrap="square" lIns="0" tIns="0" rIns="0" bIns="0" rtlCol="0" anchor="t">
            <a:spAutoFit/>
          </a:bodyPr>
          <a:lstStyle/>
          <a:p>
            <a:pPr algn="ctr">
              <a:lnSpc>
                <a:spcPts val="4239"/>
              </a:lnSpc>
            </a:pP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RPS</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指標比較</a:t>
            </a:r>
          </a:p>
        </p:txBody>
      </p:sp>
      <p:pic>
        <p:nvPicPr>
          <p:cNvPr id="19" name="圖片 18">
            <a:extLst>
              <a:ext uri="{FF2B5EF4-FFF2-40B4-BE49-F238E27FC236}">
                <a16:creationId xmlns:a16="http://schemas.microsoft.com/office/drawing/2014/main" id="{B376D0FA-2B3D-114D-08ED-0034FCC90519}"/>
              </a:ext>
            </a:extLst>
          </p:cNvPr>
          <p:cNvPicPr>
            <a:picLocks noChangeAspect="1"/>
          </p:cNvPicPr>
          <p:nvPr/>
        </p:nvPicPr>
        <p:blipFill>
          <a:blip r:embed="rId5"/>
          <a:stretch>
            <a:fillRect/>
          </a:stretch>
        </p:blipFill>
        <p:spPr>
          <a:xfrm>
            <a:off x="4671566" y="2019300"/>
            <a:ext cx="8944867" cy="5372253"/>
          </a:xfrm>
          <a:prstGeom prst="rect">
            <a:avLst/>
          </a:prstGeom>
        </p:spPr>
      </p:pic>
      <p:graphicFrame>
        <p:nvGraphicFramePr>
          <p:cNvPr id="20" name="資料庫圖表 19">
            <a:extLst>
              <a:ext uri="{FF2B5EF4-FFF2-40B4-BE49-F238E27FC236}">
                <a16:creationId xmlns:a16="http://schemas.microsoft.com/office/drawing/2014/main" id="{B2BAD56E-361E-C305-FE92-6DCAB6065787}"/>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320026361"/>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a:extLst>
              <a:ext uri="{FF2B5EF4-FFF2-40B4-BE49-F238E27FC236}">
                <a16:creationId xmlns:a16="http://schemas.microsoft.com/office/drawing/2014/main" id="{B1C991BC-ED75-412D-804A-5D23C82DE1B4}"/>
              </a:ext>
            </a:extLst>
          </p:cNvPr>
          <p:cNvGrpSpPr/>
          <p:nvPr/>
        </p:nvGrpSpPr>
        <p:grpSpPr>
          <a:xfrm>
            <a:off x="668232" y="1572254"/>
            <a:ext cx="16781568" cy="8524246"/>
            <a:chOff x="0" y="0"/>
            <a:chExt cx="6762470" cy="3156468"/>
          </a:xfrm>
        </p:grpSpPr>
        <p:sp>
          <p:nvSpPr>
            <p:cNvPr id="14" name="Freeform 14">
              <a:extLst>
                <a:ext uri="{FF2B5EF4-FFF2-40B4-BE49-F238E27FC236}">
                  <a16:creationId xmlns:a16="http://schemas.microsoft.com/office/drawing/2014/main" id="{D6BC0DB9-144D-445F-873B-4CF8B8ADEB80}"/>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A04E46AA-D7E7-4428-BF40-363E402B98A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6" name="Freeform 16">
              <a:extLst>
                <a:ext uri="{FF2B5EF4-FFF2-40B4-BE49-F238E27FC236}">
                  <a16:creationId xmlns:a16="http://schemas.microsoft.com/office/drawing/2014/main" id="{44D9B718-D252-4F9F-AD45-9A7DF4330DCD}"/>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5BD13B46-E0D3-D30E-3349-0FB58152A001}"/>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3" name="TextBox 25">
            <a:extLst>
              <a:ext uri="{FF2B5EF4-FFF2-40B4-BE49-F238E27FC236}">
                <a16:creationId xmlns:a16="http://schemas.microsoft.com/office/drawing/2014/main" id="{11387F64-A2B5-FF2F-E289-5B5B8A6F818D}"/>
              </a:ext>
            </a:extLst>
          </p:cNvPr>
          <p:cNvSpPr txBox="1"/>
          <p:nvPr/>
        </p:nvSpPr>
        <p:spPr>
          <a:xfrm>
            <a:off x="4388894" y="904517"/>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異常偵測架構設計</a:t>
            </a:r>
          </a:p>
        </p:txBody>
      </p:sp>
      <p:sp>
        <p:nvSpPr>
          <p:cNvPr id="28" name="TextBox 39">
            <a:extLst>
              <a:ext uri="{FF2B5EF4-FFF2-40B4-BE49-F238E27FC236}">
                <a16:creationId xmlns:a16="http://schemas.microsoft.com/office/drawing/2014/main" id="{76262931-C997-4D13-B092-3F932F2B360C}"/>
              </a:ext>
            </a:extLst>
          </p:cNvPr>
          <p:cNvSpPr txBox="1"/>
          <p:nvPr/>
        </p:nvSpPr>
        <p:spPr>
          <a:xfrm>
            <a:off x="1151143" y="1870392"/>
            <a:ext cx="5722332" cy="6546216"/>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建立監控儀表板</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透過</a:t>
            </a:r>
            <a:r>
              <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API</a:t>
            </a: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以每分鐘為單位更新監控儀表板</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儀表板內容包含：</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1428750" lvl="2" indent="-514350" algn="just">
              <a:lnSpc>
                <a:spcPct val="150000"/>
              </a:lnSpc>
              <a:buFont typeface="Wingdings" panose="05000000000000000000" pitchFamily="2" charset="2"/>
              <a:buAutoNum type="circleNumWdWhitePlain"/>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傳統預測方法曲線</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1428750" lvl="2" indent="-514350" algn="just">
              <a:lnSpc>
                <a:spcPct val="150000"/>
              </a:lnSpc>
              <a:buFont typeface="Wingdings" panose="05000000000000000000" pitchFamily="2" charset="2"/>
              <a:buAutoNum type="circleNumWdWhitePlain"/>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機器學習方法曲線</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1428750" lvl="2" indent="-514350" algn="just">
              <a:lnSpc>
                <a:spcPct val="150000"/>
              </a:lnSpc>
              <a:buFont typeface="Wingdings" panose="05000000000000000000" pitchFamily="2" charset="2"/>
              <a:buAutoNum type="circleNumWdWhitePlain"/>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真實延遲曲線</a:t>
            </a:r>
            <a:endParaRPr lang="en-US" altLang="zh-TW"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1428750" lvl="2" indent="-514350" algn="just">
              <a:lnSpc>
                <a:spcPct val="150000"/>
              </a:lnSpc>
              <a:buFont typeface="Wingdings" panose="05000000000000000000" pitchFamily="2" charset="2"/>
              <a:buAutoNum type="circleNumWdWhitePlain"/>
            </a:pPr>
            <a:r>
              <a:rPr lang="zh-TW" alt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正常範圍區間帶</a:t>
            </a:r>
            <a:endParaRPr 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pic>
        <p:nvPicPr>
          <p:cNvPr id="4" name="圖形 31">
            <a:extLst>
              <a:ext uri="{FF2B5EF4-FFF2-40B4-BE49-F238E27FC236}">
                <a16:creationId xmlns:a16="http://schemas.microsoft.com/office/drawing/2014/main" id="{99AE9C5F-57E1-FB88-59CC-9593328449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400" y="3314700"/>
            <a:ext cx="9745457" cy="4308370"/>
          </a:xfrm>
          <a:prstGeom prst="rect">
            <a:avLst/>
          </a:prstGeom>
        </p:spPr>
      </p:pic>
      <p:sp>
        <p:nvSpPr>
          <p:cNvPr id="6" name="文字方塊 5">
            <a:extLst>
              <a:ext uri="{FF2B5EF4-FFF2-40B4-BE49-F238E27FC236}">
                <a16:creationId xmlns:a16="http://schemas.microsoft.com/office/drawing/2014/main" id="{811A853F-8C05-1179-B76F-A21D88E196CA}"/>
              </a:ext>
            </a:extLst>
          </p:cNvPr>
          <p:cNvSpPr txBox="1"/>
          <p:nvPr/>
        </p:nvSpPr>
        <p:spPr>
          <a:xfrm>
            <a:off x="11125200" y="7816349"/>
            <a:ext cx="3092450" cy="584775"/>
          </a:xfrm>
          <a:prstGeom prst="rect">
            <a:avLst/>
          </a:prstGeom>
          <a:noFill/>
        </p:spPr>
        <p:txBody>
          <a:bodyPr wrap="square">
            <a:spAutoFit/>
          </a:bodyPr>
          <a:lstStyle/>
          <a:p>
            <a:pPr algn="ctr"/>
            <a:r>
              <a:rPr lang="zh-TW" altLang="zh-TW" sz="32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rPr>
              <a:t>監控架構圖</a:t>
            </a:r>
            <a:endParaRPr lang="zh-TW" altLang="en-US" sz="3200" b="1" dirty="0">
              <a:solidFill>
                <a:schemeClr val="accent2"/>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aphicFrame>
        <p:nvGraphicFramePr>
          <p:cNvPr id="5" name="資料庫圖表 4">
            <a:extLst>
              <a:ext uri="{FF2B5EF4-FFF2-40B4-BE49-F238E27FC236}">
                <a16:creationId xmlns:a16="http://schemas.microsoft.com/office/drawing/2014/main" id="{6E0CFF2B-E460-1BDA-9D27-AFA6BEEBC862}"/>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76434610"/>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6CD49-E441-7963-DD10-040F30EAA94B}"/>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B6C643EA-0695-F540-063C-9DB5725B8C5F}"/>
              </a:ext>
            </a:extLst>
          </p:cNvPr>
          <p:cNvGrpSpPr/>
          <p:nvPr/>
        </p:nvGrpSpPr>
        <p:grpSpPr>
          <a:xfrm>
            <a:off x="668232" y="1572254"/>
            <a:ext cx="16781568" cy="8524246"/>
            <a:chOff x="0" y="0"/>
            <a:chExt cx="6762470" cy="3156468"/>
          </a:xfrm>
        </p:grpSpPr>
        <p:sp>
          <p:nvSpPr>
            <p:cNvPr id="14" name="Freeform 14">
              <a:extLst>
                <a:ext uri="{FF2B5EF4-FFF2-40B4-BE49-F238E27FC236}">
                  <a16:creationId xmlns:a16="http://schemas.microsoft.com/office/drawing/2014/main" id="{12D274CC-9F45-10F9-3F8E-053AAAE447AC}"/>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28E6B7CD-CB97-1665-BBDB-33E69F4C7AD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6" name="Freeform 16">
              <a:extLst>
                <a:ext uri="{FF2B5EF4-FFF2-40B4-BE49-F238E27FC236}">
                  <a16:creationId xmlns:a16="http://schemas.microsoft.com/office/drawing/2014/main" id="{CAD29FAC-C3F3-30AB-CBB9-0328F6596177}"/>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a:extLst>
              <a:ext uri="{FF2B5EF4-FFF2-40B4-BE49-F238E27FC236}">
                <a16:creationId xmlns:a16="http://schemas.microsoft.com/office/drawing/2014/main" id="{17867FB3-A82B-A5A3-1AB2-95A4967F414D}"/>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7A1E493E-E301-E181-64FA-6DE7E62F64B8}"/>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A5D61011-3B11-478B-39C4-AB36D7647C16}"/>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3" name="TextBox 25">
            <a:extLst>
              <a:ext uri="{FF2B5EF4-FFF2-40B4-BE49-F238E27FC236}">
                <a16:creationId xmlns:a16="http://schemas.microsoft.com/office/drawing/2014/main" id="{FF03F7F3-C015-3AE5-7C16-2966F416658E}"/>
              </a:ext>
            </a:extLst>
          </p:cNvPr>
          <p:cNvSpPr txBox="1"/>
          <p:nvPr/>
        </p:nvSpPr>
        <p:spPr>
          <a:xfrm>
            <a:off x="4388894" y="904517"/>
            <a:ext cx="9372600" cy="1083823"/>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異常偵測判斷機制與準確率評估</a:t>
            </a:r>
          </a:p>
          <a:p>
            <a:pPr algn="ctr">
              <a:lnSpc>
                <a:spcPts val="4239"/>
              </a:lnSpc>
            </a:pPr>
            <a:endPar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8" name="TextBox 39">
            <a:extLst>
              <a:ext uri="{FF2B5EF4-FFF2-40B4-BE49-F238E27FC236}">
                <a16:creationId xmlns:a16="http://schemas.microsoft.com/office/drawing/2014/main" id="{A4F7153C-8E24-1385-0DC3-8AE96DD4342E}"/>
              </a:ext>
            </a:extLst>
          </p:cNvPr>
          <p:cNvSpPr txBox="1"/>
          <p:nvPr/>
        </p:nvSpPr>
        <p:spPr>
          <a:xfrm>
            <a:off x="1151142" y="1870392"/>
            <a:ext cx="15917658" cy="7130991"/>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採用統計製程管制圖</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(Control Chart)</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作為判斷依據</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457200" indent="-457200" algn="just">
              <a:lnSpc>
                <a:spcPct val="15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依企業實務做法，以過去五分鐘的平均延遲為基準</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倍標準差</a:t>
            </a:r>
            <a:r>
              <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(3σ)</a:t>
            </a: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作為上下界限</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15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當預測延遲超出區間範圍時，即觸發異常告警</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lnSpc>
                <a:spcPct val="150000"/>
              </a:lnSpc>
              <a:buFont typeface="Arial" panose="020B0604020202020204" pitchFamily="34" charset="0"/>
              <a:buChar char="•"/>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採用混淆矩陣作為分析工具，將判斷結果分為四種類型：</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2114550" lvl="3" indent="-742950" algn="just">
              <a:lnSpc>
                <a:spcPct val="200000"/>
              </a:lnSpc>
              <a:buFont typeface="+mj-lt"/>
              <a:buAutoNum type="arabicPeriod"/>
            </a:pP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TP (True Positive)</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：真實異常且成功發出告警</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2114550" lvl="3" indent="-742950" algn="just">
              <a:lnSpc>
                <a:spcPct val="200000"/>
              </a:lnSpc>
              <a:buFont typeface="+mj-lt"/>
              <a:buAutoNum type="arabicPeriod"/>
            </a:pP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FP (False Positive)</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：真實正常卻誤判為異常</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2114550" lvl="3" indent="-742950" algn="just">
              <a:lnSpc>
                <a:spcPct val="200000"/>
              </a:lnSpc>
              <a:buFont typeface="+mj-lt"/>
              <a:buAutoNum type="arabicPeriod"/>
            </a:pP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FN (False Negative)</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：真實異常但未能正確判斷</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2114550" lvl="3" indent="-742950" algn="just">
              <a:lnSpc>
                <a:spcPct val="200000"/>
              </a:lnSpc>
              <a:buFont typeface="+mj-lt"/>
              <a:buAutoNum type="arabicPeriod"/>
            </a:pP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TN (True Negative)</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：真實正常且未發出告警</a:t>
            </a:r>
          </a:p>
          <a:p>
            <a:pPr marL="457200" indent="-457200" algn="just">
              <a:lnSpc>
                <a:spcPct val="150000"/>
              </a:lnSpc>
              <a:buFont typeface="Arial" panose="020B0604020202020204" pitchFamily="34" charset="0"/>
              <a:buChar char="•"/>
            </a:pPr>
            <a:endParaRPr lang="en-US" sz="36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4" name="資料庫圖表 3">
            <a:extLst>
              <a:ext uri="{FF2B5EF4-FFF2-40B4-BE49-F238E27FC236}">
                <a16:creationId xmlns:a16="http://schemas.microsoft.com/office/drawing/2014/main" id="{9A7F8D22-7067-D0AD-943F-43141BCD1194}"/>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2128875"/>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11F0C-86C7-29E7-33B8-09A93AF87AED}"/>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6B0791AF-6D9B-55BD-3527-33872050C75B}"/>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D9343905-0FF0-1A54-20A5-4873DDE37C02}"/>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0FA2E07A-3864-6A7C-544F-A468FE72751A}"/>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3" name="TextBox 25">
            <a:extLst>
              <a:ext uri="{FF2B5EF4-FFF2-40B4-BE49-F238E27FC236}">
                <a16:creationId xmlns:a16="http://schemas.microsoft.com/office/drawing/2014/main" id="{E6DA2518-D996-9E58-540F-689BEBC576FA}"/>
              </a:ext>
            </a:extLst>
          </p:cNvPr>
          <p:cNvSpPr txBox="1"/>
          <p:nvPr/>
        </p:nvSpPr>
        <p:spPr>
          <a:xfrm>
            <a:off x="4457700" y="1200288"/>
            <a:ext cx="9372600"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監控儀表板實作</a:t>
            </a: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(User/Post</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服務</a:t>
            </a: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a:t>
            </a:r>
            <a:endPar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pic>
        <p:nvPicPr>
          <p:cNvPr id="10" name="圖片 9">
            <a:extLst>
              <a:ext uri="{FF2B5EF4-FFF2-40B4-BE49-F238E27FC236}">
                <a16:creationId xmlns:a16="http://schemas.microsoft.com/office/drawing/2014/main" id="{1751DA55-CC2E-AF51-4D87-1163A7147D2B}"/>
              </a:ext>
            </a:extLst>
          </p:cNvPr>
          <p:cNvPicPr>
            <a:picLocks noChangeAspect="1"/>
          </p:cNvPicPr>
          <p:nvPr/>
        </p:nvPicPr>
        <p:blipFill>
          <a:blip r:embed="rId5"/>
          <a:stretch>
            <a:fillRect/>
          </a:stretch>
        </p:blipFill>
        <p:spPr>
          <a:xfrm>
            <a:off x="293914" y="2786222"/>
            <a:ext cx="8910265" cy="4714555"/>
          </a:xfrm>
          <a:prstGeom prst="rect">
            <a:avLst/>
          </a:prstGeom>
        </p:spPr>
      </p:pic>
      <p:pic>
        <p:nvPicPr>
          <p:cNvPr id="14" name="圖片 13">
            <a:extLst>
              <a:ext uri="{FF2B5EF4-FFF2-40B4-BE49-F238E27FC236}">
                <a16:creationId xmlns:a16="http://schemas.microsoft.com/office/drawing/2014/main" id="{F833352F-1381-9367-415B-0130B28C1653}"/>
              </a:ext>
            </a:extLst>
          </p:cNvPr>
          <p:cNvPicPr>
            <a:picLocks noChangeAspect="1"/>
          </p:cNvPicPr>
          <p:nvPr/>
        </p:nvPicPr>
        <p:blipFill>
          <a:blip r:embed="rId6"/>
          <a:stretch>
            <a:fillRect/>
          </a:stretch>
        </p:blipFill>
        <p:spPr>
          <a:xfrm>
            <a:off x="9372600" y="2741513"/>
            <a:ext cx="8899379" cy="4714555"/>
          </a:xfrm>
          <a:prstGeom prst="rect">
            <a:avLst/>
          </a:prstGeom>
        </p:spPr>
      </p:pic>
      <p:graphicFrame>
        <p:nvGraphicFramePr>
          <p:cNvPr id="4" name="資料庫圖表 3">
            <a:extLst>
              <a:ext uri="{FF2B5EF4-FFF2-40B4-BE49-F238E27FC236}">
                <a16:creationId xmlns:a16="http://schemas.microsoft.com/office/drawing/2014/main" id="{5FDDA48F-D807-051C-92DC-FC3EAD82CCC1}"/>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12334559"/>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CD5E-6BD8-D616-8EAC-EAAFFC29E34C}"/>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03B39E49-6E75-0DD9-1F4A-62564136CB81}"/>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E903456E-4121-902C-6A03-BBAA439A8DC5}"/>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35C1125C-56D9-F79D-7EDF-9EEB95D189F7}"/>
              </a:ext>
            </a:extLst>
          </p:cNvPr>
          <p:cNvSpPr>
            <a:spLocks noGrp="1"/>
          </p:cNvSpPr>
          <p:nvPr>
            <p:ph type="sldNum" sz="quarter" idx="12"/>
          </p:nvPr>
        </p:nvSpPr>
        <p:spPr/>
        <p:txBody>
          <a:bodyPr/>
          <a:lstStyle/>
          <a:p>
            <a:fld id="{B6F15528-21DE-4FAA-801E-634DDDAF4B2B}" type="slidenum">
              <a:rPr lang="en-US" smtClean="0"/>
              <a:pPr/>
              <a:t>48</a:t>
            </a:fld>
            <a:endParaRPr lang="en-US"/>
          </a:p>
        </p:txBody>
      </p:sp>
      <p:sp>
        <p:nvSpPr>
          <p:cNvPr id="3" name="TextBox 25">
            <a:extLst>
              <a:ext uri="{FF2B5EF4-FFF2-40B4-BE49-F238E27FC236}">
                <a16:creationId xmlns:a16="http://schemas.microsoft.com/office/drawing/2014/main" id="{55405649-F687-7D4A-D424-986D9AF61049}"/>
              </a:ext>
            </a:extLst>
          </p:cNvPr>
          <p:cNvSpPr txBox="1"/>
          <p:nvPr/>
        </p:nvSpPr>
        <p:spPr>
          <a:xfrm>
            <a:off x="3657600" y="1222642"/>
            <a:ext cx="11536906" cy="545214"/>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監控儀表板實作</a:t>
            </a: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(Comment/Auth</a:t>
            </a: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服務</a:t>
            </a:r>
            <a:r>
              <a:rPr lang="en-US" altLang="zh-TW"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a:t>
            </a:r>
            <a:endPar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pic>
        <p:nvPicPr>
          <p:cNvPr id="18" name="圖片 17">
            <a:extLst>
              <a:ext uri="{FF2B5EF4-FFF2-40B4-BE49-F238E27FC236}">
                <a16:creationId xmlns:a16="http://schemas.microsoft.com/office/drawing/2014/main" id="{591139D8-2092-BF82-3922-30965D89B331}"/>
              </a:ext>
            </a:extLst>
          </p:cNvPr>
          <p:cNvPicPr>
            <a:picLocks noChangeAspect="1"/>
          </p:cNvPicPr>
          <p:nvPr/>
        </p:nvPicPr>
        <p:blipFill>
          <a:blip r:embed="rId5"/>
          <a:stretch>
            <a:fillRect/>
          </a:stretch>
        </p:blipFill>
        <p:spPr>
          <a:xfrm>
            <a:off x="175815" y="2741513"/>
            <a:ext cx="8899379" cy="4674848"/>
          </a:xfrm>
          <a:prstGeom prst="rect">
            <a:avLst/>
          </a:prstGeom>
        </p:spPr>
      </p:pic>
      <p:pic>
        <p:nvPicPr>
          <p:cNvPr id="5" name="圖片 4">
            <a:extLst>
              <a:ext uri="{FF2B5EF4-FFF2-40B4-BE49-F238E27FC236}">
                <a16:creationId xmlns:a16="http://schemas.microsoft.com/office/drawing/2014/main" id="{92F20480-938D-A4D0-6660-E2D862D14DB6}"/>
              </a:ext>
            </a:extLst>
          </p:cNvPr>
          <p:cNvPicPr>
            <a:picLocks noChangeAspect="1"/>
          </p:cNvPicPr>
          <p:nvPr/>
        </p:nvPicPr>
        <p:blipFill>
          <a:blip r:embed="rId6"/>
          <a:stretch>
            <a:fillRect/>
          </a:stretch>
        </p:blipFill>
        <p:spPr>
          <a:xfrm>
            <a:off x="9605173" y="2741512"/>
            <a:ext cx="8507012" cy="4674847"/>
          </a:xfrm>
          <a:prstGeom prst="rect">
            <a:avLst/>
          </a:prstGeom>
        </p:spPr>
      </p:pic>
      <p:graphicFrame>
        <p:nvGraphicFramePr>
          <p:cNvPr id="4" name="資料庫圖表 3">
            <a:extLst>
              <a:ext uri="{FF2B5EF4-FFF2-40B4-BE49-F238E27FC236}">
                <a16:creationId xmlns:a16="http://schemas.microsoft.com/office/drawing/2014/main" id="{1333644F-4528-3848-F094-B0E17C4EDF90}"/>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3736315"/>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6CD49-E441-7963-DD10-040F30EAA94B}"/>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B6C643EA-0695-F540-063C-9DB5725B8C5F}"/>
              </a:ext>
            </a:extLst>
          </p:cNvPr>
          <p:cNvGrpSpPr/>
          <p:nvPr/>
        </p:nvGrpSpPr>
        <p:grpSpPr>
          <a:xfrm>
            <a:off x="668232" y="1572254"/>
            <a:ext cx="16781568" cy="8524246"/>
            <a:chOff x="0" y="0"/>
            <a:chExt cx="6762470" cy="3156468"/>
          </a:xfrm>
        </p:grpSpPr>
        <p:sp>
          <p:nvSpPr>
            <p:cNvPr id="14" name="Freeform 14">
              <a:extLst>
                <a:ext uri="{FF2B5EF4-FFF2-40B4-BE49-F238E27FC236}">
                  <a16:creationId xmlns:a16="http://schemas.microsoft.com/office/drawing/2014/main" id="{12D274CC-9F45-10F9-3F8E-053AAAE447AC}"/>
                </a:ext>
              </a:extLst>
            </p:cNvPr>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a:extLst>
                <a:ext uri="{FF2B5EF4-FFF2-40B4-BE49-F238E27FC236}">
                  <a16:creationId xmlns:a16="http://schemas.microsoft.com/office/drawing/2014/main" id="{28E6B7CD-CB97-1665-BBDB-33E69F4C7AD8}"/>
                </a:ext>
              </a:extLst>
            </p:cNvPr>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dirty="0"/>
            </a:p>
          </p:txBody>
        </p:sp>
        <p:sp>
          <p:nvSpPr>
            <p:cNvPr id="16" name="Freeform 16">
              <a:extLst>
                <a:ext uri="{FF2B5EF4-FFF2-40B4-BE49-F238E27FC236}">
                  <a16:creationId xmlns:a16="http://schemas.microsoft.com/office/drawing/2014/main" id="{CAD29FAC-C3F3-30AB-CBB9-0328F6596177}"/>
                </a:ext>
              </a:extLst>
            </p:cNvPr>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11" name="Freeform 11">
            <a:extLst>
              <a:ext uri="{FF2B5EF4-FFF2-40B4-BE49-F238E27FC236}">
                <a16:creationId xmlns:a16="http://schemas.microsoft.com/office/drawing/2014/main" id="{17867FB3-A82B-A5A3-1AB2-95A4967F414D}"/>
              </a:ext>
            </a:extLst>
          </p:cNvPr>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a:extLst>
              <a:ext uri="{FF2B5EF4-FFF2-40B4-BE49-F238E27FC236}">
                <a16:creationId xmlns:a16="http://schemas.microsoft.com/office/drawing/2014/main" id="{7A1E493E-E301-E181-64FA-6DE7E62F64B8}"/>
              </a:ext>
            </a:extLst>
          </p:cNvPr>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7" name="投影片編號版面配置區 26">
            <a:extLst>
              <a:ext uri="{FF2B5EF4-FFF2-40B4-BE49-F238E27FC236}">
                <a16:creationId xmlns:a16="http://schemas.microsoft.com/office/drawing/2014/main" id="{A5D61011-3B11-478B-39C4-AB36D7647C16}"/>
              </a:ext>
            </a:extLst>
          </p:cNvPr>
          <p:cNvSpPr>
            <a:spLocks noGrp="1"/>
          </p:cNvSpPr>
          <p:nvPr>
            <p:ph type="sldNum" sz="quarter" idx="12"/>
          </p:nvPr>
        </p:nvSpPr>
        <p:spPr/>
        <p:txBody>
          <a:bodyPr/>
          <a:lstStyle/>
          <a:p>
            <a:fld id="{B6F15528-21DE-4FAA-801E-634DDDAF4B2B}" type="slidenum">
              <a:rPr lang="en-US" smtClean="0"/>
              <a:pPr/>
              <a:t>49</a:t>
            </a:fld>
            <a:endParaRPr lang="en-US"/>
          </a:p>
        </p:txBody>
      </p:sp>
      <p:sp>
        <p:nvSpPr>
          <p:cNvPr id="3" name="TextBox 25">
            <a:extLst>
              <a:ext uri="{FF2B5EF4-FFF2-40B4-BE49-F238E27FC236}">
                <a16:creationId xmlns:a16="http://schemas.microsoft.com/office/drawing/2014/main" id="{FF03F7F3-C015-3AE5-7C16-2966F416658E}"/>
              </a:ext>
            </a:extLst>
          </p:cNvPr>
          <p:cNvSpPr txBox="1"/>
          <p:nvPr/>
        </p:nvSpPr>
        <p:spPr>
          <a:xfrm>
            <a:off x="4388894" y="904517"/>
            <a:ext cx="9372600" cy="1083823"/>
          </a:xfrm>
          <a:prstGeom prst="rect">
            <a:avLst/>
          </a:prstGeom>
        </p:spPr>
        <p:txBody>
          <a:bodyPr wrap="square"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異常偵測結果分析</a:t>
            </a:r>
          </a:p>
          <a:p>
            <a:pPr algn="ctr">
              <a:lnSpc>
                <a:spcPts val="4239"/>
              </a:lnSpc>
            </a:pPr>
            <a:endPar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pic>
        <p:nvPicPr>
          <p:cNvPr id="8" name="圖片 7">
            <a:extLst>
              <a:ext uri="{FF2B5EF4-FFF2-40B4-BE49-F238E27FC236}">
                <a16:creationId xmlns:a16="http://schemas.microsoft.com/office/drawing/2014/main" id="{74FA5F7E-AC1E-4234-A362-97D7C72DF0A6}"/>
              </a:ext>
            </a:extLst>
          </p:cNvPr>
          <p:cNvPicPr>
            <a:picLocks noChangeAspect="1"/>
          </p:cNvPicPr>
          <p:nvPr/>
        </p:nvPicPr>
        <p:blipFill>
          <a:blip r:embed="rId5"/>
          <a:stretch>
            <a:fillRect/>
          </a:stretch>
        </p:blipFill>
        <p:spPr>
          <a:xfrm>
            <a:off x="1257079" y="6556704"/>
            <a:ext cx="15636230" cy="2871315"/>
          </a:xfrm>
          <a:prstGeom prst="rect">
            <a:avLst/>
          </a:prstGeom>
        </p:spPr>
      </p:pic>
      <mc:AlternateContent xmlns:mc="http://schemas.openxmlformats.org/markup-compatibility/2006" xmlns:a14="http://schemas.microsoft.com/office/drawing/2010/main">
        <mc:Choice Requires="a14">
          <p:sp>
            <p:nvSpPr>
              <p:cNvPr id="17" name="TextBox 39">
                <a:extLst>
                  <a:ext uri="{FF2B5EF4-FFF2-40B4-BE49-F238E27FC236}">
                    <a16:creationId xmlns:a16="http://schemas.microsoft.com/office/drawing/2014/main" id="{0407C29D-BAAB-4AC3-8BC3-A6262BBED475}"/>
                  </a:ext>
                </a:extLst>
              </p:cNvPr>
              <p:cNvSpPr txBox="1"/>
              <p:nvPr/>
            </p:nvSpPr>
            <p:spPr>
              <a:xfrm>
                <a:off x="1227342" y="1908984"/>
                <a:ext cx="15460458" cy="4409733"/>
              </a:xfrm>
              <a:prstGeom prst="rect">
                <a:avLst/>
              </a:prstGeom>
            </p:spPr>
            <p:txBody>
              <a:bodyPr wrap="square" lIns="0" tIns="0" rIns="0" bIns="0" rtlCol="0" anchor="t">
                <a:spAutoFit/>
              </a:bodyPr>
              <a:lstStyle/>
              <a:p>
                <a:pPr algn="just">
                  <a:lnSpc>
                    <a:spcPct val="150000"/>
                  </a:lnSpc>
                </a:pPr>
                <a:r>
                  <a:rPr lang="zh-TW" altLang="en-US"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實驗結果顯示，機器學習模型在異常偵測準確率上明顯優於傳統方法，其說明如下：</a:t>
                </a:r>
                <a:endParaRPr lang="en-US" altLang="zh-TW" sz="32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971550" lvl="1" indent="-514350" algn="just">
                  <a:lnSpc>
                    <a:spcPct val="200000"/>
                  </a:lnSpc>
                  <a:buFont typeface="+mj-lt"/>
                  <a:buAutoNum type="arabicPeriod"/>
                </a:pP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成功預測異常</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(TP)</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由</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966</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提升至</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1,318</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，提升幅度約為</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36%</a:t>
                </a:r>
              </a:p>
              <a:p>
                <a:pPr marL="971550" lvl="1" indent="-514350" algn="just">
                  <a:lnSpc>
                    <a:spcPct val="200000"/>
                  </a:lnSpc>
                  <a:buFont typeface="+mj-lt"/>
                  <a:buAutoNum type="arabicPeriod"/>
                </a:pP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漏報異常</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(FN)</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由</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971</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降至</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439</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，減少幅度約為</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55%</a:t>
                </a:r>
              </a:p>
              <a:p>
                <a:pPr marL="971550" lvl="1" indent="-514350" algn="just">
                  <a:lnSpc>
                    <a:spcPct val="200000"/>
                  </a:lnSpc>
                  <a:buFont typeface="+mj-lt"/>
                  <a:buAutoNum type="arabicPeriod"/>
                </a:pP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誤報數</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(FP)</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則由</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192</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減少至</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96</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，下降幅度達</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50%</a:t>
                </a:r>
              </a:p>
              <a:p>
                <a:pPr marL="971550" lvl="1" indent="-514350" algn="just">
                  <a:lnSpc>
                    <a:spcPct val="200000"/>
                  </a:lnSpc>
                  <a:buFont typeface="+mj-lt"/>
                  <a:buAutoNum type="arabicPeriod"/>
                </a:pP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整體正確率</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14:m>
                  <m:oMath xmlns:m="http://schemas.openxmlformats.org/officeDocument/2006/math">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𝑨𝒄𝒄𝒖𝒓𝒂𝒄𝒚</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 </m:t>
                    </m:r>
                    <m:f>
                      <m:fPr>
                        <m:ctrlPr>
                          <a:rPr lang="zh-TW" altLang="zh-TW" sz="2800" b="1" i="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ctrlPr>
                      </m:fPr>
                      <m:num>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𝑻𝑷</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𝑻𝑵</m:t>
                        </m:r>
                      </m:num>
                      <m:den>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𝑻𝑷</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𝑭𝑷</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𝑭𝑵</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800" b="1">
                            <a:solidFill>
                              <a:srgbClr val="5576CB"/>
                            </a:solidFill>
                            <a:latin typeface="Cambria Math" panose="02040503050406030204" pitchFamily="18" charset="0"/>
                            <a:ea typeface="微軟正黑體" panose="020B0604030504040204" pitchFamily="34" charset="-120"/>
                            <a:cs typeface="Times New Roman" panose="02020603050405020304" pitchFamily="18" charset="0"/>
                          </a:rPr>
                          <m:t>𝑻𝑵</m:t>
                        </m:r>
                      </m:den>
                    </m:f>
                  </m:oMath>
                </a14:m>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en-US"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由</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79.81%</a:t>
                </a:r>
                <a:r>
                  <a:rPr lang="zh-TW"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提升至</a:t>
                </a:r>
                <a:r>
                  <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90.71%</a:t>
                </a:r>
                <a:endParaRPr lang="en-US" altLang="zh-TW" sz="2800"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mc:Choice>
        <mc:Fallback xmlns="">
          <p:sp>
            <p:nvSpPr>
              <p:cNvPr id="17" name="TextBox 39">
                <a:extLst>
                  <a:ext uri="{FF2B5EF4-FFF2-40B4-BE49-F238E27FC236}">
                    <a16:creationId xmlns:a16="http://schemas.microsoft.com/office/drawing/2014/main" id="{0407C29D-BAAB-4AC3-8BC3-A6262BBED475}"/>
                  </a:ext>
                </a:extLst>
              </p:cNvPr>
              <p:cNvSpPr txBox="1">
                <a:spLocks noRot="1" noChangeAspect="1" noMove="1" noResize="1" noEditPoints="1" noAdjustHandles="1" noChangeArrowheads="1" noChangeShapeType="1" noTextEdit="1"/>
              </p:cNvSpPr>
              <p:nvPr/>
            </p:nvSpPr>
            <p:spPr>
              <a:xfrm>
                <a:off x="1227342" y="1908984"/>
                <a:ext cx="15460458" cy="4409733"/>
              </a:xfrm>
              <a:prstGeom prst="rect">
                <a:avLst/>
              </a:prstGeom>
              <a:blipFill>
                <a:blip r:embed="rId6"/>
                <a:stretch>
                  <a:fillRect l="-1577" b="-2348"/>
                </a:stretch>
              </a:blipFill>
            </p:spPr>
            <p:txBody>
              <a:bodyPr/>
              <a:lstStyle/>
              <a:p>
                <a:r>
                  <a:rPr lang="zh-TW" altLang="en-US">
                    <a:noFill/>
                  </a:rPr>
                  <a:t> </a:t>
                </a:r>
              </a:p>
            </p:txBody>
          </p:sp>
        </mc:Fallback>
      </mc:AlternateContent>
      <p:graphicFrame>
        <p:nvGraphicFramePr>
          <p:cNvPr id="4" name="資料庫圖表 3">
            <a:extLst>
              <a:ext uri="{FF2B5EF4-FFF2-40B4-BE49-F238E27FC236}">
                <a16:creationId xmlns:a16="http://schemas.microsoft.com/office/drawing/2014/main" id="{FD57419E-12F1-BC91-4622-63948481E37B}"/>
              </a:ext>
            </a:extLst>
          </p:cNvPr>
          <p:cNvGraphicFramePr/>
          <p:nvPr>
            <p:extLst>
              <p:ext uri="{D42A27DB-BD31-4B8C-83A1-F6EECF244321}">
                <p14:modId xmlns:p14="http://schemas.microsoft.com/office/powerpoint/2010/main" val="38447882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94234024"/>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3" name="Group 13"/>
          <p:cNvGrpSpPr/>
          <p:nvPr/>
        </p:nvGrpSpPr>
        <p:grpSpPr>
          <a:xfrm>
            <a:off x="1276868" y="2006350"/>
            <a:ext cx="15734265" cy="7344164"/>
            <a:chOff x="0" y="0"/>
            <a:chExt cx="6762470" cy="3156468"/>
          </a:xfrm>
        </p:grpSpPr>
        <p:sp>
          <p:nvSpPr>
            <p:cNvPr id="14" name="Freeform 14"/>
            <p:cNvSpPr/>
            <p:nvPr/>
          </p:nvSpPr>
          <p:spPr>
            <a:xfrm>
              <a:off x="48260" y="4826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244DB6"/>
            </a:solidFill>
          </p:spPr>
          <p:txBody>
            <a:bodyPr/>
            <a:lstStyle/>
            <a:p>
              <a:endParaRPr lang="zh-TW" altLang="en-US"/>
            </a:p>
          </p:txBody>
        </p:sp>
        <p:sp>
          <p:nvSpPr>
            <p:cNvPr id="15" name="Freeform 15"/>
            <p:cNvSpPr/>
            <p:nvPr/>
          </p:nvSpPr>
          <p:spPr>
            <a:xfrm>
              <a:off x="6350" y="6350"/>
              <a:ext cx="6714210" cy="3108208"/>
            </a:xfrm>
            <a:custGeom>
              <a:avLst/>
              <a:gdLst/>
              <a:ahLst/>
              <a:cxnLst/>
              <a:rect l="l" t="t" r="r" b="b"/>
              <a:pathLst>
                <a:path w="6714210" h="3108208">
                  <a:moveTo>
                    <a:pt x="0" y="0"/>
                  </a:moveTo>
                  <a:lnTo>
                    <a:pt x="6714210" y="0"/>
                  </a:lnTo>
                  <a:lnTo>
                    <a:pt x="6714210" y="3108208"/>
                  </a:lnTo>
                  <a:lnTo>
                    <a:pt x="0" y="3108208"/>
                  </a:lnTo>
                  <a:close/>
                </a:path>
              </a:pathLst>
            </a:custGeom>
            <a:solidFill>
              <a:srgbClr val="FFFCF4"/>
            </a:solidFill>
          </p:spPr>
          <p:txBody>
            <a:bodyPr/>
            <a:lstStyle/>
            <a:p>
              <a:endParaRPr lang="zh-TW" altLang="en-US"/>
            </a:p>
          </p:txBody>
        </p:sp>
        <p:sp>
          <p:nvSpPr>
            <p:cNvPr id="16" name="Freeform 16"/>
            <p:cNvSpPr/>
            <p:nvPr/>
          </p:nvSpPr>
          <p:spPr>
            <a:xfrm>
              <a:off x="0" y="0"/>
              <a:ext cx="6726910" cy="3120908"/>
            </a:xfrm>
            <a:custGeom>
              <a:avLst/>
              <a:gdLst/>
              <a:ahLst/>
              <a:cxnLst/>
              <a:rect l="l" t="t" r="r" b="b"/>
              <a:pathLst>
                <a:path w="6726910" h="3120908">
                  <a:moveTo>
                    <a:pt x="6726910" y="3120908"/>
                  </a:moveTo>
                  <a:lnTo>
                    <a:pt x="0" y="3120908"/>
                  </a:lnTo>
                  <a:lnTo>
                    <a:pt x="0" y="0"/>
                  </a:lnTo>
                  <a:lnTo>
                    <a:pt x="6726910" y="0"/>
                  </a:lnTo>
                  <a:lnTo>
                    <a:pt x="6726910" y="3120908"/>
                  </a:lnTo>
                  <a:close/>
                  <a:moveTo>
                    <a:pt x="12700" y="3108208"/>
                  </a:moveTo>
                  <a:lnTo>
                    <a:pt x="6714210" y="3108208"/>
                  </a:lnTo>
                  <a:lnTo>
                    <a:pt x="6714210" y="12700"/>
                  </a:lnTo>
                  <a:lnTo>
                    <a:pt x="12700" y="12700"/>
                  </a:lnTo>
                  <a:lnTo>
                    <a:pt x="12700" y="3108208"/>
                  </a:lnTo>
                  <a:close/>
                </a:path>
              </a:pathLst>
            </a:custGeom>
            <a:solidFill>
              <a:srgbClr val="244DB6"/>
            </a:solidFill>
          </p:spPr>
          <p:txBody>
            <a:bodyPr/>
            <a:lstStyle/>
            <a:p>
              <a:endParaRPr lang="zh-TW" altLang="en-US"/>
            </a:p>
          </p:txBody>
        </p:sp>
      </p:grpSp>
      <p:sp>
        <p:nvSpPr>
          <p:cNvPr id="25" name="TextBox 25"/>
          <p:cNvSpPr txBox="1"/>
          <p:nvPr/>
        </p:nvSpPr>
        <p:spPr>
          <a:xfrm>
            <a:off x="5868861" y="1028700"/>
            <a:ext cx="6550278"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結論</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sp>
        <p:nvSpPr>
          <p:cNvPr id="27" name="Freeform 27"/>
          <p:cNvSpPr/>
          <p:nvPr/>
        </p:nvSpPr>
        <p:spPr>
          <a:xfrm>
            <a:off x="17645677" y="949280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8" name="Freeform 28"/>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8" name="投影片編號版面配置區 37">
            <a:extLst>
              <a:ext uri="{FF2B5EF4-FFF2-40B4-BE49-F238E27FC236}">
                <a16:creationId xmlns:a16="http://schemas.microsoft.com/office/drawing/2014/main" id="{5ECE2F49-6D88-D3EC-73F1-D308981D4353}"/>
              </a:ext>
            </a:extLst>
          </p:cNvPr>
          <p:cNvSpPr>
            <a:spLocks noGrp="1"/>
          </p:cNvSpPr>
          <p:nvPr>
            <p:ph type="sldNum" sz="quarter" idx="12"/>
          </p:nvPr>
        </p:nvSpPr>
        <p:spPr/>
        <p:txBody>
          <a:bodyPr/>
          <a:lstStyle/>
          <a:p>
            <a:fld id="{B6F15528-21DE-4FAA-801E-634DDDAF4B2B}" type="slidenum">
              <a:rPr lang="en-US" smtClean="0"/>
              <a:pPr/>
              <a:t>50</a:t>
            </a:fld>
            <a:endParaRPr lang="en-US"/>
          </a:p>
        </p:txBody>
      </p:sp>
      <p:sp>
        <p:nvSpPr>
          <p:cNvPr id="5" name="TextBox 39">
            <a:extLst>
              <a:ext uri="{FF2B5EF4-FFF2-40B4-BE49-F238E27FC236}">
                <a16:creationId xmlns:a16="http://schemas.microsoft.com/office/drawing/2014/main" id="{EB84DB0E-E5BA-7D3E-7387-EC4617AE5C8B}"/>
              </a:ext>
            </a:extLst>
          </p:cNvPr>
          <p:cNvSpPr txBox="1"/>
          <p:nvPr/>
        </p:nvSpPr>
        <p:spPr>
          <a:xfrm>
            <a:off x="1617755" y="2552700"/>
            <a:ext cx="14841445" cy="5345631"/>
          </a:xfrm>
          <a:prstGeom prst="rect">
            <a:avLst/>
          </a:prstGeom>
        </p:spPr>
        <p:txBody>
          <a:bodyPr wrap="square" lIns="0" tIns="0" rIns="0" bIns="0" rtlCol="0" anchor="t">
            <a:spAutoFit/>
          </a:bodyPr>
          <a:lstStyle/>
          <a:p>
            <a:pPr marL="514350" indent="-514350" algn="just">
              <a:lnSpc>
                <a:spcPts val="4200"/>
              </a:lnSpc>
              <a:buFont typeface="+mj-lt"/>
              <a:buAutoNum type="arabicPeriod"/>
            </a:pP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延遲預測框架與模型評估</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建立以</a:t>
            </a:r>
            <a:r>
              <a:rPr lang="en-US" altLang="zh-TW" sz="3199" b="1" dirty="0" err="1">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XGBoost</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為核心的延遲預測</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模型</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，有效反映微服務系統在不同情境下的效能行為</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514350" indent="-514350" algn="just">
              <a:lnSpc>
                <a:spcPts val="4200"/>
              </a:lnSpc>
              <a:buFont typeface="+mj-lt"/>
              <a:buAutoNum type="arabicPeriod"/>
            </a:pPr>
            <a:endPar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514350" indent="-514350" algn="just">
              <a:lnSpc>
                <a:spcPts val="4200"/>
              </a:lnSpc>
              <a:buFont typeface="+mj-lt"/>
              <a:buAutoNum type="arabicPeriod"/>
            </a:pP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特徵設計與模型效能</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：濃縮特徵</a:t>
            </a: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(81</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a:t>
            </a: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整體表現優於展開特徵</a:t>
            </a: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(308</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a:t>
            </a: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514350" indent="-514350" algn="just">
              <a:lnSpc>
                <a:spcPts val="4200"/>
              </a:lnSpc>
              <a:buFont typeface="+mj-lt"/>
              <a:buAutoNum type="arabicPeriod"/>
            </a:pPr>
            <a:endPar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a:p>
            <a:pPr marL="514350" indent="-514350" algn="just">
              <a:lnSpc>
                <a:spcPts val="4200"/>
              </a:lnSpc>
              <a:buFont typeface="+mj-lt"/>
              <a:buAutoNum type="arabicPeriod"/>
            </a:pP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新型評估指標的價值</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rPr>
              <a:t>：</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提出強健百分位評分</a:t>
            </a: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(RPS)</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整合多個百分位數的延遲誤差，</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能</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更全面呈現模型在不同誤差區間的表現</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514350" indent="-514350" algn="just">
              <a:lnSpc>
                <a:spcPts val="4200"/>
              </a:lnSpc>
              <a:buFont typeface="+mj-lt"/>
              <a:buAutoNum type="arabicPeriod"/>
            </a:pPr>
            <a:endPar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514350" indent="-514350" algn="just">
              <a:lnSpc>
                <a:spcPts val="4200"/>
              </a:lnSpc>
              <a:buFont typeface="+mj-lt"/>
              <a:buAutoNum type="arabicPeriod"/>
            </a:pP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維運支援與告警依據</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延遲預測結果可作為維運人員辨識潛在效能瓶頸</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與</a:t>
            </a:r>
            <a:r>
              <a:rPr lang="zh-TW"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提供告警的重要依據，</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提升系統穩定性及可靠性。</a:t>
            </a:r>
            <a:endParaRPr 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Medium"/>
            </a:endParaRPr>
          </a:p>
        </p:txBody>
      </p:sp>
      <p:graphicFrame>
        <p:nvGraphicFramePr>
          <p:cNvPr id="3" name="資料庫圖表 2">
            <a:extLst>
              <a:ext uri="{FF2B5EF4-FFF2-40B4-BE49-F238E27FC236}">
                <a16:creationId xmlns:a16="http://schemas.microsoft.com/office/drawing/2014/main" id="{738F7A7A-FDD7-8397-13BC-CEA5D8B427A9}"/>
              </a:ext>
            </a:extLst>
          </p:cNvPr>
          <p:cNvGraphicFramePr/>
          <p:nvPr>
            <p:extLst>
              <p:ext uri="{D42A27DB-BD31-4B8C-83A1-F6EECF244321}">
                <p14:modId xmlns:p14="http://schemas.microsoft.com/office/powerpoint/2010/main" val="1429580007"/>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90936263"/>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14">
            <a:extLst>
              <a:ext uri="{FF2B5EF4-FFF2-40B4-BE49-F238E27FC236}">
                <a16:creationId xmlns:a16="http://schemas.microsoft.com/office/drawing/2014/main" id="{22CBFA10-6CCA-4F1D-A382-4003D993FB32}"/>
              </a:ext>
            </a:extLst>
          </p:cNvPr>
          <p:cNvGrpSpPr/>
          <p:nvPr/>
        </p:nvGrpSpPr>
        <p:grpSpPr>
          <a:xfrm>
            <a:off x="9372600" y="2487587"/>
            <a:ext cx="7809703" cy="1464030"/>
            <a:chOff x="0" y="0"/>
            <a:chExt cx="3356552" cy="629229"/>
          </a:xfrm>
        </p:grpSpPr>
        <p:sp>
          <p:nvSpPr>
            <p:cNvPr id="27" name="Freeform 15">
              <a:extLst>
                <a:ext uri="{FF2B5EF4-FFF2-40B4-BE49-F238E27FC236}">
                  <a16:creationId xmlns:a16="http://schemas.microsoft.com/office/drawing/2014/main" id="{C82DBE03-F5A7-4241-A4F0-959E521B047B}"/>
                </a:ext>
              </a:extLst>
            </p:cNvPr>
            <p:cNvSpPr/>
            <p:nvPr/>
          </p:nvSpPr>
          <p:spPr>
            <a:xfrm>
              <a:off x="48260" y="48260"/>
              <a:ext cx="3308292" cy="580969"/>
            </a:xfrm>
            <a:custGeom>
              <a:avLst/>
              <a:gdLst/>
              <a:ahLst/>
              <a:cxnLst/>
              <a:rect l="l" t="t" r="r" b="b"/>
              <a:pathLst>
                <a:path w="3308292" h="580969">
                  <a:moveTo>
                    <a:pt x="0" y="0"/>
                  </a:moveTo>
                  <a:lnTo>
                    <a:pt x="3308292" y="0"/>
                  </a:lnTo>
                  <a:lnTo>
                    <a:pt x="3308292" y="580969"/>
                  </a:lnTo>
                  <a:lnTo>
                    <a:pt x="0" y="580969"/>
                  </a:lnTo>
                  <a:close/>
                </a:path>
              </a:pathLst>
            </a:custGeom>
            <a:solidFill>
              <a:srgbClr val="244DB6"/>
            </a:solidFill>
          </p:spPr>
          <p:txBody>
            <a:bodyPr/>
            <a:lstStyle/>
            <a:p>
              <a:endParaRPr lang="zh-TW" altLang="en-US"/>
            </a:p>
          </p:txBody>
        </p:sp>
        <p:sp>
          <p:nvSpPr>
            <p:cNvPr id="28" name="Freeform 16">
              <a:extLst>
                <a:ext uri="{FF2B5EF4-FFF2-40B4-BE49-F238E27FC236}">
                  <a16:creationId xmlns:a16="http://schemas.microsoft.com/office/drawing/2014/main" id="{8DF40D7C-DA14-4109-83AF-DA6B4F328F0E}"/>
                </a:ext>
              </a:extLst>
            </p:cNvPr>
            <p:cNvSpPr/>
            <p:nvPr/>
          </p:nvSpPr>
          <p:spPr>
            <a:xfrm>
              <a:off x="6350" y="6350"/>
              <a:ext cx="3308292" cy="580969"/>
            </a:xfrm>
            <a:custGeom>
              <a:avLst/>
              <a:gdLst/>
              <a:ahLst/>
              <a:cxnLst/>
              <a:rect l="l" t="t" r="r" b="b"/>
              <a:pathLst>
                <a:path w="3308292" h="580969">
                  <a:moveTo>
                    <a:pt x="0" y="0"/>
                  </a:moveTo>
                  <a:lnTo>
                    <a:pt x="3308292" y="0"/>
                  </a:lnTo>
                  <a:lnTo>
                    <a:pt x="3308292" y="580969"/>
                  </a:lnTo>
                  <a:lnTo>
                    <a:pt x="0" y="580969"/>
                  </a:lnTo>
                  <a:close/>
                </a:path>
              </a:pathLst>
            </a:custGeom>
            <a:solidFill>
              <a:srgbClr val="FFFCF4"/>
            </a:solidFill>
          </p:spPr>
          <p:txBody>
            <a:bodyPr/>
            <a:lstStyle/>
            <a:p>
              <a:endParaRPr lang="zh-TW" altLang="en-US"/>
            </a:p>
          </p:txBody>
        </p:sp>
        <p:sp>
          <p:nvSpPr>
            <p:cNvPr id="29" name="Freeform 17">
              <a:extLst>
                <a:ext uri="{FF2B5EF4-FFF2-40B4-BE49-F238E27FC236}">
                  <a16:creationId xmlns:a16="http://schemas.microsoft.com/office/drawing/2014/main" id="{FBA5DFA8-F17E-4BC4-B439-54EB9D3ED439}"/>
                </a:ext>
              </a:extLst>
            </p:cNvPr>
            <p:cNvSpPr/>
            <p:nvPr/>
          </p:nvSpPr>
          <p:spPr>
            <a:xfrm>
              <a:off x="0" y="0"/>
              <a:ext cx="3320992" cy="593669"/>
            </a:xfrm>
            <a:custGeom>
              <a:avLst/>
              <a:gdLst/>
              <a:ahLst/>
              <a:cxnLst/>
              <a:rect l="l" t="t" r="r" b="b"/>
              <a:pathLst>
                <a:path w="3320992" h="593669">
                  <a:moveTo>
                    <a:pt x="3320992" y="593669"/>
                  </a:moveTo>
                  <a:lnTo>
                    <a:pt x="0" y="593669"/>
                  </a:lnTo>
                  <a:lnTo>
                    <a:pt x="0" y="0"/>
                  </a:lnTo>
                  <a:lnTo>
                    <a:pt x="3320992" y="0"/>
                  </a:lnTo>
                  <a:lnTo>
                    <a:pt x="3320992" y="593669"/>
                  </a:lnTo>
                  <a:close/>
                  <a:moveTo>
                    <a:pt x="12700" y="580969"/>
                  </a:moveTo>
                  <a:lnTo>
                    <a:pt x="3308292" y="580969"/>
                  </a:lnTo>
                  <a:lnTo>
                    <a:pt x="3308292" y="12700"/>
                  </a:lnTo>
                  <a:lnTo>
                    <a:pt x="12700" y="12700"/>
                  </a:lnTo>
                  <a:lnTo>
                    <a:pt x="12700" y="580969"/>
                  </a:lnTo>
                  <a:close/>
                </a:path>
              </a:pathLst>
            </a:custGeom>
            <a:solidFill>
              <a:srgbClr val="244DB6"/>
            </a:solidFill>
          </p:spPr>
          <p:txBody>
            <a:bodyPr/>
            <a:lstStyle/>
            <a:p>
              <a:endParaRPr lang="zh-TW" altLang="en-US"/>
            </a:p>
          </p:txBody>
        </p:sp>
      </p:grpSp>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9492800"/>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22" name="Group 22"/>
          <p:cNvGrpSpPr/>
          <p:nvPr/>
        </p:nvGrpSpPr>
        <p:grpSpPr>
          <a:xfrm>
            <a:off x="473221" y="2476500"/>
            <a:ext cx="7809703" cy="1464030"/>
            <a:chOff x="0" y="0"/>
            <a:chExt cx="3356552" cy="629229"/>
          </a:xfrm>
        </p:grpSpPr>
        <p:sp>
          <p:nvSpPr>
            <p:cNvPr id="23" name="Freeform 23"/>
            <p:cNvSpPr/>
            <p:nvPr/>
          </p:nvSpPr>
          <p:spPr>
            <a:xfrm>
              <a:off x="48260" y="48260"/>
              <a:ext cx="3308292" cy="580969"/>
            </a:xfrm>
            <a:custGeom>
              <a:avLst/>
              <a:gdLst/>
              <a:ahLst/>
              <a:cxnLst/>
              <a:rect l="l" t="t" r="r" b="b"/>
              <a:pathLst>
                <a:path w="3308292" h="580969">
                  <a:moveTo>
                    <a:pt x="0" y="0"/>
                  </a:moveTo>
                  <a:lnTo>
                    <a:pt x="3308292" y="0"/>
                  </a:lnTo>
                  <a:lnTo>
                    <a:pt x="3308292" y="580969"/>
                  </a:lnTo>
                  <a:lnTo>
                    <a:pt x="0" y="580969"/>
                  </a:lnTo>
                  <a:close/>
                </a:path>
              </a:pathLst>
            </a:custGeom>
            <a:solidFill>
              <a:srgbClr val="244DB6"/>
            </a:solidFill>
          </p:spPr>
          <p:txBody>
            <a:bodyPr/>
            <a:lstStyle/>
            <a:p>
              <a:endParaRPr lang="zh-TW" altLang="en-US"/>
            </a:p>
          </p:txBody>
        </p:sp>
        <p:sp>
          <p:nvSpPr>
            <p:cNvPr id="24" name="Freeform 24"/>
            <p:cNvSpPr/>
            <p:nvPr/>
          </p:nvSpPr>
          <p:spPr>
            <a:xfrm>
              <a:off x="6350" y="6350"/>
              <a:ext cx="3308292" cy="580969"/>
            </a:xfrm>
            <a:custGeom>
              <a:avLst/>
              <a:gdLst/>
              <a:ahLst/>
              <a:cxnLst/>
              <a:rect l="l" t="t" r="r" b="b"/>
              <a:pathLst>
                <a:path w="3308292" h="580969">
                  <a:moveTo>
                    <a:pt x="0" y="0"/>
                  </a:moveTo>
                  <a:lnTo>
                    <a:pt x="3308292" y="0"/>
                  </a:lnTo>
                  <a:lnTo>
                    <a:pt x="3308292" y="580969"/>
                  </a:lnTo>
                  <a:lnTo>
                    <a:pt x="0" y="580969"/>
                  </a:lnTo>
                  <a:close/>
                </a:path>
              </a:pathLst>
            </a:custGeom>
            <a:solidFill>
              <a:srgbClr val="FFFCF4"/>
            </a:solidFill>
          </p:spPr>
          <p:txBody>
            <a:bodyPr/>
            <a:lstStyle/>
            <a:p>
              <a:endParaRPr lang="zh-TW" altLang="en-US"/>
            </a:p>
          </p:txBody>
        </p:sp>
        <p:sp>
          <p:nvSpPr>
            <p:cNvPr id="25" name="Freeform 25"/>
            <p:cNvSpPr/>
            <p:nvPr/>
          </p:nvSpPr>
          <p:spPr>
            <a:xfrm>
              <a:off x="0" y="0"/>
              <a:ext cx="3320992" cy="593669"/>
            </a:xfrm>
            <a:custGeom>
              <a:avLst/>
              <a:gdLst/>
              <a:ahLst/>
              <a:cxnLst/>
              <a:rect l="l" t="t" r="r" b="b"/>
              <a:pathLst>
                <a:path w="3320992" h="593669">
                  <a:moveTo>
                    <a:pt x="3320992" y="593669"/>
                  </a:moveTo>
                  <a:lnTo>
                    <a:pt x="0" y="593669"/>
                  </a:lnTo>
                  <a:lnTo>
                    <a:pt x="0" y="0"/>
                  </a:lnTo>
                  <a:lnTo>
                    <a:pt x="3320992" y="0"/>
                  </a:lnTo>
                  <a:lnTo>
                    <a:pt x="3320992" y="593669"/>
                  </a:lnTo>
                  <a:close/>
                  <a:moveTo>
                    <a:pt x="12700" y="580969"/>
                  </a:moveTo>
                  <a:lnTo>
                    <a:pt x="3308292" y="580969"/>
                  </a:lnTo>
                  <a:lnTo>
                    <a:pt x="3308292" y="12700"/>
                  </a:lnTo>
                  <a:lnTo>
                    <a:pt x="12700" y="12700"/>
                  </a:lnTo>
                  <a:lnTo>
                    <a:pt x="12700" y="580969"/>
                  </a:lnTo>
                  <a:close/>
                </a:path>
              </a:pathLst>
            </a:custGeom>
            <a:solidFill>
              <a:srgbClr val="244DB6"/>
            </a:solidFill>
          </p:spPr>
          <p:txBody>
            <a:bodyPr/>
            <a:lstStyle/>
            <a:p>
              <a:endParaRPr lang="zh-TW" altLang="en-US"/>
            </a:p>
          </p:txBody>
        </p:sp>
      </p:grpSp>
      <p:sp>
        <p:nvSpPr>
          <p:cNvPr id="30" name="Freeform 30"/>
          <p:cNvSpPr/>
          <p:nvPr/>
        </p:nvSpPr>
        <p:spPr>
          <a:xfrm>
            <a:off x="293649" y="5524500"/>
            <a:ext cx="3287751" cy="3451289"/>
          </a:xfrm>
          <a:custGeom>
            <a:avLst/>
            <a:gdLst/>
            <a:ahLst/>
            <a:cxnLst/>
            <a:rect l="l" t="t" r="r" b="b"/>
            <a:pathLst>
              <a:path w="9087919" h="7683423">
                <a:moveTo>
                  <a:pt x="0" y="0"/>
                </a:moveTo>
                <a:lnTo>
                  <a:pt x="9087919" y="0"/>
                </a:lnTo>
                <a:lnTo>
                  <a:pt x="9087919" y="7683423"/>
                </a:lnTo>
                <a:lnTo>
                  <a:pt x="0" y="76834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31" name="Freeform 31"/>
          <p:cNvSpPr/>
          <p:nvPr/>
        </p:nvSpPr>
        <p:spPr>
          <a:xfrm>
            <a:off x="473221" y="9492800"/>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3" name="TextBox 33"/>
          <p:cNvSpPr txBox="1"/>
          <p:nvPr/>
        </p:nvSpPr>
        <p:spPr>
          <a:xfrm>
            <a:off x="9484887" y="2643309"/>
            <a:ext cx="7532439" cy="974626"/>
          </a:xfrm>
          <a:prstGeom prst="rect">
            <a:avLst/>
          </a:prstGeom>
        </p:spPr>
        <p:txBody>
          <a:bodyPr lIns="0" tIns="0" rIns="0" bIns="0" rtlCol="0" anchor="t">
            <a:spAutoFit/>
          </a:bodyPr>
          <a:lstStyle/>
          <a:p>
            <a:pPr marL="457200" indent="-457200" algn="l">
              <a:lnSpc>
                <a:spcPts val="3840"/>
              </a:lnSpc>
              <a:buFont typeface="Arial" panose="020B0604020202020204" pitchFamily="34" charset="0"/>
              <a:buChar char="•"/>
            </a:pP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Italics"/>
              </a:rPr>
              <a:t>嘗試模擬不同系統的負載，以觀察模型在不同工作負載下的適用性與泛化能力</a:t>
            </a:r>
            <a:endParaRPr 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Italics"/>
            </a:endParaRPr>
          </a:p>
        </p:txBody>
      </p:sp>
      <p:sp>
        <p:nvSpPr>
          <p:cNvPr id="34" name="TextBox 34"/>
          <p:cNvSpPr txBox="1"/>
          <p:nvPr/>
        </p:nvSpPr>
        <p:spPr>
          <a:xfrm>
            <a:off x="585508" y="2691502"/>
            <a:ext cx="7532439" cy="974626"/>
          </a:xfrm>
          <a:prstGeom prst="rect">
            <a:avLst/>
          </a:prstGeom>
        </p:spPr>
        <p:txBody>
          <a:bodyPr lIns="0" tIns="0" rIns="0" bIns="0" rtlCol="0" anchor="t">
            <a:spAutoFit/>
          </a:bodyPr>
          <a:lstStyle/>
          <a:p>
            <a:pPr marL="457200" indent="-457200" algn="l">
              <a:lnSpc>
                <a:spcPts val="3840"/>
              </a:lnSpc>
              <a:buFont typeface="Arial" panose="020B0604020202020204" pitchFamily="34" charset="0"/>
              <a:buChar char="•"/>
            </a:pP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Italics"/>
              </a:rPr>
              <a:t>自動化的模型更新方式，以維持延遲預測的穩定性</a:t>
            </a:r>
            <a:endParaRPr 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Italics"/>
            </a:endParaRPr>
          </a:p>
        </p:txBody>
      </p:sp>
      <p:sp>
        <p:nvSpPr>
          <p:cNvPr id="45" name="投影片編號版面配置區 44">
            <a:extLst>
              <a:ext uri="{FF2B5EF4-FFF2-40B4-BE49-F238E27FC236}">
                <a16:creationId xmlns:a16="http://schemas.microsoft.com/office/drawing/2014/main" id="{D8DCA4A9-C15D-730B-89E5-2EC33A755727}"/>
              </a:ext>
            </a:extLst>
          </p:cNvPr>
          <p:cNvSpPr>
            <a:spLocks noGrp="1"/>
          </p:cNvSpPr>
          <p:nvPr>
            <p:ph type="sldNum" sz="quarter" idx="12"/>
          </p:nvPr>
        </p:nvSpPr>
        <p:spPr/>
        <p:txBody>
          <a:bodyPr/>
          <a:lstStyle/>
          <a:p>
            <a:fld id="{B6F15528-21DE-4FAA-801E-634DDDAF4B2B}" type="slidenum">
              <a:rPr lang="en-US" smtClean="0"/>
              <a:pPr/>
              <a:t>51</a:t>
            </a:fld>
            <a:endParaRPr lang="en-US"/>
          </a:p>
        </p:txBody>
      </p:sp>
      <p:sp>
        <p:nvSpPr>
          <p:cNvPr id="3" name="TextBox 25">
            <a:extLst>
              <a:ext uri="{FF2B5EF4-FFF2-40B4-BE49-F238E27FC236}">
                <a16:creationId xmlns:a16="http://schemas.microsoft.com/office/drawing/2014/main" id="{89DD7F2D-341F-21F5-F7A4-355A60113CB9}"/>
              </a:ext>
            </a:extLst>
          </p:cNvPr>
          <p:cNvSpPr txBox="1"/>
          <p:nvPr/>
        </p:nvSpPr>
        <p:spPr>
          <a:xfrm>
            <a:off x="5638800" y="904881"/>
            <a:ext cx="6550278" cy="545214"/>
          </a:xfrm>
          <a:prstGeom prst="rect">
            <a:avLst/>
          </a:prstGeom>
        </p:spPr>
        <p:txBody>
          <a:bodyPr lIns="0" tIns="0" rIns="0" bIns="0" rtlCol="0" anchor="t">
            <a:spAutoFit/>
          </a:bodyPr>
          <a:lstStyle/>
          <a:p>
            <a:pPr algn="ctr">
              <a:lnSpc>
                <a:spcPts val="4239"/>
              </a:lnSpc>
            </a:pPr>
            <a:r>
              <a:rPr lang="zh-TW" alt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rPr>
              <a:t>未來研究方向</a:t>
            </a:r>
            <a:endParaRPr lang="en-US" sz="4800" b="1" spc="187" dirty="0">
              <a:solidFill>
                <a:srgbClr val="244DB6"/>
              </a:solidFill>
              <a:latin typeface="微軟正黑體" panose="020B0604030504040204" pitchFamily="34" charset="-120"/>
              <a:ea typeface="微軟正黑體" panose="020B0604030504040204" pitchFamily="34" charset="-120"/>
              <a:cs typeface="Times New Roman" panose="02020603050405020304" pitchFamily="18" charset="0"/>
              <a:sym typeface="Blink Twice"/>
            </a:endParaRPr>
          </a:p>
        </p:txBody>
      </p:sp>
      <p:grpSp>
        <p:nvGrpSpPr>
          <p:cNvPr id="46" name="Group 22">
            <a:extLst>
              <a:ext uri="{FF2B5EF4-FFF2-40B4-BE49-F238E27FC236}">
                <a16:creationId xmlns:a16="http://schemas.microsoft.com/office/drawing/2014/main" id="{1F5396CA-F6B7-4D63-8628-A6BA057108B1}"/>
              </a:ext>
            </a:extLst>
          </p:cNvPr>
          <p:cNvGrpSpPr/>
          <p:nvPr/>
        </p:nvGrpSpPr>
        <p:grpSpPr>
          <a:xfrm>
            <a:off x="5105400" y="4792485"/>
            <a:ext cx="7809703" cy="1464030"/>
            <a:chOff x="0" y="0"/>
            <a:chExt cx="3356552" cy="629229"/>
          </a:xfrm>
        </p:grpSpPr>
        <p:sp>
          <p:nvSpPr>
            <p:cNvPr id="47" name="Freeform 23">
              <a:extLst>
                <a:ext uri="{FF2B5EF4-FFF2-40B4-BE49-F238E27FC236}">
                  <a16:creationId xmlns:a16="http://schemas.microsoft.com/office/drawing/2014/main" id="{249C3001-85D4-45B9-AD5C-81A6AAB53690}"/>
                </a:ext>
              </a:extLst>
            </p:cNvPr>
            <p:cNvSpPr/>
            <p:nvPr/>
          </p:nvSpPr>
          <p:spPr>
            <a:xfrm>
              <a:off x="48260" y="48260"/>
              <a:ext cx="3308292" cy="580969"/>
            </a:xfrm>
            <a:custGeom>
              <a:avLst/>
              <a:gdLst/>
              <a:ahLst/>
              <a:cxnLst/>
              <a:rect l="l" t="t" r="r" b="b"/>
              <a:pathLst>
                <a:path w="3308292" h="580969">
                  <a:moveTo>
                    <a:pt x="0" y="0"/>
                  </a:moveTo>
                  <a:lnTo>
                    <a:pt x="3308292" y="0"/>
                  </a:lnTo>
                  <a:lnTo>
                    <a:pt x="3308292" y="580969"/>
                  </a:lnTo>
                  <a:lnTo>
                    <a:pt x="0" y="580969"/>
                  </a:lnTo>
                  <a:close/>
                </a:path>
              </a:pathLst>
            </a:custGeom>
            <a:solidFill>
              <a:srgbClr val="244DB6"/>
            </a:solidFill>
          </p:spPr>
          <p:txBody>
            <a:bodyPr/>
            <a:lstStyle/>
            <a:p>
              <a:endParaRPr lang="zh-TW" altLang="en-US"/>
            </a:p>
          </p:txBody>
        </p:sp>
        <p:sp>
          <p:nvSpPr>
            <p:cNvPr id="48" name="Freeform 24">
              <a:extLst>
                <a:ext uri="{FF2B5EF4-FFF2-40B4-BE49-F238E27FC236}">
                  <a16:creationId xmlns:a16="http://schemas.microsoft.com/office/drawing/2014/main" id="{64FC4972-C148-498A-8599-6E3A6C20DD03}"/>
                </a:ext>
              </a:extLst>
            </p:cNvPr>
            <p:cNvSpPr/>
            <p:nvPr/>
          </p:nvSpPr>
          <p:spPr>
            <a:xfrm>
              <a:off x="6350" y="6350"/>
              <a:ext cx="3308292" cy="580969"/>
            </a:xfrm>
            <a:custGeom>
              <a:avLst/>
              <a:gdLst/>
              <a:ahLst/>
              <a:cxnLst/>
              <a:rect l="l" t="t" r="r" b="b"/>
              <a:pathLst>
                <a:path w="3308292" h="580969">
                  <a:moveTo>
                    <a:pt x="0" y="0"/>
                  </a:moveTo>
                  <a:lnTo>
                    <a:pt x="3308292" y="0"/>
                  </a:lnTo>
                  <a:lnTo>
                    <a:pt x="3308292" y="580969"/>
                  </a:lnTo>
                  <a:lnTo>
                    <a:pt x="0" y="580969"/>
                  </a:lnTo>
                  <a:close/>
                </a:path>
              </a:pathLst>
            </a:custGeom>
            <a:solidFill>
              <a:srgbClr val="FFFCF4"/>
            </a:solidFill>
          </p:spPr>
          <p:txBody>
            <a:bodyPr/>
            <a:lstStyle/>
            <a:p>
              <a:endParaRPr lang="zh-TW" altLang="en-US" dirty="0"/>
            </a:p>
          </p:txBody>
        </p:sp>
        <p:sp>
          <p:nvSpPr>
            <p:cNvPr id="49" name="Freeform 25">
              <a:extLst>
                <a:ext uri="{FF2B5EF4-FFF2-40B4-BE49-F238E27FC236}">
                  <a16:creationId xmlns:a16="http://schemas.microsoft.com/office/drawing/2014/main" id="{CFF36C1A-24BE-4013-9A2B-58E24695E66B}"/>
                </a:ext>
              </a:extLst>
            </p:cNvPr>
            <p:cNvSpPr/>
            <p:nvPr/>
          </p:nvSpPr>
          <p:spPr>
            <a:xfrm>
              <a:off x="0" y="0"/>
              <a:ext cx="3320992" cy="593669"/>
            </a:xfrm>
            <a:custGeom>
              <a:avLst/>
              <a:gdLst/>
              <a:ahLst/>
              <a:cxnLst/>
              <a:rect l="l" t="t" r="r" b="b"/>
              <a:pathLst>
                <a:path w="3320992" h="593669">
                  <a:moveTo>
                    <a:pt x="3320992" y="593669"/>
                  </a:moveTo>
                  <a:lnTo>
                    <a:pt x="0" y="593669"/>
                  </a:lnTo>
                  <a:lnTo>
                    <a:pt x="0" y="0"/>
                  </a:lnTo>
                  <a:lnTo>
                    <a:pt x="3320992" y="0"/>
                  </a:lnTo>
                  <a:lnTo>
                    <a:pt x="3320992" y="593669"/>
                  </a:lnTo>
                  <a:close/>
                  <a:moveTo>
                    <a:pt x="12700" y="580969"/>
                  </a:moveTo>
                  <a:lnTo>
                    <a:pt x="3308292" y="580969"/>
                  </a:lnTo>
                  <a:lnTo>
                    <a:pt x="3308292" y="12700"/>
                  </a:lnTo>
                  <a:lnTo>
                    <a:pt x="12700" y="12700"/>
                  </a:lnTo>
                  <a:lnTo>
                    <a:pt x="12700" y="580969"/>
                  </a:lnTo>
                  <a:close/>
                </a:path>
              </a:pathLst>
            </a:custGeom>
            <a:solidFill>
              <a:srgbClr val="244DB6"/>
            </a:solidFill>
          </p:spPr>
          <p:txBody>
            <a:bodyPr/>
            <a:lstStyle/>
            <a:p>
              <a:endParaRPr lang="zh-TW" altLang="en-US"/>
            </a:p>
          </p:txBody>
        </p:sp>
      </p:grpSp>
      <p:sp>
        <p:nvSpPr>
          <p:cNvPr id="50" name="TextBox 34">
            <a:extLst>
              <a:ext uri="{FF2B5EF4-FFF2-40B4-BE49-F238E27FC236}">
                <a16:creationId xmlns:a16="http://schemas.microsoft.com/office/drawing/2014/main" id="{6157779D-5829-4A4F-AD9A-29D968A1CF11}"/>
              </a:ext>
            </a:extLst>
          </p:cNvPr>
          <p:cNvSpPr txBox="1"/>
          <p:nvPr/>
        </p:nvSpPr>
        <p:spPr>
          <a:xfrm>
            <a:off x="5217687" y="4993059"/>
            <a:ext cx="7532439" cy="974626"/>
          </a:xfrm>
          <a:prstGeom prst="rect">
            <a:avLst/>
          </a:prstGeom>
        </p:spPr>
        <p:txBody>
          <a:bodyPr lIns="0" tIns="0" rIns="0" bIns="0" rtlCol="0" anchor="t">
            <a:spAutoFit/>
          </a:bodyPr>
          <a:lstStyle/>
          <a:p>
            <a:pPr marL="457200" indent="-457200" algn="l">
              <a:lnSpc>
                <a:spcPts val="3840"/>
              </a:lnSpc>
              <a:buFont typeface="Arial" panose="020B0604020202020204" pitchFamily="34" charset="0"/>
              <a:buChar char="•"/>
            </a:pPr>
            <a:r>
              <a:rPr lang="en-US" altLang="zh-TW"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RPS</a:t>
            </a:r>
            <a:r>
              <a:rPr lang="zh-TW" alt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rPr>
              <a:t>權重可依需求調整，以驗證其對評估結果的影響</a:t>
            </a:r>
            <a:endParaRPr lang="en-US" sz="3199" b="1" dirty="0">
              <a:solidFill>
                <a:srgbClr val="5576CB"/>
              </a:solidFill>
              <a:latin typeface="微軟正黑體" panose="020B0604030504040204" pitchFamily="34" charset="-120"/>
              <a:ea typeface="微軟正黑體" panose="020B0604030504040204" pitchFamily="34" charset="-120"/>
              <a:cs typeface="Times New Roman" panose="02020603050405020304" pitchFamily="18" charset="0"/>
              <a:sym typeface="Roboto Mono Italics"/>
            </a:endParaRPr>
          </a:p>
        </p:txBody>
      </p:sp>
      <p:graphicFrame>
        <p:nvGraphicFramePr>
          <p:cNvPr id="2" name="資料庫圖表 1">
            <a:extLst>
              <a:ext uri="{FF2B5EF4-FFF2-40B4-BE49-F238E27FC236}">
                <a16:creationId xmlns:a16="http://schemas.microsoft.com/office/drawing/2014/main" id="{1173751D-A698-48B4-5029-A26ED464904E}"/>
              </a:ext>
            </a:extLst>
          </p:cNvPr>
          <p:cNvGraphicFramePr/>
          <p:nvPr>
            <p:extLst>
              <p:ext uri="{D42A27DB-BD31-4B8C-83A1-F6EECF244321}">
                <p14:modId xmlns:p14="http://schemas.microsoft.com/office/powerpoint/2010/main" val="4009827241"/>
              </p:ext>
            </p:extLst>
          </p:nvPr>
        </p:nvGraphicFramePr>
        <p:xfrm>
          <a:off x="304800" y="8196075"/>
          <a:ext cx="17540788" cy="269849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473221" y="599189"/>
            <a:ext cx="195011" cy="195011"/>
          </a:xfrm>
          <a:custGeom>
            <a:avLst/>
            <a:gdLst/>
            <a:ahLst/>
            <a:cxnLst/>
            <a:rect l="l" t="t" r="r" b="b"/>
            <a:pathLst>
              <a:path w="195011" h="195011">
                <a:moveTo>
                  <a:pt x="0" y="0"/>
                </a:moveTo>
                <a:lnTo>
                  <a:pt x="195010" y="0"/>
                </a:lnTo>
                <a:lnTo>
                  <a:pt x="195010"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Freeform 13"/>
          <p:cNvSpPr/>
          <p:nvPr/>
        </p:nvSpPr>
        <p:spPr>
          <a:xfrm>
            <a:off x="17645677" y="599189"/>
            <a:ext cx="195011" cy="195011"/>
          </a:xfrm>
          <a:custGeom>
            <a:avLst/>
            <a:gdLst/>
            <a:ahLst/>
            <a:cxnLst/>
            <a:rect l="l" t="t" r="r" b="b"/>
            <a:pathLst>
              <a:path w="195011" h="195011">
                <a:moveTo>
                  <a:pt x="0" y="0"/>
                </a:moveTo>
                <a:lnTo>
                  <a:pt x="195011" y="0"/>
                </a:lnTo>
                <a:lnTo>
                  <a:pt x="195011" y="195011"/>
                </a:lnTo>
                <a:lnTo>
                  <a:pt x="0" y="1950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4" name="Group 14"/>
          <p:cNvGrpSpPr/>
          <p:nvPr/>
        </p:nvGrpSpPr>
        <p:grpSpPr>
          <a:xfrm>
            <a:off x="3516864" y="3814762"/>
            <a:ext cx="11342135" cy="1333384"/>
            <a:chOff x="0" y="0"/>
            <a:chExt cx="2745771" cy="496314"/>
          </a:xfrm>
        </p:grpSpPr>
        <p:sp>
          <p:nvSpPr>
            <p:cNvPr id="15" name="Freeform 15"/>
            <p:cNvSpPr/>
            <p:nvPr/>
          </p:nvSpPr>
          <p:spPr>
            <a:xfrm>
              <a:off x="48260" y="48260"/>
              <a:ext cx="2697511" cy="448054"/>
            </a:xfrm>
            <a:custGeom>
              <a:avLst/>
              <a:gdLst/>
              <a:ahLst/>
              <a:cxnLst/>
              <a:rect l="l" t="t" r="r" b="b"/>
              <a:pathLst>
                <a:path w="2697511" h="448054">
                  <a:moveTo>
                    <a:pt x="0" y="0"/>
                  </a:moveTo>
                  <a:lnTo>
                    <a:pt x="2697511" y="0"/>
                  </a:lnTo>
                  <a:lnTo>
                    <a:pt x="2697511" y="448054"/>
                  </a:lnTo>
                  <a:lnTo>
                    <a:pt x="0" y="448054"/>
                  </a:lnTo>
                  <a:close/>
                </a:path>
              </a:pathLst>
            </a:custGeom>
            <a:solidFill>
              <a:srgbClr val="244DB6"/>
            </a:solidFill>
          </p:spPr>
          <p:txBody>
            <a:bodyPr/>
            <a:lstStyle/>
            <a:p>
              <a:endParaRPr lang="zh-TW" altLang="en-US"/>
            </a:p>
          </p:txBody>
        </p:sp>
        <p:sp>
          <p:nvSpPr>
            <p:cNvPr id="16" name="Freeform 16"/>
            <p:cNvSpPr/>
            <p:nvPr/>
          </p:nvSpPr>
          <p:spPr>
            <a:xfrm>
              <a:off x="6350" y="6350"/>
              <a:ext cx="2697511" cy="448054"/>
            </a:xfrm>
            <a:custGeom>
              <a:avLst/>
              <a:gdLst/>
              <a:ahLst/>
              <a:cxnLst/>
              <a:rect l="l" t="t" r="r" b="b"/>
              <a:pathLst>
                <a:path w="2697511" h="448054">
                  <a:moveTo>
                    <a:pt x="0" y="0"/>
                  </a:moveTo>
                  <a:lnTo>
                    <a:pt x="2697511" y="0"/>
                  </a:lnTo>
                  <a:lnTo>
                    <a:pt x="2697511" y="448054"/>
                  </a:lnTo>
                  <a:lnTo>
                    <a:pt x="0" y="448054"/>
                  </a:lnTo>
                  <a:close/>
                </a:path>
              </a:pathLst>
            </a:custGeom>
            <a:solidFill>
              <a:srgbClr val="FFFCF4"/>
            </a:solidFill>
          </p:spPr>
          <p:txBody>
            <a:bodyPr/>
            <a:lstStyle/>
            <a:p>
              <a:endParaRPr lang="zh-TW" altLang="en-US"/>
            </a:p>
          </p:txBody>
        </p:sp>
        <p:sp>
          <p:nvSpPr>
            <p:cNvPr id="17" name="Freeform 17"/>
            <p:cNvSpPr/>
            <p:nvPr/>
          </p:nvSpPr>
          <p:spPr>
            <a:xfrm>
              <a:off x="0" y="0"/>
              <a:ext cx="2710211" cy="460754"/>
            </a:xfrm>
            <a:custGeom>
              <a:avLst/>
              <a:gdLst/>
              <a:ahLst/>
              <a:cxnLst/>
              <a:rect l="l" t="t" r="r" b="b"/>
              <a:pathLst>
                <a:path w="2710211" h="460754">
                  <a:moveTo>
                    <a:pt x="2710211" y="460754"/>
                  </a:moveTo>
                  <a:lnTo>
                    <a:pt x="0" y="460754"/>
                  </a:lnTo>
                  <a:lnTo>
                    <a:pt x="0" y="0"/>
                  </a:lnTo>
                  <a:lnTo>
                    <a:pt x="2710211" y="0"/>
                  </a:lnTo>
                  <a:lnTo>
                    <a:pt x="2710211" y="460754"/>
                  </a:lnTo>
                  <a:close/>
                  <a:moveTo>
                    <a:pt x="12700" y="448054"/>
                  </a:moveTo>
                  <a:lnTo>
                    <a:pt x="2697511" y="448054"/>
                  </a:lnTo>
                  <a:lnTo>
                    <a:pt x="2697511" y="12700"/>
                  </a:lnTo>
                  <a:lnTo>
                    <a:pt x="12700" y="12700"/>
                  </a:lnTo>
                  <a:lnTo>
                    <a:pt x="12700" y="448054"/>
                  </a:lnTo>
                  <a:close/>
                </a:path>
              </a:pathLst>
            </a:custGeom>
            <a:solidFill>
              <a:srgbClr val="244DB6"/>
            </a:solidFill>
          </p:spPr>
          <p:txBody>
            <a:bodyPr/>
            <a:lstStyle/>
            <a:p>
              <a:endParaRPr lang="zh-TW" altLang="en-US"/>
            </a:p>
          </p:txBody>
        </p:sp>
      </p:grpSp>
      <p:sp>
        <p:nvSpPr>
          <p:cNvPr id="18" name="Freeform 18"/>
          <p:cNvSpPr/>
          <p:nvPr/>
        </p:nvSpPr>
        <p:spPr>
          <a:xfrm>
            <a:off x="8595516" y="2155057"/>
            <a:ext cx="1299616" cy="1377205"/>
          </a:xfrm>
          <a:custGeom>
            <a:avLst/>
            <a:gdLst/>
            <a:ahLst/>
            <a:cxnLst/>
            <a:rect l="l" t="t" r="r" b="b"/>
            <a:pathLst>
              <a:path w="1299616" h="1377205">
                <a:moveTo>
                  <a:pt x="0" y="0"/>
                </a:moveTo>
                <a:lnTo>
                  <a:pt x="1299615" y="0"/>
                </a:lnTo>
                <a:lnTo>
                  <a:pt x="1299615" y="1377205"/>
                </a:lnTo>
                <a:lnTo>
                  <a:pt x="0" y="1377205"/>
                </a:lnTo>
                <a:lnTo>
                  <a:pt x="0" y="0"/>
                </a:lnTo>
                <a:close/>
              </a:path>
            </a:pathLst>
          </a:custGeom>
          <a:blipFill>
            <a:blip r:embed="rId5">
              <a:extLst>
                <a:ext uri="{96DAC541-7B7A-43D3-8B79-37D633B846F1}">
                  <asvg:svgBlip xmlns:asvg="http://schemas.microsoft.com/office/drawing/2016/SVG/main" r:embed="rId6"/>
                </a:ext>
              </a:extLst>
            </a:blip>
            <a:stretch>
              <a:fillRect l="-354380" t="-128513" r="-593497" b="-551484"/>
            </a:stretch>
          </a:blipFill>
        </p:spPr>
        <p:txBody>
          <a:bodyPr/>
          <a:lstStyle/>
          <a:p>
            <a:endParaRPr lang="zh-TW" altLang="en-US"/>
          </a:p>
        </p:txBody>
      </p:sp>
      <p:sp>
        <p:nvSpPr>
          <p:cNvPr id="19" name="TextBox 19"/>
          <p:cNvSpPr txBox="1"/>
          <p:nvPr/>
        </p:nvSpPr>
        <p:spPr>
          <a:xfrm>
            <a:off x="3610858" y="4388439"/>
            <a:ext cx="11160277" cy="461665"/>
          </a:xfrm>
          <a:prstGeom prst="rect">
            <a:avLst/>
          </a:prstGeom>
        </p:spPr>
        <p:txBody>
          <a:bodyPr wrap="square" lIns="0" tIns="0" rIns="0" bIns="0" rtlCol="0" anchor="t">
            <a:spAutoFit/>
          </a:bodyPr>
          <a:lstStyle/>
          <a:p>
            <a:pPr algn="ctr">
              <a:lnSpc>
                <a:spcPts val="3220"/>
              </a:lnSpc>
            </a:pPr>
            <a:r>
              <a:rPr lang="en-US" sz="4000" spc="142" dirty="0">
                <a:solidFill>
                  <a:srgbClr val="244DB6"/>
                </a:solidFill>
                <a:latin typeface="Blink Twice"/>
                <a:ea typeface="Blink Twice"/>
                <a:cs typeface="Blink Twice"/>
                <a:sym typeface="Blink Twice"/>
              </a:rPr>
              <a:t>THANK YOU</a:t>
            </a:r>
            <a:r>
              <a:rPr lang="zh-TW" altLang="en-US" sz="4000" spc="142" dirty="0">
                <a:solidFill>
                  <a:srgbClr val="244DB6"/>
                </a:solidFill>
                <a:latin typeface="Blink Twice"/>
                <a:ea typeface="Blink Twice"/>
                <a:cs typeface="Blink Twice"/>
                <a:sym typeface="Blink Twice"/>
              </a:rPr>
              <a:t> </a:t>
            </a:r>
            <a:r>
              <a:rPr lang="en-US" altLang="zh-TW" sz="4000" spc="142" dirty="0">
                <a:solidFill>
                  <a:srgbClr val="244DB6"/>
                </a:solidFill>
                <a:latin typeface="Blink Twice"/>
                <a:ea typeface="Blink Twice"/>
                <a:cs typeface="Blink Twice"/>
                <a:sym typeface="Blink Twice"/>
              </a:rPr>
              <a:t>FOR YOUR</a:t>
            </a:r>
            <a:r>
              <a:rPr lang="zh-TW" altLang="en-US" sz="4000" spc="142" dirty="0">
                <a:solidFill>
                  <a:srgbClr val="244DB6"/>
                </a:solidFill>
                <a:latin typeface="Blink Twice"/>
                <a:ea typeface="Blink Twice"/>
                <a:cs typeface="Blink Twice"/>
                <a:sym typeface="Blink Twice"/>
              </a:rPr>
              <a:t> </a:t>
            </a:r>
            <a:r>
              <a:rPr lang="zh-TW" altLang="en-US" sz="4000" spc="142" dirty="0">
                <a:solidFill>
                  <a:srgbClr val="244DB6"/>
                </a:solidFill>
                <a:latin typeface="Blink Twice"/>
                <a:sym typeface="Blink Twice"/>
              </a:rPr>
              <a:t> </a:t>
            </a:r>
            <a:r>
              <a:rPr lang="en-US" altLang="zh-TW" sz="4000" spc="142" dirty="0">
                <a:solidFill>
                  <a:srgbClr val="244DB6"/>
                </a:solidFill>
                <a:latin typeface="Blink Twice"/>
                <a:ea typeface="Blink Twice"/>
                <a:cs typeface="Blink Twice"/>
                <a:sym typeface="Blink Twice"/>
              </a:rPr>
              <a:t>LISTENING</a:t>
            </a:r>
            <a:endParaRPr lang="en-US" sz="4000" spc="142" dirty="0">
              <a:solidFill>
                <a:srgbClr val="244DB6"/>
              </a:solidFill>
              <a:latin typeface="Blink Twice"/>
              <a:ea typeface="Blink Twice"/>
              <a:cs typeface="Blink Twice"/>
              <a:sym typeface="Blink Twice"/>
            </a:endParaRPr>
          </a:p>
        </p:txBody>
      </p:sp>
      <p:sp>
        <p:nvSpPr>
          <p:cNvPr id="30" name="投影片編號版面配置區 29">
            <a:extLst>
              <a:ext uri="{FF2B5EF4-FFF2-40B4-BE49-F238E27FC236}">
                <a16:creationId xmlns:a16="http://schemas.microsoft.com/office/drawing/2014/main" id="{B102C461-0885-EB17-DD1E-ABD4BB5925FE}"/>
              </a:ext>
            </a:extLst>
          </p:cNvPr>
          <p:cNvSpPr>
            <a:spLocks noGrp="1"/>
          </p:cNvSpPr>
          <p:nvPr>
            <p:ph type="sldNum" sz="quarter" idx="12"/>
          </p:nvPr>
        </p:nvSpPr>
        <p:spPr/>
        <p:txBody>
          <a:bodyPr/>
          <a:lstStyle/>
          <a:p>
            <a:fld id="{B6F15528-21DE-4FAA-801E-634DDDAF4B2B}" type="slidenum">
              <a:rPr lang="en-US" smtClean="0"/>
              <a:pPr/>
              <a:t>52</a:t>
            </a:fld>
            <a:endParaRPr lang="en-US"/>
          </a:p>
        </p:txBody>
      </p:sp>
      <p:sp>
        <p:nvSpPr>
          <p:cNvPr id="2" name="Freeform 20">
            <a:extLst>
              <a:ext uri="{FF2B5EF4-FFF2-40B4-BE49-F238E27FC236}">
                <a16:creationId xmlns:a16="http://schemas.microsoft.com/office/drawing/2014/main" id="{29413388-0B6F-EE42-9778-BD3B92F1DF5F}"/>
              </a:ext>
            </a:extLst>
          </p:cNvPr>
          <p:cNvSpPr/>
          <p:nvPr/>
        </p:nvSpPr>
        <p:spPr>
          <a:xfrm>
            <a:off x="188078" y="5992112"/>
            <a:ext cx="6845560" cy="4294888"/>
          </a:xfrm>
          <a:custGeom>
            <a:avLst/>
            <a:gdLst/>
            <a:ahLst/>
            <a:cxnLst/>
            <a:rect l="l" t="t" r="r" b="b"/>
            <a:pathLst>
              <a:path w="9192256" h="6601711">
                <a:moveTo>
                  <a:pt x="0" y="0"/>
                </a:moveTo>
                <a:lnTo>
                  <a:pt x="9192256" y="0"/>
                </a:lnTo>
                <a:lnTo>
                  <a:pt x="9192256" y="6601711"/>
                </a:lnTo>
                <a:lnTo>
                  <a:pt x="0" y="66017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14720</TotalTime>
  <Words>9840</Words>
  <Application>Microsoft Office PowerPoint</Application>
  <PresentationFormat>自訂</PresentationFormat>
  <Paragraphs>860</Paragraphs>
  <Slides>52</Slides>
  <Notes>52</Notes>
  <HiddenSlides>0</HiddenSlides>
  <MMClips>0</MMClips>
  <ScaleCrop>false</ScaleCrop>
  <HeadingPairs>
    <vt:vector size="8" baseType="variant">
      <vt:variant>
        <vt:lpstr>使用字型</vt:lpstr>
      </vt:variant>
      <vt:variant>
        <vt:i4>9</vt:i4>
      </vt:variant>
      <vt:variant>
        <vt:lpstr>佈景主題</vt:lpstr>
      </vt:variant>
      <vt:variant>
        <vt:i4>1</vt:i4>
      </vt:variant>
      <vt:variant>
        <vt:lpstr>內嵌 OLE 伺服程式</vt:lpstr>
      </vt:variant>
      <vt:variant>
        <vt:i4>1</vt:i4>
      </vt:variant>
      <vt:variant>
        <vt:lpstr>投影片標題</vt:lpstr>
      </vt:variant>
      <vt:variant>
        <vt:i4>52</vt:i4>
      </vt:variant>
    </vt:vector>
  </HeadingPairs>
  <TitlesOfParts>
    <vt:vector size="63" baseType="lpstr">
      <vt:lpstr>Calibri</vt:lpstr>
      <vt:lpstr>微軟正黑體</vt:lpstr>
      <vt:lpstr>Aptos</vt:lpstr>
      <vt:lpstr>Cambria Math</vt:lpstr>
      <vt:lpstr>Blink Twice</vt:lpstr>
      <vt:lpstr>標楷體</vt:lpstr>
      <vt:lpstr>Wingdings</vt:lpstr>
      <vt:lpstr>Times New Roman</vt:lpstr>
      <vt:lpstr>Arial</vt:lpstr>
      <vt:lpstr>Office Theme</vt:lpstr>
      <vt:lpstr>Document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UI Window Digital Agency Marketing Portfolio Presentation</dc:title>
  <cp:lastModifiedBy>durke033</cp:lastModifiedBy>
  <cp:revision>694</cp:revision>
  <dcterms:created xsi:type="dcterms:W3CDTF">2006-08-16T00:00:00Z</dcterms:created>
  <dcterms:modified xsi:type="dcterms:W3CDTF">2025-10-15T16:21:23Z</dcterms:modified>
  <dc:identifier>DAGzlLyOuq8</dc:identifier>
</cp:coreProperties>
</file>